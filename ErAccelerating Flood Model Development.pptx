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Today: two tools I built to speed up our modelling work, FMB Tools for building TUFLOW models in QGIS (the main focus) and Rain2Flood for hydrology (a bonus), then how anyone in the team can build their own QGIS plugin.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most of the time goes on FMB Tools. Rain2Flood is a short bonus. We finish with how to build a plugin, so anyone can turn a repetitive task into a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who has lost time to a typo in a control file, or a wrong path that only appeared at run time? The tooling is plain text editors, and that is where most of the friction comes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here. Our GIS layers are already in QGIS, so the control files that reference them should be built there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FMB Tools started as "TUFLOW Model Builder" and was renamed. Version 0.10 is what I am showing today. The goal: everything you used to do in Notepad++ for a TUFLOW build now happens in one QGIS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five steps quickly here; the next slides show each one with screenshots. If doing a live demo, this is the slide to switch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how a control file is built from the tab instead of typed. Point out the Help tab, which saves a separate search of the TUFLOW Wiki.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generated .bat side by side with the form. Mention that consistent run files make reviews and hand-overs easier.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here is closing the loop: build, run, check and review in the same tool. Errors are found in QGIS, next to the layers that caused them, rather than by scrolling a log in a text editor.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in the last row with a real timing from one of your projects before presenting; one honest number lands better than a general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short: three to five minutes. Rain2Flood covers the hydrology that sits upstream of a hydraulic model. Version 3.0 followed a full hydrology audit and bug-fix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screenshots are enough: the catchment it delineates and the hydrograph it produces. Mention that hydrographs like these are what feed the inflow boundaries of a hydraulic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 for the rest of the section. Each stage gets one or two slides. The message: none of these stages needs a software background, only Python basics and a clear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common mistake is starting with the interface. Write the four answers on one page first. Rule of thumb for the type: if it is one input, one output and no back-and-forth, make it a Processing algorithm and get batch runs and model chaining for free. If it is a workflow with several steps, build a dialog or dock.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Plugin Builder 3, Plugin Reloader and First Aid are all installed from Plugins, Manage and Install Plugins. On Windows, the OSGeo4W Shell is in the QGIS Start menu folder; pip run from there installs into the Python that QGIS uses, not a separate Python on your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Plugin Builder saves an hour of boilerplate. It also generates files many plugins never need, such as i18n folders and a Makefile; it is fine to delete those. The resources.py tip is the most common first stumbling block on Windows.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Demystify it: no compiler, no installer. Drop the folder into the plugins directory, restart QGIS or use Plugin Reloader, and it appears in the Plugin Manager. FMB Tools and Rain2Flood follow exactly this structure, just with more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these three files in a folder called hello inside the plugins folder (the import in __init__.py points at hello.py). Enable it in the Plugin Manager and a button appears that shows the active layer's name. Everything else, including FMB Tools, is this pattern plus a dialog and real logic. Before publishing to plugins.qgis.org, metadata.txt also needs about, repository and a licence.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 out the window in Qt Designer and save the .ui file next to your code. Loading it at run time with loadUiType means you can change the layout without touching Python. The QGIS widgets keep themselves in sync with the project: the layer list updates when layers are added or removed.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dialog collects the inputs, run() does the work. Most flood-modelling tasks are chains of existing Processing tools (clip, buffer, zonal statistics, raster calculator), so you rarely write geometry code yourself. The Copy as Python Command tip removes the guesswork about parameter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pytest card is the one engineers should take away. Rain2Flood's hydrology checks are regression tests that run outside QGIS, which is how formula errors stay fixed. The clean-machine test catches missing packages and hard-coded paths that never show up on your own PC.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came up while building FMB Tools or Rain2Flood. The qgis.PyQt import matters more now that QGIS is moving to Qt6: code that imports PyQt5 directly will not load there. The raster one is the Rain2Flood delineation story: the vectorised version was dramatically faster than the pure-Python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folder inside the zip must be the plugin's module name, the same name as the folder in your plugins directory. The required fields are the ones plugins.qgis.org checks on upload; filling them in now saves a rejected upload later. Set experimental=True for early versions so only users who opt in see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work tools, check the company's IP and open-source policy before publishing on plugins.qgis.org; a team repository is often the right middle ground. Once published, every version bump in metadata.txt shows users an update in their Plugin Manager.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QMED story is the one to tell: the code ran without errors but gave low flows. Tools that look finished still need an engineering check, which is where this team's expertise matters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this slide or the links after the session. The Cookbook is the best single starting point; the API reference is for looking up classes once you know what you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floor. Ask the team for the most repetitive step in their current project; note them down as candidates for the next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7F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455116"/>
          </a:xfrm>
          <a:prstGeom prst="rect">
            <a:avLst/>
          </a:prstGeom>
          <a:noFill/>
          <a:ln/>
        </p:spPr>
        <p:txBody>
          <a:bodyPr wrap="square" lIns="0" tIns="0" rIns="0" bIns="0" rtlCol="0" anchor="t"/>
          <a:lstStyle>
            <a:lvl1pPr algn="l" indent="0" marL="0">
              <a:lnSpc>
                <a:spcPct val="115000"/>
              </a:lnSpc>
              <a:buNone/>
              <a:defRPr lang="en-US" sz="3200" dirty="0">
                <a:solidFill>
                  <a:srgbClr val="14293A"/>
                </a:solidFill>
                <a:latin typeface="Arial" pitchFamily="34" charset="0"/>
                <a:ea typeface="Arial" pitchFamily="34" charset="-122"/>
                <a:cs typeface="Arial"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87637"/>
            <a:ext cx="10566400" cy="4157563"/>
          </a:xfrm>
          <a:prstGeom prst="rect">
            <a:avLst/>
          </a:prstGeom>
          <a:noFill/>
          <a:ln/>
        </p:spPr>
        <p:txBody>
          <a:bodyPr wrap="square" lIns="0" tIns="0" rIns="0" bIns="0" rtlCol="0" anchor="t"/>
          <a:lstStyle>
            <a:lvl1pPr algn="l" indent="0" marL="0">
              <a:lnSpc>
                <a:spcPct val="140000"/>
              </a:lnSpc>
              <a:buNone/>
              <a:defRPr lang="en-US" sz="1600" dirty="0">
                <a:solidFill>
                  <a:srgbClr val="14293A"/>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7F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455116"/>
          </a:xfrm>
          <a:prstGeom prst="rect">
            <a:avLst/>
          </a:prstGeom>
          <a:noFill/>
          <a:ln/>
        </p:spPr>
        <p:txBody>
          <a:bodyPr wrap="square" lIns="0" tIns="0" rIns="0" bIns="0" rtlCol="0" anchor="t"/>
          <a:lstStyle>
            <a:lvl1pPr algn="l" indent="0" marL="0">
              <a:lnSpc>
                <a:spcPct val="115000"/>
              </a:lnSpc>
              <a:buNone/>
              <a:defRPr lang="en-US" sz="3200" dirty="0">
                <a:solidFill>
                  <a:srgbClr val="14293A"/>
                </a:solidFill>
                <a:latin typeface="Arial" pitchFamily="34" charset="0"/>
                <a:ea typeface="Arial" pitchFamily="34" charset="-122"/>
                <a:cs typeface="Arial"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87637"/>
            <a:ext cx="10566400" cy="4157563"/>
          </a:xfrm>
          <a:prstGeom prst="rect">
            <a:avLst/>
          </a:prstGeom>
          <a:noFill/>
          <a:ln/>
        </p:spPr>
        <p:txBody>
          <a:bodyPr wrap="square" lIns="0" tIns="0" rIns="0" bIns="0" rtlCol="0" anchor="t"/>
          <a:lstStyle>
            <a:lvl1pPr algn="l" indent="0" marL="0">
              <a:lnSpc>
                <a:spcPct val="140000"/>
              </a:lnSpc>
              <a:buNone/>
              <a:defRPr lang="en-US" sz="1600" dirty="0">
                <a:solidFill>
                  <a:srgbClr val="14293A"/>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433"/>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0F2433"/>
              </a:gs>
              <a:gs pos="100000">
                <a:srgbClr val="143550"/>
              </a:gs>
            </a:gsLst>
            <a:lin ang="2700000" scaled="0"/>
          </a:gradFill>
          <a:ln/>
        </p:spPr>
      </p:sp>
      <p:pic>
        <p:nvPicPr>
          <p:cNvPr id="3" name="Image 0" descr="Rainfall bars above a flood hydrograph">    </p:cNvPr>
          <p:cNvPicPr>
            <a:picLocks noChangeAspect="1"/>
          </p:cNvPicPr>
          <p:nvPr/>
        </p:nvPicPr>
        <p:blipFill>
          <a:blip r:embed="rId1"/>
          <a:srcRect l="0" r="0" t="0" b="0"/>
          <a:stretch/>
        </p:blipFill>
        <p:spPr>
          <a:xfrm>
            <a:off x="7569200" y="1524000"/>
            <a:ext cx="3810000" cy="3810000"/>
          </a:xfrm>
          <a:prstGeom prst="rect">
            <a:avLst/>
          </a:prstGeom>
        </p:spPr>
      </p:pic>
      <p:sp>
        <p:nvSpPr>
          <p:cNvPr id="4" name="Text 1"/>
          <p:cNvSpPr/>
          <p:nvPr/>
        </p:nvSpPr>
        <p:spPr>
          <a:xfrm>
            <a:off x="812800" y="812800"/>
            <a:ext cx="680212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DB7E0"/>
                </a:solidFill>
                <a:latin typeface="Arial" pitchFamily="34" charset="0"/>
                <a:ea typeface="Arial" pitchFamily="34" charset="-122"/>
                <a:cs typeface="Arial" pitchFamily="34" charset="-120"/>
              </a:rPr>
              <a:t>FLOOD MODELLING TEAM · KNOWLEDGE SHARE</a:t>
            </a:r>
            <a:endParaRPr lang="en-US" sz="1200" dirty="0"/>
          </a:p>
        </p:txBody>
      </p:sp>
      <p:sp>
        <p:nvSpPr>
          <p:cNvPr id="5" name="Text 2"/>
          <p:cNvSpPr/>
          <p:nvPr>
            <p:ph type="title"/>
          </p:nvPr>
        </p:nvSpPr>
        <p:spPr>
          <a:xfrm>
            <a:off x="812800" y="1229320"/>
            <a:ext cx="6802120" cy="2658666"/>
          </a:xfrm>
          <a:prstGeom prst="rect">
            <a:avLst/>
          </a:prstGeom>
          <a:noFill/>
          <a:ln/>
        </p:spPr>
        <p:txBody>
          <a:bodyPr wrap="square" lIns="0" tIns="0" rIns="0" bIns="0" rtlCol="0" anchor="t">
            <a:normAutofit/>
          </a:bodyPr>
          <a:lstStyle/>
          <a:p>
            <a:pPr algn="l" indent="0" marL="0">
              <a:lnSpc>
                <a:spcPts val="5184"/>
              </a:lnSpc>
              <a:buNone/>
            </a:pPr>
            <a:r>
              <a:rPr lang="en-US" sz="4800" b="1" i="0" dirty="0">
                <a:solidFill>
                  <a:srgbClr val="F5F7F6"/>
                </a:solidFill>
                <a:latin typeface="Arial" pitchFamily="34" charset="0"/>
                <a:ea typeface="Arial" pitchFamily="34" charset="-122"/>
                <a:cs typeface="Arial" pitchFamily="34" charset="-120"/>
              </a:rPr>
              <a:t>Accelerating flood model development with custom QGIS plugins</a:t>
            </a:r>
            <a:endParaRPr lang="en-US" sz="4800" dirty="0"/>
          </a:p>
        </p:txBody>
      </p:sp>
      <p:sp>
        <p:nvSpPr>
          <p:cNvPr id="6" name="Text 3"/>
          <p:cNvSpPr/>
          <p:nvPr/>
        </p:nvSpPr>
        <p:spPr>
          <a:xfrm>
            <a:off x="812800" y="4065786"/>
            <a:ext cx="680212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9CCD6"/>
                </a:solidFill>
                <a:latin typeface="Arial" pitchFamily="34" charset="0"/>
                <a:ea typeface="Arial" pitchFamily="34" charset="-122"/>
                <a:cs typeface="Arial" pitchFamily="34" charset="-120"/>
              </a:rPr>
              <a:t>FMB Tools 0.10 · Rain2Flood v3.0 · Building your own plugin</a:t>
            </a:r>
            <a:endParaRPr lang="en-US" sz="1500" dirty="0"/>
          </a:p>
        </p:txBody>
      </p:sp>
      <p:sp>
        <p:nvSpPr>
          <p:cNvPr id="7" name="Text 4"/>
          <p:cNvSpPr/>
          <p:nvPr/>
        </p:nvSpPr>
        <p:spPr>
          <a:xfrm>
            <a:off x="812800" y="551438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5F7F6"/>
                </a:solidFill>
                <a:latin typeface="Arial" pitchFamily="34" charset="0"/>
                <a:ea typeface="Arial" pitchFamily="34" charset="-122"/>
                <a:cs typeface="Arial" pitchFamily="34" charset="-120"/>
              </a:rPr>
              <a:t>Rahul Pandey</a:t>
            </a:r>
            <a:endParaRPr lang="en-US" sz="1500" dirty="0"/>
          </a:p>
        </p:txBody>
      </p:sp>
      <p:sp>
        <p:nvSpPr>
          <p:cNvPr id="8" name="Text 5"/>
          <p:cNvSpPr/>
          <p:nvPr/>
        </p:nvSpPr>
        <p:spPr>
          <a:xfrm>
            <a:off x="812800" y="58318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CD6"/>
                </a:solidFill>
                <a:latin typeface="Arial" pitchFamily="34" charset="0"/>
                <a:ea typeface="Arial" pitchFamily="34" charset="-122"/>
                <a:cs typeface="Arial" pitchFamily="34" charset="-120"/>
              </a:rPr>
              <a:t>Senior Engineer, Flood Modelling · AtkinsRéalis · [Date]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6F99"/>
                </a:solidFill>
                <a:latin typeface="Arial" pitchFamily="34" charset="0"/>
                <a:ea typeface="Arial" pitchFamily="34" charset="-122"/>
                <a:cs typeface="Arial" pitchFamily="34" charset="-120"/>
              </a:rPr>
              <a:t>AGENDA</a:t>
            </a:r>
            <a:endParaRPr lang="en-US" sz="1200" dirty="0"/>
          </a:p>
        </p:txBody>
      </p:sp>
      <p:sp>
        <p:nvSpPr>
          <p:cNvPr id="3" name="Text 1"/>
          <p:cNvSpPr/>
          <p:nvPr>
            <p:ph type="title"/>
          </p:nvPr>
        </p:nvSpPr>
        <p:spPr>
          <a:xfrm>
            <a:off x="812800" y="1127720"/>
            <a:ext cx="10883392" cy="480516"/>
          </a:xfrm>
          <a:prstGeom prst="rect">
            <a:avLst/>
          </a:prstGeom>
          <a:noFill/>
          <a:ln/>
        </p:spPr>
        <p:txBody>
          <a:bodyPr wrap="square" lIns="0" tIns="0" rIns="0" bIns="0" rtlCol="0" anchor="t">
            <a:normAutofit/>
          </a:bodyPr>
          <a:lstStyle/>
          <a:p>
            <a:pPr algn="l" indent="0" marL="0">
              <a:lnSpc>
                <a:spcPts val="3584"/>
              </a:lnSpc>
              <a:buNone/>
            </a:pPr>
            <a:r>
              <a:rPr lang="en-US" sz="3200" b="1" i="0" dirty="0">
                <a:solidFill>
                  <a:srgbClr val="14293A"/>
                </a:solidFill>
                <a:latin typeface="Arial" pitchFamily="34" charset="0"/>
                <a:ea typeface="Arial" pitchFamily="34" charset="-122"/>
                <a:cs typeface="Arial" pitchFamily="34" charset="-120"/>
              </a:rPr>
              <a:t>Four parts, one idea: let QGIS do the repetitive work</a:t>
            </a:r>
            <a:endParaRPr lang="en-US" sz="3200" dirty="0"/>
          </a:p>
        </p:txBody>
      </p:sp>
      <p:sp>
        <p:nvSpPr>
          <p:cNvPr id="4" name="Shape 2"/>
          <p:cNvSpPr/>
          <p:nvPr/>
        </p:nvSpPr>
        <p:spPr>
          <a:xfrm>
            <a:off x="815975" y="1890812"/>
            <a:ext cx="2476500" cy="4151213"/>
          </a:xfrm>
          <a:prstGeom prst="roundRect">
            <a:avLst>
              <a:gd name="adj" fmla="val 3974"/>
            </a:avLst>
          </a:prstGeom>
          <a:solidFill>
            <a:srgbClr val="FDFEFD"/>
          </a:solidFill>
          <a:ln w="6350">
            <a:solidFill>
              <a:srgbClr val="DCE4E8"/>
            </a:solidFill>
            <a:prstDash val="solid"/>
          </a:ln>
        </p:spPr>
      </p:sp>
      <p:sp>
        <p:nvSpPr>
          <p:cNvPr id="5" name="Text 3"/>
          <p:cNvSpPr/>
          <p:nvPr/>
        </p:nvSpPr>
        <p:spPr>
          <a:xfrm>
            <a:off x="1073150" y="2147987"/>
            <a:ext cx="2021014"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1F6F99"/>
                </a:solidFill>
                <a:latin typeface="Arial" pitchFamily="34" charset="0"/>
                <a:ea typeface="Arial" pitchFamily="34" charset="-122"/>
                <a:cs typeface="Arial" pitchFamily="34" charset="-120"/>
              </a:rPr>
              <a:t>01</a:t>
            </a:r>
            <a:endParaRPr lang="en-US" sz="3200" dirty="0"/>
          </a:p>
        </p:txBody>
      </p:sp>
      <p:sp>
        <p:nvSpPr>
          <p:cNvPr id="6" name="Text 4"/>
          <p:cNvSpPr/>
          <p:nvPr/>
        </p:nvSpPr>
        <p:spPr>
          <a:xfrm>
            <a:off x="1073150" y="2655987"/>
            <a:ext cx="2021014"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14293A"/>
                </a:solidFill>
                <a:latin typeface="Arial" pitchFamily="34" charset="0"/>
                <a:ea typeface="Arial" pitchFamily="34" charset="-122"/>
                <a:cs typeface="Arial" pitchFamily="34" charset="-120"/>
              </a:rPr>
              <a:t>Why</a:t>
            </a:r>
            <a:endParaRPr lang="en-US" sz="2000" dirty="0"/>
          </a:p>
        </p:txBody>
      </p:sp>
      <p:sp>
        <p:nvSpPr>
          <p:cNvPr id="7" name="Text 5"/>
          <p:cNvSpPr/>
          <p:nvPr/>
        </p:nvSpPr>
        <p:spPr>
          <a:xfrm>
            <a:off x="1073150" y="3049687"/>
            <a:ext cx="2021014"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75866"/>
                </a:solidFill>
                <a:latin typeface="Arial" pitchFamily="34" charset="0"/>
                <a:ea typeface="Arial" pitchFamily="34" charset="-122"/>
                <a:cs typeface="Arial" pitchFamily="34" charset="-120"/>
              </a:rPr>
              <a:t>Where the time goes when TUFLOW models are built by hand</a:t>
            </a:r>
            <a:endParaRPr lang="en-US" sz="1200" dirty="0"/>
          </a:p>
        </p:txBody>
      </p:sp>
      <p:sp>
        <p:nvSpPr>
          <p:cNvPr id="8" name="Shape 6"/>
          <p:cNvSpPr/>
          <p:nvPr/>
        </p:nvSpPr>
        <p:spPr>
          <a:xfrm>
            <a:off x="3508375" y="1897162"/>
            <a:ext cx="2489200" cy="4138513"/>
          </a:xfrm>
          <a:prstGeom prst="roundRect">
            <a:avLst>
              <a:gd name="adj" fmla="val 3699"/>
            </a:avLst>
          </a:prstGeom>
          <a:solidFill>
            <a:srgbClr val="FDFEFD"/>
          </a:solidFill>
          <a:ln w="19050">
            <a:solidFill>
              <a:srgbClr val="1F6F99"/>
            </a:solidFill>
            <a:prstDash val="solid"/>
          </a:ln>
        </p:spPr>
      </p:sp>
      <p:sp>
        <p:nvSpPr>
          <p:cNvPr id="9" name="Text 7"/>
          <p:cNvSpPr/>
          <p:nvPr/>
        </p:nvSpPr>
        <p:spPr>
          <a:xfrm>
            <a:off x="3771900" y="2160687"/>
            <a:ext cx="2021014"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1F6F99"/>
                </a:solidFill>
                <a:latin typeface="Arial" pitchFamily="34" charset="0"/>
                <a:ea typeface="Arial" pitchFamily="34" charset="-122"/>
                <a:cs typeface="Arial" pitchFamily="34" charset="-120"/>
              </a:rPr>
              <a:t>02</a:t>
            </a:r>
            <a:endParaRPr lang="en-US" sz="3200" dirty="0"/>
          </a:p>
        </p:txBody>
      </p:sp>
      <p:sp>
        <p:nvSpPr>
          <p:cNvPr id="10" name="Text 8"/>
          <p:cNvSpPr/>
          <p:nvPr/>
        </p:nvSpPr>
        <p:spPr>
          <a:xfrm>
            <a:off x="3771900" y="2668687"/>
            <a:ext cx="2021014"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14293A"/>
                </a:solidFill>
                <a:latin typeface="Arial" pitchFamily="34" charset="0"/>
                <a:ea typeface="Arial" pitchFamily="34" charset="-122"/>
                <a:cs typeface="Arial" pitchFamily="34" charset="-120"/>
              </a:rPr>
              <a:t>FMB Tools 0.10</a:t>
            </a:r>
            <a:endParaRPr lang="en-US" sz="2000" dirty="0"/>
          </a:p>
        </p:txBody>
      </p:sp>
      <p:sp>
        <p:nvSpPr>
          <p:cNvPr id="11" name="Text 9"/>
          <p:cNvSpPr/>
          <p:nvPr/>
        </p:nvSpPr>
        <p:spPr>
          <a:xfrm>
            <a:off x="3771900" y="3062387"/>
            <a:ext cx="2021014"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75866"/>
                </a:solidFill>
                <a:latin typeface="Arial" pitchFamily="34" charset="0"/>
                <a:ea typeface="Arial" pitchFamily="34" charset="-122"/>
                <a:cs typeface="Arial" pitchFamily="34" charset="-120"/>
              </a:rPr>
              <a:t>Control files, batch files and QC built inside QGIS</a:t>
            </a:r>
            <a:endParaRPr lang="en-US" sz="1200" dirty="0"/>
          </a:p>
        </p:txBody>
      </p:sp>
      <p:sp>
        <p:nvSpPr>
          <p:cNvPr id="12" name="Text 10"/>
          <p:cNvSpPr/>
          <p:nvPr/>
        </p:nvSpPr>
        <p:spPr>
          <a:xfrm>
            <a:off x="3771900" y="5558830"/>
            <a:ext cx="202101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6F99"/>
                </a:solidFill>
                <a:latin typeface="Arial" pitchFamily="34" charset="0"/>
                <a:ea typeface="Arial" pitchFamily="34" charset="-122"/>
                <a:cs typeface="Arial" pitchFamily="34" charset="-120"/>
              </a:rPr>
              <a:t>Main focus</a:t>
            </a:r>
            <a:endParaRPr lang="en-US" sz="1200" dirty="0"/>
          </a:p>
        </p:txBody>
      </p:sp>
      <p:sp>
        <p:nvSpPr>
          <p:cNvPr id="13" name="Shape 11"/>
          <p:cNvSpPr/>
          <p:nvPr/>
        </p:nvSpPr>
        <p:spPr>
          <a:xfrm>
            <a:off x="6213475" y="1890812"/>
            <a:ext cx="2476500" cy="4151213"/>
          </a:xfrm>
          <a:prstGeom prst="roundRect">
            <a:avLst>
              <a:gd name="adj" fmla="val 3974"/>
            </a:avLst>
          </a:prstGeom>
          <a:solidFill>
            <a:srgbClr val="FDFEFD"/>
          </a:solidFill>
          <a:ln w="6350">
            <a:solidFill>
              <a:srgbClr val="DCE4E8"/>
            </a:solidFill>
            <a:prstDash val="solid"/>
          </a:ln>
        </p:spPr>
      </p:sp>
      <p:sp>
        <p:nvSpPr>
          <p:cNvPr id="14" name="Text 12"/>
          <p:cNvSpPr/>
          <p:nvPr/>
        </p:nvSpPr>
        <p:spPr>
          <a:xfrm>
            <a:off x="6470650" y="2147987"/>
            <a:ext cx="2021014"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1F6F99"/>
                </a:solidFill>
                <a:latin typeface="Arial" pitchFamily="34" charset="0"/>
                <a:ea typeface="Arial" pitchFamily="34" charset="-122"/>
                <a:cs typeface="Arial" pitchFamily="34" charset="-120"/>
              </a:rPr>
              <a:t>03</a:t>
            </a:r>
            <a:endParaRPr lang="en-US" sz="3200" dirty="0"/>
          </a:p>
        </p:txBody>
      </p:sp>
      <p:sp>
        <p:nvSpPr>
          <p:cNvPr id="15" name="Text 13"/>
          <p:cNvSpPr/>
          <p:nvPr/>
        </p:nvSpPr>
        <p:spPr>
          <a:xfrm>
            <a:off x="6470650" y="2655987"/>
            <a:ext cx="2216150"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14293A"/>
                </a:solidFill>
                <a:latin typeface="Arial" pitchFamily="34" charset="0"/>
                <a:ea typeface="Arial" pitchFamily="34" charset="-122"/>
                <a:cs typeface="Arial" pitchFamily="34" charset="-120"/>
              </a:rPr>
              <a:t>Rain2Flood v3.0</a:t>
            </a:r>
            <a:endParaRPr lang="en-US" sz="2000" dirty="0"/>
          </a:p>
        </p:txBody>
      </p:sp>
      <p:sp>
        <p:nvSpPr>
          <p:cNvPr id="16" name="Text 14"/>
          <p:cNvSpPr/>
          <p:nvPr/>
        </p:nvSpPr>
        <p:spPr>
          <a:xfrm>
            <a:off x="6470650" y="3049687"/>
            <a:ext cx="2021014"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75866"/>
                </a:solidFill>
                <a:latin typeface="Arial" pitchFamily="34" charset="0"/>
                <a:ea typeface="Arial" pitchFamily="34" charset="-122"/>
                <a:cs typeface="Arial" pitchFamily="34" charset="-120"/>
              </a:rPr>
              <a:t>Hydrology from rainfall to flood hydrograph</a:t>
            </a:r>
            <a:endParaRPr lang="en-US" sz="1200" dirty="0"/>
          </a:p>
        </p:txBody>
      </p:sp>
      <p:sp>
        <p:nvSpPr>
          <p:cNvPr id="17" name="Text 15"/>
          <p:cNvSpPr/>
          <p:nvPr/>
        </p:nvSpPr>
        <p:spPr>
          <a:xfrm>
            <a:off x="6470650" y="5571530"/>
            <a:ext cx="202101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35A17"/>
                </a:solidFill>
                <a:latin typeface="Arial" pitchFamily="34" charset="0"/>
                <a:ea typeface="Arial" pitchFamily="34" charset="-122"/>
                <a:cs typeface="Arial" pitchFamily="34" charset="-120"/>
              </a:rPr>
              <a:t>Bonus</a:t>
            </a:r>
            <a:endParaRPr lang="en-US" sz="1200" dirty="0"/>
          </a:p>
        </p:txBody>
      </p:sp>
      <p:sp>
        <p:nvSpPr>
          <p:cNvPr id="18" name="Shape 16"/>
          <p:cNvSpPr/>
          <p:nvPr/>
        </p:nvSpPr>
        <p:spPr>
          <a:xfrm>
            <a:off x="8899525" y="1890812"/>
            <a:ext cx="2476500" cy="4151213"/>
          </a:xfrm>
          <a:prstGeom prst="roundRect">
            <a:avLst>
              <a:gd name="adj" fmla="val 3974"/>
            </a:avLst>
          </a:prstGeom>
          <a:solidFill>
            <a:srgbClr val="FDFEFD"/>
          </a:solidFill>
          <a:ln w="6350">
            <a:solidFill>
              <a:srgbClr val="DCE4E8"/>
            </a:solidFill>
            <a:prstDash val="solid"/>
          </a:ln>
        </p:spPr>
      </p:sp>
      <p:sp>
        <p:nvSpPr>
          <p:cNvPr id="19" name="Text 17"/>
          <p:cNvSpPr/>
          <p:nvPr/>
        </p:nvSpPr>
        <p:spPr>
          <a:xfrm>
            <a:off x="9156700" y="2147987"/>
            <a:ext cx="2021014"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1F6F99"/>
                </a:solidFill>
                <a:latin typeface="Arial" pitchFamily="34" charset="0"/>
                <a:ea typeface="Arial" pitchFamily="34" charset="-122"/>
                <a:cs typeface="Arial" pitchFamily="34" charset="-120"/>
              </a:rPr>
              <a:t>04</a:t>
            </a:r>
            <a:endParaRPr lang="en-US" sz="3200" dirty="0"/>
          </a:p>
        </p:txBody>
      </p:sp>
      <p:sp>
        <p:nvSpPr>
          <p:cNvPr id="20" name="Text 18"/>
          <p:cNvSpPr/>
          <p:nvPr/>
        </p:nvSpPr>
        <p:spPr>
          <a:xfrm>
            <a:off x="9156700" y="2655987"/>
            <a:ext cx="2021014"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14293A"/>
                </a:solidFill>
                <a:latin typeface="Arial" pitchFamily="34" charset="0"/>
                <a:ea typeface="Arial" pitchFamily="34" charset="-122"/>
                <a:cs typeface="Arial" pitchFamily="34" charset="-120"/>
              </a:rPr>
              <a:t>Build your own</a:t>
            </a:r>
            <a:endParaRPr lang="en-US" sz="2000" dirty="0"/>
          </a:p>
        </p:txBody>
      </p:sp>
      <p:sp>
        <p:nvSpPr>
          <p:cNvPr id="21" name="Text 19"/>
          <p:cNvSpPr/>
          <p:nvPr/>
        </p:nvSpPr>
        <p:spPr>
          <a:xfrm>
            <a:off x="9156700" y="3049687"/>
            <a:ext cx="2021014"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75866"/>
                </a:solidFill>
                <a:latin typeface="Arial" pitchFamily="34" charset="0"/>
                <a:ea typeface="Arial" pitchFamily="34" charset="-122"/>
                <a:cs typeface="Arial" pitchFamily="34" charset="-120"/>
              </a:rPr>
              <a:t>How a QGIS plugin works and how to start one</a:t>
            </a:r>
            <a:endParaRPr lang="en-US" sz="1200" dirty="0"/>
          </a:p>
        </p:txBody>
      </p:sp>
      <p:sp>
        <p:nvSpPr>
          <p:cNvPr id="22" name="Text 20"/>
          <p:cNvSpPr/>
          <p:nvPr/>
        </p:nvSpPr>
        <p:spPr>
          <a:xfrm>
            <a:off x="9156700" y="5571530"/>
            <a:ext cx="202101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6F99"/>
                </a:solidFill>
                <a:latin typeface="Arial" pitchFamily="34" charset="0"/>
                <a:ea typeface="Arial" pitchFamily="34" charset="-122"/>
                <a:cs typeface="Arial" pitchFamily="34" charset="-120"/>
              </a:rPr>
              <a:t>Hands-on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6F99"/>
                </a:solidFill>
                <a:latin typeface="Arial" pitchFamily="34" charset="0"/>
                <a:ea typeface="Arial" pitchFamily="34" charset="-122"/>
                <a:cs typeface="Arial" pitchFamily="34" charset="-120"/>
              </a:rPr>
              <a:t>THE PROBLEM</a:t>
            </a:r>
            <a:endParaRPr lang="en-US" sz="1200" dirty="0"/>
          </a:p>
        </p:txBody>
      </p:sp>
      <p:sp>
        <p:nvSpPr>
          <p:cNvPr id="3" name="Text 1"/>
          <p:cNvSpPr/>
          <p:nvPr>
            <p:ph type="title"/>
          </p:nvPr>
        </p:nvSpPr>
        <p:spPr>
          <a:xfrm>
            <a:off x="812800" y="1127720"/>
            <a:ext cx="10883392" cy="480516"/>
          </a:xfrm>
          <a:prstGeom prst="rect">
            <a:avLst/>
          </a:prstGeom>
          <a:noFill/>
          <a:ln/>
        </p:spPr>
        <p:txBody>
          <a:bodyPr wrap="square" lIns="0" tIns="0" rIns="0" bIns="0" rtlCol="0" anchor="t">
            <a:normAutofit/>
          </a:bodyPr>
          <a:lstStyle/>
          <a:p>
            <a:pPr algn="l" indent="0" marL="0">
              <a:lnSpc>
                <a:spcPts val="3584"/>
              </a:lnSpc>
              <a:buNone/>
            </a:pPr>
            <a:r>
              <a:rPr lang="en-US" sz="3200" b="1" i="0" dirty="0">
                <a:solidFill>
                  <a:srgbClr val="14293A"/>
                </a:solidFill>
                <a:latin typeface="Arial" pitchFamily="34" charset="0"/>
                <a:ea typeface="Arial" pitchFamily="34" charset="-122"/>
                <a:cs typeface="Arial" pitchFamily="34" charset="-120"/>
              </a:rPr>
              <a:t>A TUFLOW model is a stack of hand-edited text files</a:t>
            </a:r>
            <a:endParaRPr lang="en-US" sz="3200" dirty="0"/>
          </a:p>
        </p:txBody>
      </p:sp>
      <p:sp>
        <p:nvSpPr>
          <p:cNvPr id="4" name="Shape 2"/>
          <p:cNvSpPr/>
          <p:nvPr/>
        </p:nvSpPr>
        <p:spPr>
          <a:xfrm>
            <a:off x="812800" y="1887637"/>
            <a:ext cx="3810000" cy="4157563"/>
          </a:xfrm>
          <a:prstGeom prst="roundRect">
            <a:avLst>
              <a:gd name="adj" fmla="val 2667"/>
            </a:avLst>
          </a:prstGeom>
          <a:solidFill>
            <a:srgbClr val="0F2433"/>
          </a:solidFill>
          <a:ln/>
        </p:spPr>
      </p:sp>
      <p:sp>
        <p:nvSpPr>
          <p:cNvPr id="5" name="Text 3"/>
          <p:cNvSpPr/>
          <p:nvPr/>
        </p:nvSpPr>
        <p:spPr>
          <a:xfrm>
            <a:off x="1066800" y="2141637"/>
            <a:ext cx="34010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DB7E0"/>
                </a:solidFill>
                <a:latin typeface="Arial" pitchFamily="34" charset="0"/>
                <a:ea typeface="Arial" pitchFamily="34" charset="-122"/>
                <a:cs typeface="Arial" pitchFamily="34" charset="-120"/>
              </a:rPr>
              <a:t>TYPICAL MODEL FOLDER</a:t>
            </a:r>
            <a:endParaRPr lang="en-US" sz="1200" dirty="0"/>
          </a:p>
        </p:txBody>
      </p:sp>
      <p:sp>
        <p:nvSpPr>
          <p:cNvPr id="6" name="Text 4"/>
          <p:cNvSpPr/>
          <p:nvPr/>
        </p:nvSpPr>
        <p:spPr>
          <a:xfrm>
            <a:off x="1066800" y="2431157"/>
            <a:ext cx="3401060"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5F7F6"/>
                </a:solidFill>
                <a:latin typeface="Courier New" pitchFamily="49" charset="0"/>
                <a:ea typeface="Courier New" pitchFamily="49" charset="-122"/>
                <a:cs typeface="Courier New" pitchFamily="49" charset="-120"/>
              </a:rPr>
              <a:t>model.tcf</a:t>
            </a:r>
            <a:endParaRPr lang="en-US" sz="1500" dirty="0"/>
          </a:p>
        </p:txBody>
      </p:sp>
      <p:sp>
        <p:nvSpPr>
          <p:cNvPr id="7" name="Text 5"/>
          <p:cNvSpPr/>
          <p:nvPr/>
        </p:nvSpPr>
        <p:spPr>
          <a:xfrm>
            <a:off x="1066800" y="2793107"/>
            <a:ext cx="3401060"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5F7F6"/>
                </a:solidFill>
                <a:latin typeface="Courier New" pitchFamily="49" charset="0"/>
                <a:ea typeface="Courier New" pitchFamily="49" charset="-122"/>
                <a:cs typeface="Courier New" pitchFamily="49" charset="-120"/>
              </a:rPr>
              <a:t>model.tgc</a:t>
            </a:r>
            <a:endParaRPr lang="en-US" sz="1500" dirty="0"/>
          </a:p>
        </p:txBody>
      </p:sp>
      <p:sp>
        <p:nvSpPr>
          <p:cNvPr id="8" name="Text 6"/>
          <p:cNvSpPr/>
          <p:nvPr/>
        </p:nvSpPr>
        <p:spPr>
          <a:xfrm>
            <a:off x="1066800" y="3155057"/>
            <a:ext cx="3401060"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5F7F6"/>
                </a:solidFill>
                <a:latin typeface="Courier New" pitchFamily="49" charset="0"/>
                <a:ea typeface="Courier New" pitchFamily="49" charset="-122"/>
                <a:cs typeface="Courier New" pitchFamily="49" charset="-120"/>
              </a:rPr>
              <a:t>model.tbc</a:t>
            </a:r>
            <a:endParaRPr lang="en-US" sz="1500" dirty="0"/>
          </a:p>
        </p:txBody>
      </p:sp>
      <p:sp>
        <p:nvSpPr>
          <p:cNvPr id="9" name="Text 7"/>
          <p:cNvSpPr/>
          <p:nvPr/>
        </p:nvSpPr>
        <p:spPr>
          <a:xfrm>
            <a:off x="1066800" y="3517007"/>
            <a:ext cx="3401060"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5F7F6"/>
                </a:solidFill>
                <a:latin typeface="Courier New" pitchFamily="49" charset="0"/>
                <a:ea typeface="Courier New" pitchFamily="49" charset="-122"/>
                <a:cs typeface="Courier New" pitchFamily="49" charset="-120"/>
              </a:rPr>
              <a:t>model.ecf</a:t>
            </a:r>
            <a:endParaRPr lang="en-US" sz="1500" dirty="0"/>
          </a:p>
        </p:txBody>
      </p:sp>
      <p:sp>
        <p:nvSpPr>
          <p:cNvPr id="10" name="Text 8"/>
          <p:cNvSpPr/>
          <p:nvPr/>
        </p:nvSpPr>
        <p:spPr>
          <a:xfrm>
            <a:off x="1066800" y="3878957"/>
            <a:ext cx="3401060"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5F7F6"/>
                </a:solidFill>
                <a:latin typeface="Courier New" pitchFamily="49" charset="0"/>
                <a:ea typeface="Courier New" pitchFamily="49" charset="-122"/>
                <a:cs typeface="Courier New" pitchFamily="49" charset="-120"/>
              </a:rPr>
              <a:t>materials.tmf</a:t>
            </a:r>
            <a:endParaRPr lang="en-US" sz="1500" dirty="0"/>
          </a:p>
        </p:txBody>
      </p:sp>
      <p:sp>
        <p:nvSpPr>
          <p:cNvPr id="11" name="Text 9"/>
          <p:cNvSpPr/>
          <p:nvPr/>
        </p:nvSpPr>
        <p:spPr>
          <a:xfrm>
            <a:off x="1066800" y="4240907"/>
            <a:ext cx="3401060"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5F7F6"/>
                </a:solidFill>
                <a:latin typeface="Courier New" pitchFamily="49" charset="0"/>
                <a:ea typeface="Courier New" pitchFamily="49" charset="-122"/>
                <a:cs typeface="Courier New" pitchFamily="49" charset="-120"/>
              </a:rPr>
              <a:t>bc_dbase.csv</a:t>
            </a:r>
            <a:endParaRPr lang="en-US" sz="1500" dirty="0"/>
          </a:p>
        </p:txBody>
      </p:sp>
      <p:sp>
        <p:nvSpPr>
          <p:cNvPr id="12" name="Text 10"/>
          <p:cNvSpPr/>
          <p:nvPr/>
        </p:nvSpPr>
        <p:spPr>
          <a:xfrm>
            <a:off x="1066800" y="4602857"/>
            <a:ext cx="3401060"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5F7F6"/>
                </a:solidFill>
                <a:latin typeface="Courier New" pitchFamily="49" charset="0"/>
                <a:ea typeface="Courier New" pitchFamily="49" charset="-122"/>
                <a:cs typeface="Courier New" pitchFamily="49" charset="-120"/>
              </a:rPr>
              <a:t>run.bat</a:t>
            </a:r>
            <a:endParaRPr lang="en-US" sz="1500" dirty="0"/>
          </a:p>
        </p:txBody>
      </p:sp>
      <p:pic>
        <p:nvPicPr>
          <p:cNvPr id="13" name="Image 0" descr="Warning">    </p:cNvPr>
          <p:cNvPicPr>
            <a:picLocks noChangeAspect="1"/>
          </p:cNvPicPr>
          <p:nvPr/>
        </p:nvPicPr>
        <p:blipFill>
          <a:blip r:embed="rId1"/>
          <a:srcRect l="0" r="0" t="0" b="0"/>
          <a:stretch/>
        </p:blipFill>
        <p:spPr>
          <a:xfrm>
            <a:off x="5029200" y="2975769"/>
            <a:ext cx="304800" cy="304800"/>
          </a:xfrm>
          <a:prstGeom prst="rect">
            <a:avLst/>
          </a:prstGeom>
        </p:spPr>
      </p:pic>
      <p:sp>
        <p:nvSpPr>
          <p:cNvPr id="14" name="Text 11"/>
          <p:cNvSpPr/>
          <p:nvPr/>
        </p:nvSpPr>
        <p:spPr>
          <a:xfrm>
            <a:off x="5486400" y="2975769"/>
            <a:ext cx="606958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93A"/>
                </a:solidFill>
                <a:latin typeface="Arial" pitchFamily="34" charset="0"/>
                <a:ea typeface="Arial" pitchFamily="34" charset="-122"/>
                <a:cs typeface="Arial" pitchFamily="34" charset="-120"/>
              </a:rPr>
              <a:t>Commands typed from memory or copied from an old model</a:t>
            </a:r>
            <a:endParaRPr lang="en-US" sz="1500" dirty="0"/>
          </a:p>
        </p:txBody>
      </p:sp>
      <p:pic>
        <p:nvPicPr>
          <p:cNvPr id="15" name="Image 1" descr="Warning">    </p:cNvPr>
          <p:cNvPicPr>
            <a:picLocks noChangeAspect="1"/>
          </p:cNvPicPr>
          <p:nvPr/>
        </p:nvPicPr>
        <p:blipFill>
          <a:blip r:embed="rId2"/>
          <a:srcRect l="0" r="0" t="0" b="0"/>
          <a:stretch/>
        </p:blipFill>
        <p:spPr>
          <a:xfrm>
            <a:off x="5029200" y="3534569"/>
            <a:ext cx="304800" cy="304800"/>
          </a:xfrm>
          <a:prstGeom prst="rect">
            <a:avLst/>
          </a:prstGeom>
        </p:spPr>
      </p:pic>
      <p:sp>
        <p:nvSpPr>
          <p:cNvPr id="16" name="Text 12"/>
          <p:cNvSpPr/>
          <p:nvPr/>
        </p:nvSpPr>
        <p:spPr>
          <a:xfrm>
            <a:off x="5486400" y="3534569"/>
            <a:ext cx="606958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93A"/>
                </a:solidFill>
                <a:latin typeface="Arial" pitchFamily="34" charset="0"/>
                <a:ea typeface="Arial" pitchFamily="34" charset="-122"/>
                <a:cs typeface="Arial" pitchFamily="34" charset="-120"/>
              </a:rPr>
              <a:t>A typo or wrong path only shows up when the run stops</a:t>
            </a:r>
            <a:endParaRPr lang="en-US" sz="1500" dirty="0"/>
          </a:p>
        </p:txBody>
      </p:sp>
      <p:pic>
        <p:nvPicPr>
          <p:cNvPr id="17" name="Image 2" descr="Warning">    </p:cNvPr>
          <p:cNvPicPr>
            <a:picLocks noChangeAspect="1"/>
          </p:cNvPicPr>
          <p:nvPr/>
        </p:nvPicPr>
        <p:blipFill>
          <a:blip r:embed="rId3"/>
          <a:srcRect l="0" r="0" t="0" b="0"/>
          <a:stretch/>
        </p:blipFill>
        <p:spPr>
          <a:xfrm>
            <a:off x="5029200" y="4093369"/>
            <a:ext cx="304800" cy="304800"/>
          </a:xfrm>
          <a:prstGeom prst="rect">
            <a:avLst/>
          </a:prstGeom>
        </p:spPr>
      </p:pic>
      <p:sp>
        <p:nvSpPr>
          <p:cNvPr id="18" name="Text 13"/>
          <p:cNvSpPr/>
          <p:nvPr/>
        </p:nvSpPr>
        <p:spPr>
          <a:xfrm>
            <a:off x="5486400" y="4093369"/>
            <a:ext cx="606958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93A"/>
                </a:solidFill>
                <a:latin typeface="Arial" pitchFamily="34" charset="0"/>
                <a:ea typeface="Arial" pitchFamily="34" charset="-122"/>
                <a:cs typeface="Arial" pitchFamily="34" charset="-120"/>
              </a:rPr>
              <a:t>Checking means reading the log and message layers by hand</a:t>
            </a:r>
            <a:endParaRPr lang="en-US" sz="1500" dirty="0"/>
          </a:p>
        </p:txBody>
      </p:sp>
      <p:pic>
        <p:nvPicPr>
          <p:cNvPr id="19" name="Image 3" descr="Warning">    </p:cNvPr>
          <p:cNvPicPr>
            <a:picLocks noChangeAspect="1"/>
          </p:cNvPicPr>
          <p:nvPr/>
        </p:nvPicPr>
        <p:blipFill>
          <a:blip r:embed="rId4"/>
          <a:srcRect l="0" r="0" t="0" b="0"/>
          <a:stretch/>
        </p:blipFill>
        <p:spPr>
          <a:xfrm>
            <a:off x="5029200" y="4652169"/>
            <a:ext cx="304800" cy="304800"/>
          </a:xfrm>
          <a:prstGeom prst="rect">
            <a:avLst/>
          </a:prstGeom>
        </p:spPr>
      </p:pic>
      <p:sp>
        <p:nvSpPr>
          <p:cNvPr id="20" name="Text 14"/>
          <p:cNvSpPr/>
          <p:nvPr/>
        </p:nvSpPr>
        <p:spPr>
          <a:xfrm>
            <a:off x="5486400" y="4652169"/>
            <a:ext cx="606958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93A"/>
                </a:solidFill>
                <a:latin typeface="Arial" pitchFamily="34" charset="0"/>
                <a:ea typeface="Arial" pitchFamily="34" charset="-122"/>
                <a:cs typeface="Arial" pitchFamily="34" charset="-120"/>
              </a:rPr>
              <a:t>Every modeller lays out files a little differently</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07A2E"/>
        </a:solidFill>
      </p:bgPr>
    </p:bg>
    <p:spTree>
      <p:nvGrpSpPr>
        <p:cNvPr id="1" name=""/>
        <p:cNvGrpSpPr/>
        <p:nvPr/>
      </p:nvGrpSpPr>
      <p:grpSpPr>
        <a:xfrm>
          <a:off x="0" y="0"/>
          <a:ext cx="0" cy="0"/>
          <a:chOff x="0" y="0"/>
          <a:chExt cx="0" cy="0"/>
        </a:xfrm>
      </p:grpSpPr>
      <p:sp>
        <p:nvSpPr>
          <p:cNvPr id="2" name="Text 0"/>
          <p:cNvSpPr/>
          <p:nvPr/>
        </p:nvSpPr>
        <p:spPr>
          <a:xfrm>
            <a:off x="812800" y="1947466"/>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4293A"/>
                </a:solidFill>
                <a:latin typeface="Arial" pitchFamily="34" charset="0"/>
                <a:ea typeface="Arial" pitchFamily="34" charset="-122"/>
                <a:cs typeface="Arial" pitchFamily="34" charset="-120"/>
              </a:rPr>
              <a:t>THE QUESTION</a:t>
            </a:r>
            <a:endParaRPr lang="en-US" sz="1200" dirty="0"/>
          </a:p>
        </p:txBody>
      </p:sp>
      <p:sp>
        <p:nvSpPr>
          <p:cNvPr id="3" name="Text 1"/>
          <p:cNvSpPr/>
          <p:nvPr>
            <p:ph type="title"/>
          </p:nvPr>
        </p:nvSpPr>
        <p:spPr>
          <a:xfrm>
            <a:off x="812800" y="2414786"/>
            <a:ext cx="9810750" cy="2000349"/>
          </a:xfrm>
          <a:prstGeom prst="rect">
            <a:avLst/>
          </a:prstGeom>
          <a:noFill/>
          <a:ln/>
        </p:spPr>
        <p:txBody>
          <a:bodyPr wrap="square" lIns="0" tIns="0" rIns="0" bIns="0" rtlCol="0" anchor="t">
            <a:normAutofit/>
          </a:bodyPr>
          <a:lstStyle/>
          <a:p>
            <a:pPr algn="l" indent="0" marL="0">
              <a:lnSpc>
                <a:spcPts val="5184"/>
              </a:lnSpc>
              <a:buNone/>
            </a:pPr>
            <a:r>
              <a:rPr lang="en-US" sz="4800" b="1" i="0" dirty="0">
                <a:solidFill>
                  <a:srgbClr val="14293A"/>
                </a:solidFill>
                <a:latin typeface="Arial" pitchFamily="34" charset="0"/>
                <a:ea typeface="Arial" pitchFamily="34" charset="-122"/>
                <a:cs typeface="Arial" pitchFamily="34" charset="-120"/>
              </a:rPr>
              <a:t>What if the model build lived where the data already lives: in QGIS?</a:t>
            </a:r>
            <a:endParaRPr lang="en-US" sz="4800" dirty="0"/>
          </a:p>
        </p:txBody>
      </p:sp>
      <p:sp>
        <p:nvSpPr>
          <p:cNvPr id="4" name="Text 2"/>
          <p:cNvSpPr/>
          <p:nvPr/>
        </p:nvSpPr>
        <p:spPr>
          <a:xfrm>
            <a:off x="812800" y="4643735"/>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93A"/>
                </a:solidFill>
                <a:latin typeface="Arial" pitchFamily="34" charset="0"/>
                <a:ea typeface="Arial" pitchFamily="34" charset="-122"/>
                <a:cs typeface="Arial" pitchFamily="34" charset="-120"/>
              </a:rPr>
              <a:t>That question became FMB Tools.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812800" y="812800"/>
            <a:ext cx="497078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6F99"/>
                </a:solidFill>
                <a:latin typeface="Arial" pitchFamily="34" charset="0"/>
                <a:ea typeface="Arial" pitchFamily="34" charset="-122"/>
                <a:cs typeface="Arial" pitchFamily="34" charset="-120"/>
              </a:rPr>
              <a:t>FMB TOOLS 0.10</a:t>
            </a:r>
            <a:endParaRPr lang="en-US" sz="1200" dirty="0"/>
          </a:p>
        </p:txBody>
      </p:sp>
      <p:sp>
        <p:nvSpPr>
          <p:cNvPr id="3" name="Text 1"/>
          <p:cNvSpPr/>
          <p:nvPr>
            <p:ph type="title"/>
          </p:nvPr>
        </p:nvSpPr>
        <p:spPr>
          <a:xfrm>
            <a:off x="812800" y="1127720"/>
            <a:ext cx="4970780" cy="1390749"/>
          </a:xfrm>
          <a:prstGeom prst="rect">
            <a:avLst/>
          </a:prstGeom>
          <a:noFill/>
          <a:ln/>
        </p:spPr>
        <p:txBody>
          <a:bodyPr wrap="square" lIns="0" tIns="0" rIns="0" bIns="0" rtlCol="0" anchor="t">
            <a:normAutofit/>
          </a:bodyPr>
          <a:lstStyle/>
          <a:p>
            <a:pPr algn="l" indent="0" marL="0">
              <a:lnSpc>
                <a:spcPts val="3584"/>
              </a:lnSpc>
              <a:buNone/>
            </a:pPr>
            <a:r>
              <a:rPr lang="en-US" sz="3200" b="1" i="0" dirty="0">
                <a:solidFill>
                  <a:srgbClr val="14293A"/>
                </a:solidFill>
                <a:latin typeface="Arial" pitchFamily="34" charset="0"/>
                <a:ea typeface="Arial" pitchFamily="34" charset="-122"/>
                <a:cs typeface="Arial" pitchFamily="34" charset="-120"/>
              </a:rPr>
              <a:t>Build TUFLOW models inside QGIS, not in Notepad++</a:t>
            </a:r>
            <a:endParaRPr lang="en-US" sz="3200" dirty="0"/>
          </a:p>
        </p:txBody>
      </p:sp>
      <p:pic>
        <p:nvPicPr>
          <p:cNvPr id="4" name="Image 0" descr="Check">    </p:cNvPr>
          <p:cNvPicPr>
            <a:picLocks noChangeAspect="1"/>
          </p:cNvPicPr>
          <p:nvPr/>
        </p:nvPicPr>
        <p:blipFill>
          <a:blip r:embed="rId1"/>
          <a:srcRect l="0" r="0" t="0" b="0"/>
          <a:stretch/>
        </p:blipFill>
        <p:spPr>
          <a:xfrm>
            <a:off x="812800" y="2799457"/>
            <a:ext cx="254000" cy="254000"/>
          </a:xfrm>
          <a:prstGeom prst="rect">
            <a:avLst/>
          </a:prstGeom>
        </p:spPr>
      </p:pic>
      <p:sp>
        <p:nvSpPr>
          <p:cNvPr id="5" name="Text 2"/>
          <p:cNvSpPr/>
          <p:nvPr/>
        </p:nvSpPr>
        <p:spPr>
          <a:xfrm>
            <a:off x="1193800" y="2797870"/>
            <a:ext cx="457835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4293A"/>
                </a:solidFill>
                <a:latin typeface="Arial" pitchFamily="34" charset="0"/>
                <a:ea typeface="Arial" pitchFamily="34" charset="-122"/>
                <a:cs typeface="Arial" pitchFamily="34" charset="-120"/>
              </a:rPr>
              <a:t>One tab per control file</a:t>
            </a:r>
            <a:endParaRPr lang="en-US" sz="1500" dirty="0"/>
          </a:p>
        </p:txBody>
      </p:sp>
      <p:pic>
        <p:nvPicPr>
          <p:cNvPr id="6" name="Image 1" descr="Check">    </p:cNvPr>
          <p:cNvPicPr>
            <a:picLocks noChangeAspect="1"/>
          </p:cNvPicPr>
          <p:nvPr/>
        </p:nvPicPr>
        <p:blipFill>
          <a:blip r:embed="rId2"/>
          <a:srcRect l="0" r="0" t="0" b="0"/>
          <a:stretch/>
        </p:blipFill>
        <p:spPr>
          <a:xfrm>
            <a:off x="812800" y="3209032"/>
            <a:ext cx="254000" cy="254000"/>
          </a:xfrm>
          <a:prstGeom prst="rect">
            <a:avLst/>
          </a:prstGeom>
        </p:spPr>
      </p:pic>
      <p:sp>
        <p:nvSpPr>
          <p:cNvPr id="7" name="Text 3"/>
          <p:cNvSpPr/>
          <p:nvPr/>
        </p:nvSpPr>
        <p:spPr>
          <a:xfrm>
            <a:off x="1193800" y="3207445"/>
            <a:ext cx="457835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4293A"/>
                </a:solidFill>
                <a:latin typeface="Arial" pitchFamily="34" charset="0"/>
                <a:ea typeface="Arial" pitchFamily="34" charset="-122"/>
                <a:cs typeface="Arial" pitchFamily="34" charset="-120"/>
              </a:rPr>
              <a:t>Batch files generated, not hand-typed</a:t>
            </a:r>
            <a:endParaRPr lang="en-US" sz="1500" dirty="0"/>
          </a:p>
        </p:txBody>
      </p:sp>
      <p:pic>
        <p:nvPicPr>
          <p:cNvPr id="8" name="Image 2" descr="Check">    </p:cNvPr>
          <p:cNvPicPr>
            <a:picLocks noChangeAspect="1"/>
          </p:cNvPicPr>
          <p:nvPr/>
        </p:nvPicPr>
        <p:blipFill>
          <a:blip r:embed="rId3"/>
          <a:srcRect l="0" r="0" t="0" b="0"/>
          <a:stretch/>
        </p:blipFill>
        <p:spPr>
          <a:xfrm>
            <a:off x="812800" y="3618607"/>
            <a:ext cx="254000" cy="254000"/>
          </a:xfrm>
          <a:prstGeom prst="rect">
            <a:avLst/>
          </a:prstGeom>
        </p:spPr>
      </p:pic>
      <p:sp>
        <p:nvSpPr>
          <p:cNvPr id="9" name="Text 4"/>
          <p:cNvSpPr/>
          <p:nvPr/>
        </p:nvSpPr>
        <p:spPr>
          <a:xfrm>
            <a:off x="1193800" y="3617020"/>
            <a:ext cx="457835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4293A"/>
                </a:solidFill>
                <a:latin typeface="Arial" pitchFamily="34" charset="0"/>
                <a:ea typeface="Arial" pitchFamily="34" charset="-122"/>
                <a:cs typeface="Arial" pitchFamily="34" charset="-120"/>
              </a:rPr>
              <a:t>QC, log and results views built in</a:t>
            </a:r>
            <a:endParaRPr lang="en-US" sz="1500" dirty="0"/>
          </a:p>
        </p:txBody>
      </p:sp>
      <p:pic>
        <p:nvPicPr>
          <p:cNvPr id="10" name="Image 3" descr="Check">    </p:cNvPr>
          <p:cNvPicPr>
            <a:picLocks noChangeAspect="1"/>
          </p:cNvPicPr>
          <p:nvPr/>
        </p:nvPicPr>
        <p:blipFill>
          <a:blip r:embed="rId4"/>
          <a:srcRect l="0" r="0" t="0" b="0"/>
          <a:stretch/>
        </p:blipFill>
        <p:spPr>
          <a:xfrm>
            <a:off x="812800" y="4028182"/>
            <a:ext cx="254000" cy="254000"/>
          </a:xfrm>
          <a:prstGeom prst="rect">
            <a:avLst/>
          </a:prstGeom>
        </p:spPr>
      </p:pic>
      <p:sp>
        <p:nvSpPr>
          <p:cNvPr id="11" name="Text 5"/>
          <p:cNvSpPr/>
          <p:nvPr/>
        </p:nvSpPr>
        <p:spPr>
          <a:xfrm>
            <a:off x="1193800" y="4026595"/>
            <a:ext cx="457835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4293A"/>
                </a:solidFill>
                <a:latin typeface="Arial" pitchFamily="34" charset="0"/>
                <a:ea typeface="Arial" pitchFamily="34" charset="-122"/>
                <a:cs typeface="Arial" pitchFamily="34" charset="-120"/>
              </a:rPr>
              <a:t>Help tab links to the TUFLOW Wiki</a:t>
            </a:r>
            <a:endParaRPr lang="en-US" sz="1500" dirty="0"/>
          </a:p>
        </p:txBody>
      </p:sp>
      <p:pic>
        <p:nvPicPr>
          <p:cNvPr id="12" name="Image 4" descr="Check">    </p:cNvPr>
          <p:cNvPicPr>
            <a:picLocks noChangeAspect="1"/>
          </p:cNvPicPr>
          <p:nvPr/>
        </p:nvPicPr>
        <p:blipFill>
          <a:blip r:embed="rId5"/>
          <a:srcRect l="0" r="0" t="0" b="0"/>
          <a:stretch/>
        </p:blipFill>
        <p:spPr>
          <a:xfrm>
            <a:off x="812800" y="4437757"/>
            <a:ext cx="254000" cy="254000"/>
          </a:xfrm>
          <a:prstGeom prst="rect">
            <a:avLst/>
          </a:prstGeom>
        </p:spPr>
      </p:pic>
      <p:sp>
        <p:nvSpPr>
          <p:cNvPr id="13" name="Text 6"/>
          <p:cNvSpPr/>
          <p:nvPr/>
        </p:nvSpPr>
        <p:spPr>
          <a:xfrm>
            <a:off x="1193800" y="4436170"/>
            <a:ext cx="457835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4293A"/>
                </a:solidFill>
                <a:latin typeface="Arial" pitchFamily="34" charset="0"/>
                <a:ea typeface="Arial" pitchFamily="34" charset="-122"/>
                <a:cs typeface="Arial" pitchFamily="34" charset="-120"/>
              </a:rPr>
              <a:t>Open source, on GitHub</a:t>
            </a:r>
            <a:endParaRPr lang="en-US" sz="1500" dirty="0"/>
          </a:p>
        </p:txBody>
      </p:sp>
      <p:sp>
        <p:nvSpPr>
          <p:cNvPr id="14" name="Shape 7"/>
          <p:cNvSpPr/>
          <p:nvPr/>
        </p:nvSpPr>
        <p:spPr>
          <a:xfrm>
            <a:off x="6054725" y="822325"/>
            <a:ext cx="5314950" cy="5213350"/>
          </a:xfrm>
          <a:prstGeom prst="roundRect">
            <a:avLst>
              <a:gd name="adj" fmla="val 1766"/>
            </a:avLst>
          </a:prstGeom>
          <a:solidFill>
            <a:srgbClr val="E8EEF1"/>
          </a:solidFill>
          <a:ln w="19050">
            <a:solidFill>
              <a:srgbClr val="8FA6B4"/>
            </a:solidFill>
            <a:prstDash val="dash"/>
          </a:ln>
        </p:spPr>
      </p:sp>
      <p:sp>
        <p:nvSpPr>
          <p:cNvPr id="15" name="Text 8"/>
          <p:cNvSpPr/>
          <p:nvPr/>
        </p:nvSpPr>
        <p:spPr>
          <a:xfrm>
            <a:off x="7962821" y="2980730"/>
            <a:ext cx="1498759" cy="238720"/>
          </a:xfrm>
          <a:prstGeom prst="rect">
            <a:avLst/>
          </a:prstGeom>
          <a:noFill/>
          <a:ln/>
        </p:spPr>
        <p:txBody>
          <a:bodyPr wrap="square" lIns="0" tIns="0" rIns="0" bIns="0" rtlCol="0" anchor="t">
            <a:normAutofit/>
          </a:bodyPr>
          <a:lstStyle/>
          <a:p>
            <a:pPr algn="ctr" indent="0" marL="0">
              <a:lnSpc>
                <a:spcPts val="1680"/>
              </a:lnSpc>
              <a:buNone/>
            </a:pPr>
            <a:r>
              <a:rPr lang="en-US" sz="1200" b="1" spc="150" kern="0" dirty="0">
                <a:solidFill>
                  <a:srgbClr val="1F6F99"/>
                </a:solidFill>
                <a:latin typeface="Arial" pitchFamily="34" charset="0"/>
                <a:ea typeface="Arial" pitchFamily="34" charset="-122"/>
                <a:cs typeface="Arial" pitchFamily="34" charset="-120"/>
              </a:rPr>
              <a:t>SCREENSHOT</a:t>
            </a:r>
            <a:endParaRPr lang="en-US" sz="1200" dirty="0"/>
          </a:p>
        </p:txBody>
      </p:sp>
      <p:sp>
        <p:nvSpPr>
          <p:cNvPr id="16" name="Text 9"/>
          <p:cNvSpPr/>
          <p:nvPr/>
        </p:nvSpPr>
        <p:spPr>
          <a:xfrm>
            <a:off x="7387163" y="3295650"/>
            <a:ext cx="2649974"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14293A"/>
                </a:solidFill>
                <a:latin typeface="Arial" pitchFamily="34" charset="0"/>
                <a:ea typeface="Arial" pitchFamily="34" charset="-122"/>
                <a:cs typeface="Arial" pitchFamily="34" charset="-120"/>
              </a:rPr>
              <a:t>FMB Tools main window</a:t>
            </a:r>
            <a:endParaRPr lang="en-US" sz="1500" dirty="0"/>
          </a:p>
        </p:txBody>
      </p:sp>
      <p:sp>
        <p:nvSpPr>
          <p:cNvPr id="17" name="Text 10"/>
          <p:cNvSpPr/>
          <p:nvPr/>
        </p:nvSpPr>
        <p:spPr>
          <a:xfrm>
            <a:off x="6866969" y="3663950"/>
            <a:ext cx="3690461"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75866"/>
                </a:solidFill>
                <a:latin typeface="Arial" pitchFamily="34" charset="0"/>
                <a:ea typeface="Arial" pitchFamily="34" charset="-122"/>
                <a:cs typeface="Arial" pitchFamily="34" charset="-120"/>
              </a:rPr>
              <a:t>The plugin open in QGIS with a model loaded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6F99"/>
                </a:solidFill>
                <a:latin typeface="Arial" pitchFamily="34" charset="0"/>
                <a:ea typeface="Arial" pitchFamily="34" charset="-122"/>
                <a:cs typeface="Arial" pitchFamily="34" charset="-120"/>
              </a:rPr>
              <a:t>FMB TOOLS 0.10 · WORKFLOW</a:t>
            </a:r>
            <a:endParaRPr lang="en-US" sz="1200" dirty="0"/>
          </a:p>
        </p:txBody>
      </p:sp>
      <p:sp>
        <p:nvSpPr>
          <p:cNvPr id="3" name="Text 1"/>
          <p:cNvSpPr/>
          <p:nvPr>
            <p:ph type="title"/>
          </p:nvPr>
        </p:nvSpPr>
        <p:spPr>
          <a:xfrm>
            <a:off x="812800" y="1127720"/>
            <a:ext cx="10883392" cy="480516"/>
          </a:xfrm>
          <a:prstGeom prst="rect">
            <a:avLst/>
          </a:prstGeom>
          <a:noFill/>
          <a:ln/>
        </p:spPr>
        <p:txBody>
          <a:bodyPr wrap="square" lIns="0" tIns="0" rIns="0" bIns="0" rtlCol="0" anchor="t">
            <a:normAutofit/>
          </a:bodyPr>
          <a:lstStyle/>
          <a:p>
            <a:pPr algn="l" indent="0" marL="0">
              <a:lnSpc>
                <a:spcPts val="3584"/>
              </a:lnSpc>
              <a:buNone/>
            </a:pPr>
            <a:r>
              <a:rPr lang="en-US" sz="3200" b="1" i="0" dirty="0">
                <a:solidFill>
                  <a:srgbClr val="14293A"/>
                </a:solidFill>
                <a:latin typeface="Arial" pitchFamily="34" charset="0"/>
                <a:ea typeface="Arial" pitchFamily="34" charset="-122"/>
                <a:cs typeface="Arial" pitchFamily="34" charset="-120"/>
              </a:rPr>
              <a:t>From blank model to checked results in one place</a:t>
            </a:r>
            <a:endParaRPr lang="en-US" sz="3200" dirty="0"/>
          </a:p>
        </p:txBody>
      </p:sp>
      <p:sp>
        <p:nvSpPr>
          <p:cNvPr id="4" name="Shape 2"/>
          <p:cNvSpPr/>
          <p:nvPr/>
        </p:nvSpPr>
        <p:spPr>
          <a:xfrm>
            <a:off x="815975" y="2610743"/>
            <a:ext cx="1695450" cy="2088952"/>
          </a:xfrm>
          <a:prstGeom prst="roundRect">
            <a:avLst>
              <a:gd name="adj" fmla="val 5805"/>
            </a:avLst>
          </a:prstGeom>
          <a:solidFill>
            <a:srgbClr val="FDFEFD"/>
          </a:solidFill>
          <a:ln w="6350">
            <a:solidFill>
              <a:srgbClr val="DCE4E8"/>
            </a:solidFill>
            <a:prstDash val="solid"/>
          </a:ln>
        </p:spPr>
      </p:sp>
      <p:sp>
        <p:nvSpPr>
          <p:cNvPr id="5" name="Text 3"/>
          <p:cNvSpPr/>
          <p:nvPr/>
        </p:nvSpPr>
        <p:spPr>
          <a:xfrm>
            <a:off x="1022350" y="2817118"/>
            <a:ext cx="13335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6F99"/>
                </a:solidFill>
                <a:latin typeface="Arial" pitchFamily="34" charset="0"/>
                <a:ea typeface="Arial" pitchFamily="34" charset="-122"/>
                <a:cs typeface="Arial" pitchFamily="34" charset="-120"/>
              </a:rPr>
              <a:t>Step 1</a:t>
            </a:r>
            <a:endParaRPr lang="en-US" sz="1200" dirty="0"/>
          </a:p>
        </p:txBody>
      </p:sp>
      <p:sp>
        <p:nvSpPr>
          <p:cNvPr id="6" name="Text 4"/>
          <p:cNvSpPr/>
          <p:nvPr/>
        </p:nvSpPr>
        <p:spPr>
          <a:xfrm>
            <a:off x="1022350" y="3106638"/>
            <a:ext cx="1333500"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93A"/>
                </a:solidFill>
                <a:latin typeface="Arial" pitchFamily="34" charset="0"/>
                <a:ea typeface="Arial" pitchFamily="34" charset="-122"/>
                <a:cs typeface="Arial" pitchFamily="34" charset="-120"/>
              </a:rPr>
              <a:t>Build control files</a:t>
            </a:r>
            <a:endParaRPr lang="en-US" sz="1500" dirty="0"/>
          </a:p>
        </p:txBody>
      </p:sp>
      <p:sp>
        <p:nvSpPr>
          <p:cNvPr id="7" name="Text 5"/>
          <p:cNvSpPr/>
          <p:nvPr/>
        </p:nvSpPr>
        <p:spPr>
          <a:xfrm>
            <a:off x="1022350" y="3640038"/>
            <a:ext cx="133350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866"/>
                </a:solidFill>
                <a:latin typeface="Arial" pitchFamily="34" charset="0"/>
                <a:ea typeface="Arial" pitchFamily="34" charset="-122"/>
                <a:cs typeface="Arial" pitchFamily="34" charset="-120"/>
              </a:rPr>
              <a:t>TCF, TGC, TBC, ECF and more, one tab each</a:t>
            </a:r>
            <a:endParaRPr lang="en-US" sz="1200" dirty="0"/>
          </a:p>
        </p:txBody>
      </p:sp>
      <p:pic>
        <p:nvPicPr>
          <p:cNvPr id="8" name="Image 0" descr="connector">    </p:cNvPr>
          <p:cNvPicPr>
            <a:picLocks noChangeAspect="1"/>
          </p:cNvPicPr>
          <p:nvPr/>
        </p:nvPicPr>
        <p:blipFill>
          <a:blip r:embed="rId1"/>
          <a:srcRect l="0" r="0" t="0" b="0"/>
          <a:stretch/>
        </p:blipFill>
        <p:spPr>
          <a:xfrm>
            <a:off x="2616200" y="3604419"/>
            <a:ext cx="304800" cy="101600"/>
          </a:xfrm>
          <a:prstGeom prst="rect">
            <a:avLst/>
          </a:prstGeom>
        </p:spPr>
      </p:pic>
      <p:sp>
        <p:nvSpPr>
          <p:cNvPr id="9" name="Shape 6"/>
          <p:cNvSpPr/>
          <p:nvPr/>
        </p:nvSpPr>
        <p:spPr>
          <a:xfrm>
            <a:off x="3025775" y="2610743"/>
            <a:ext cx="1695450" cy="2088952"/>
          </a:xfrm>
          <a:prstGeom prst="roundRect">
            <a:avLst>
              <a:gd name="adj" fmla="val 5805"/>
            </a:avLst>
          </a:prstGeom>
          <a:solidFill>
            <a:srgbClr val="FDFEFD"/>
          </a:solidFill>
          <a:ln w="6350">
            <a:solidFill>
              <a:srgbClr val="DCE4E8"/>
            </a:solidFill>
            <a:prstDash val="solid"/>
          </a:ln>
        </p:spPr>
      </p:sp>
      <p:sp>
        <p:nvSpPr>
          <p:cNvPr id="10" name="Text 7"/>
          <p:cNvSpPr/>
          <p:nvPr/>
        </p:nvSpPr>
        <p:spPr>
          <a:xfrm>
            <a:off x="3232150" y="2817118"/>
            <a:ext cx="13335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6F99"/>
                </a:solidFill>
                <a:latin typeface="Arial" pitchFamily="34" charset="0"/>
                <a:ea typeface="Arial" pitchFamily="34" charset="-122"/>
                <a:cs typeface="Arial" pitchFamily="34" charset="-120"/>
              </a:rPr>
              <a:t>Step 2</a:t>
            </a:r>
            <a:endParaRPr lang="en-US" sz="1200" dirty="0"/>
          </a:p>
        </p:txBody>
      </p:sp>
      <p:sp>
        <p:nvSpPr>
          <p:cNvPr id="11" name="Text 8"/>
          <p:cNvSpPr/>
          <p:nvPr/>
        </p:nvSpPr>
        <p:spPr>
          <a:xfrm>
            <a:off x="3232150" y="3106638"/>
            <a:ext cx="1333500"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93A"/>
                </a:solidFill>
                <a:latin typeface="Arial" pitchFamily="34" charset="0"/>
                <a:ea typeface="Arial" pitchFamily="34" charset="-122"/>
                <a:cs typeface="Arial" pitchFamily="34" charset="-120"/>
              </a:rPr>
              <a:t>Create batch file</a:t>
            </a:r>
            <a:endParaRPr lang="en-US" sz="1500" dirty="0"/>
          </a:p>
        </p:txBody>
      </p:sp>
      <p:sp>
        <p:nvSpPr>
          <p:cNvPr id="12" name="Text 9"/>
          <p:cNvSpPr/>
          <p:nvPr/>
        </p:nvSpPr>
        <p:spPr>
          <a:xfrm>
            <a:off x="3232150" y="3640038"/>
            <a:ext cx="13335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866"/>
                </a:solidFill>
                <a:latin typeface="Arial" pitchFamily="34" charset="0"/>
                <a:ea typeface="Arial" pitchFamily="34" charset="-122"/>
                <a:cs typeface="Arial" pitchFamily="34" charset="-120"/>
              </a:rPr>
              <a:t>The .bat is written for you</a:t>
            </a:r>
            <a:endParaRPr lang="en-US" sz="1200" dirty="0"/>
          </a:p>
        </p:txBody>
      </p:sp>
      <p:pic>
        <p:nvPicPr>
          <p:cNvPr id="13" name="Image 1" descr="connector">    </p:cNvPr>
          <p:cNvPicPr>
            <a:picLocks noChangeAspect="1"/>
          </p:cNvPicPr>
          <p:nvPr/>
        </p:nvPicPr>
        <p:blipFill>
          <a:blip r:embed="rId2"/>
          <a:srcRect l="0" r="0" t="0" b="0"/>
          <a:stretch/>
        </p:blipFill>
        <p:spPr>
          <a:xfrm>
            <a:off x="4826000" y="3604419"/>
            <a:ext cx="304800" cy="101600"/>
          </a:xfrm>
          <a:prstGeom prst="rect">
            <a:avLst/>
          </a:prstGeom>
        </p:spPr>
      </p:pic>
      <p:sp>
        <p:nvSpPr>
          <p:cNvPr id="14" name="Shape 10"/>
          <p:cNvSpPr/>
          <p:nvPr/>
        </p:nvSpPr>
        <p:spPr>
          <a:xfrm>
            <a:off x="5235575" y="2610743"/>
            <a:ext cx="1695450" cy="2088952"/>
          </a:xfrm>
          <a:prstGeom prst="roundRect">
            <a:avLst>
              <a:gd name="adj" fmla="val 5805"/>
            </a:avLst>
          </a:prstGeom>
          <a:solidFill>
            <a:srgbClr val="FDFEFD"/>
          </a:solidFill>
          <a:ln w="6350">
            <a:solidFill>
              <a:srgbClr val="DCE4E8"/>
            </a:solidFill>
            <a:prstDash val="solid"/>
          </a:ln>
        </p:spPr>
      </p:sp>
      <p:sp>
        <p:nvSpPr>
          <p:cNvPr id="15" name="Text 11"/>
          <p:cNvSpPr/>
          <p:nvPr/>
        </p:nvSpPr>
        <p:spPr>
          <a:xfrm>
            <a:off x="5441950" y="2817118"/>
            <a:ext cx="13335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6F99"/>
                </a:solidFill>
                <a:latin typeface="Arial" pitchFamily="34" charset="0"/>
                <a:ea typeface="Arial" pitchFamily="34" charset="-122"/>
                <a:cs typeface="Arial" pitchFamily="34" charset="-120"/>
              </a:rPr>
              <a:t>Step 3</a:t>
            </a:r>
            <a:endParaRPr lang="en-US" sz="1200" dirty="0"/>
          </a:p>
        </p:txBody>
      </p:sp>
      <p:sp>
        <p:nvSpPr>
          <p:cNvPr id="16" name="Text 12"/>
          <p:cNvSpPr/>
          <p:nvPr/>
        </p:nvSpPr>
        <p:spPr>
          <a:xfrm>
            <a:off x="5441950" y="3106638"/>
            <a:ext cx="1333500"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93A"/>
                </a:solidFill>
                <a:latin typeface="Arial" pitchFamily="34" charset="0"/>
                <a:ea typeface="Arial" pitchFamily="34" charset="-122"/>
                <a:cs typeface="Arial" pitchFamily="34" charset="-120"/>
              </a:rPr>
              <a:t>Run the model</a:t>
            </a:r>
            <a:endParaRPr lang="en-US" sz="1500" dirty="0"/>
          </a:p>
        </p:txBody>
      </p:sp>
      <p:sp>
        <p:nvSpPr>
          <p:cNvPr id="17" name="Text 13"/>
          <p:cNvSpPr/>
          <p:nvPr/>
        </p:nvSpPr>
        <p:spPr>
          <a:xfrm>
            <a:off x="5441950" y="3640038"/>
            <a:ext cx="133350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866"/>
                </a:solidFill>
                <a:latin typeface="Arial" pitchFamily="34" charset="0"/>
                <a:ea typeface="Arial" pitchFamily="34" charset="-122"/>
                <a:cs typeface="Arial" pitchFamily="34" charset="-120"/>
              </a:rPr>
              <a:t>TUFLOW runs from the generated batch file</a:t>
            </a:r>
            <a:endParaRPr lang="en-US" sz="1200" dirty="0"/>
          </a:p>
        </p:txBody>
      </p:sp>
      <p:pic>
        <p:nvPicPr>
          <p:cNvPr id="18" name="Image 2" descr="connector">    </p:cNvPr>
          <p:cNvPicPr>
            <a:picLocks noChangeAspect="1"/>
          </p:cNvPicPr>
          <p:nvPr/>
        </p:nvPicPr>
        <p:blipFill>
          <a:blip r:embed="rId3"/>
          <a:srcRect l="0" r="0" t="0" b="0"/>
          <a:stretch/>
        </p:blipFill>
        <p:spPr>
          <a:xfrm>
            <a:off x="7035800" y="3604419"/>
            <a:ext cx="304800" cy="101600"/>
          </a:xfrm>
          <a:prstGeom prst="rect">
            <a:avLst/>
          </a:prstGeom>
        </p:spPr>
      </p:pic>
      <p:sp>
        <p:nvSpPr>
          <p:cNvPr id="19" name="Shape 14"/>
          <p:cNvSpPr/>
          <p:nvPr/>
        </p:nvSpPr>
        <p:spPr>
          <a:xfrm>
            <a:off x="7445375" y="2610743"/>
            <a:ext cx="1695450" cy="2088952"/>
          </a:xfrm>
          <a:prstGeom prst="roundRect">
            <a:avLst>
              <a:gd name="adj" fmla="val 5805"/>
            </a:avLst>
          </a:prstGeom>
          <a:solidFill>
            <a:srgbClr val="FDFEFD"/>
          </a:solidFill>
          <a:ln w="6350">
            <a:solidFill>
              <a:srgbClr val="DCE4E8"/>
            </a:solidFill>
            <a:prstDash val="solid"/>
          </a:ln>
        </p:spPr>
      </p:sp>
      <p:sp>
        <p:nvSpPr>
          <p:cNvPr id="20" name="Text 15"/>
          <p:cNvSpPr/>
          <p:nvPr/>
        </p:nvSpPr>
        <p:spPr>
          <a:xfrm>
            <a:off x="7651750" y="2817118"/>
            <a:ext cx="13335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6F99"/>
                </a:solidFill>
                <a:latin typeface="Arial" pitchFamily="34" charset="0"/>
                <a:ea typeface="Arial" pitchFamily="34" charset="-122"/>
                <a:cs typeface="Arial" pitchFamily="34" charset="-120"/>
              </a:rPr>
              <a:t>Step 4</a:t>
            </a:r>
            <a:endParaRPr lang="en-US" sz="1200" dirty="0"/>
          </a:p>
        </p:txBody>
      </p:sp>
      <p:sp>
        <p:nvSpPr>
          <p:cNvPr id="21" name="Text 16"/>
          <p:cNvSpPr/>
          <p:nvPr/>
        </p:nvSpPr>
        <p:spPr>
          <a:xfrm>
            <a:off x="7651750" y="3106638"/>
            <a:ext cx="13335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93A"/>
                </a:solidFill>
                <a:latin typeface="Arial" pitchFamily="34" charset="0"/>
                <a:ea typeface="Arial" pitchFamily="34" charset="-122"/>
                <a:cs typeface="Arial" pitchFamily="34" charset="-120"/>
              </a:rPr>
              <a:t>QC and log</a:t>
            </a:r>
            <a:endParaRPr lang="en-US" sz="1500" dirty="0"/>
          </a:p>
        </p:txBody>
      </p:sp>
      <p:sp>
        <p:nvSpPr>
          <p:cNvPr id="22" name="Text 17"/>
          <p:cNvSpPr/>
          <p:nvPr/>
        </p:nvSpPr>
        <p:spPr>
          <a:xfrm>
            <a:off x="7651750" y="3411438"/>
            <a:ext cx="133350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866"/>
                </a:solidFill>
                <a:latin typeface="Arial" pitchFamily="34" charset="0"/>
                <a:ea typeface="Arial" pitchFamily="34" charset="-122"/>
                <a:cs typeface="Arial" pitchFamily="34" charset="-120"/>
              </a:rPr>
              <a:t>Check messages and the log inside QGIS</a:t>
            </a:r>
            <a:endParaRPr lang="en-US" sz="1200" dirty="0"/>
          </a:p>
        </p:txBody>
      </p:sp>
      <p:pic>
        <p:nvPicPr>
          <p:cNvPr id="23" name="Image 3" descr="connector">    </p:cNvPr>
          <p:cNvPicPr>
            <a:picLocks noChangeAspect="1"/>
          </p:cNvPicPr>
          <p:nvPr/>
        </p:nvPicPr>
        <p:blipFill>
          <a:blip r:embed="rId4"/>
          <a:srcRect l="0" r="0" t="0" b="0"/>
          <a:stretch/>
        </p:blipFill>
        <p:spPr>
          <a:xfrm>
            <a:off x="9245600" y="3604419"/>
            <a:ext cx="304800" cy="101600"/>
          </a:xfrm>
          <a:prstGeom prst="rect">
            <a:avLst/>
          </a:prstGeom>
        </p:spPr>
      </p:pic>
      <p:sp>
        <p:nvSpPr>
          <p:cNvPr id="24" name="Shape 18"/>
          <p:cNvSpPr/>
          <p:nvPr/>
        </p:nvSpPr>
        <p:spPr>
          <a:xfrm>
            <a:off x="9661525" y="2617093"/>
            <a:ext cx="1708150" cy="2076252"/>
          </a:xfrm>
          <a:prstGeom prst="roundRect">
            <a:avLst>
              <a:gd name="adj" fmla="val 5390"/>
            </a:avLst>
          </a:prstGeom>
          <a:solidFill>
            <a:srgbClr val="FDFEFD"/>
          </a:solidFill>
          <a:ln w="19050">
            <a:solidFill>
              <a:srgbClr val="1F6F99"/>
            </a:solidFill>
            <a:prstDash val="solid"/>
          </a:ln>
        </p:spPr>
      </p:sp>
      <p:sp>
        <p:nvSpPr>
          <p:cNvPr id="25" name="Text 19"/>
          <p:cNvSpPr/>
          <p:nvPr/>
        </p:nvSpPr>
        <p:spPr>
          <a:xfrm>
            <a:off x="9874250" y="2829818"/>
            <a:ext cx="13335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6F99"/>
                </a:solidFill>
                <a:latin typeface="Arial" pitchFamily="34" charset="0"/>
                <a:ea typeface="Arial" pitchFamily="34" charset="-122"/>
                <a:cs typeface="Arial" pitchFamily="34" charset="-120"/>
              </a:rPr>
              <a:t>Step 5</a:t>
            </a:r>
            <a:endParaRPr lang="en-US" sz="1200" dirty="0"/>
          </a:p>
        </p:txBody>
      </p:sp>
      <p:sp>
        <p:nvSpPr>
          <p:cNvPr id="26" name="Text 20"/>
          <p:cNvSpPr/>
          <p:nvPr/>
        </p:nvSpPr>
        <p:spPr>
          <a:xfrm>
            <a:off x="9874250" y="3119338"/>
            <a:ext cx="1333500"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93A"/>
                </a:solidFill>
                <a:latin typeface="Arial" pitchFamily="34" charset="0"/>
                <a:ea typeface="Arial" pitchFamily="34" charset="-122"/>
                <a:cs typeface="Arial" pitchFamily="34" charset="-120"/>
              </a:rPr>
              <a:t>Review results</a:t>
            </a:r>
            <a:endParaRPr lang="en-US" sz="1500" dirty="0"/>
          </a:p>
        </p:txBody>
      </p:sp>
      <p:sp>
        <p:nvSpPr>
          <p:cNvPr id="27" name="Text 21"/>
          <p:cNvSpPr/>
          <p:nvPr/>
        </p:nvSpPr>
        <p:spPr>
          <a:xfrm>
            <a:off x="9874250" y="3652738"/>
            <a:ext cx="133350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866"/>
                </a:solidFill>
                <a:latin typeface="Arial" pitchFamily="34" charset="0"/>
                <a:ea typeface="Arial" pitchFamily="34" charset="-122"/>
                <a:cs typeface="Arial" pitchFamily="34" charset="-120"/>
              </a:rPr>
              <a:t>Results next to the GIS layers they came from</a:t>
            </a:r>
            <a:endParaRPr lang="en-US" sz="1200" dirty="0"/>
          </a:p>
        </p:txBody>
      </p:sp>
      <p:sp>
        <p:nvSpPr>
          <p:cNvPr id="28" name="Text 22"/>
          <p:cNvSpPr/>
          <p:nvPr/>
        </p:nvSpPr>
        <p:spPr>
          <a:xfrm>
            <a:off x="812800" y="505847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75866"/>
                </a:solidFill>
                <a:latin typeface="Arial" pitchFamily="34" charset="0"/>
                <a:ea typeface="Arial" pitchFamily="34" charset="-122"/>
                <a:cs typeface="Arial" pitchFamily="34" charset="-120"/>
              </a:rPr>
              <a:t>No switching between a text editor, a file browser and QGIS: the whole build stays in one window.</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6F99"/>
                </a:solidFill>
                <a:latin typeface="Arial" pitchFamily="34" charset="0"/>
                <a:ea typeface="Arial" pitchFamily="34" charset="-122"/>
                <a:cs typeface="Arial" pitchFamily="34" charset="-120"/>
              </a:rPr>
              <a:t>FMB TOOLS 0.10 · STEP 1</a:t>
            </a:r>
            <a:endParaRPr lang="en-US" sz="1200" dirty="0"/>
          </a:p>
        </p:txBody>
      </p:sp>
      <p:sp>
        <p:nvSpPr>
          <p:cNvPr id="3" name="Text 1"/>
          <p:cNvSpPr/>
          <p:nvPr>
            <p:ph type="title"/>
          </p:nvPr>
        </p:nvSpPr>
        <p:spPr>
          <a:xfrm>
            <a:off x="812800" y="1127720"/>
            <a:ext cx="10883392" cy="480516"/>
          </a:xfrm>
          <a:prstGeom prst="rect">
            <a:avLst/>
          </a:prstGeom>
          <a:noFill/>
          <a:ln/>
        </p:spPr>
        <p:txBody>
          <a:bodyPr wrap="square" lIns="0" tIns="0" rIns="0" bIns="0" rtlCol="0" anchor="t">
            <a:normAutofit/>
          </a:bodyPr>
          <a:lstStyle/>
          <a:p>
            <a:pPr algn="l" indent="0" marL="0">
              <a:lnSpc>
                <a:spcPts val="3584"/>
              </a:lnSpc>
              <a:buNone/>
            </a:pPr>
            <a:r>
              <a:rPr lang="en-US" sz="3200" b="1" i="0" dirty="0">
                <a:solidFill>
                  <a:srgbClr val="14293A"/>
                </a:solidFill>
                <a:latin typeface="Arial" pitchFamily="34" charset="0"/>
                <a:ea typeface="Arial" pitchFamily="34" charset="-122"/>
                <a:cs typeface="Arial" pitchFamily="34" charset="-120"/>
              </a:rPr>
              <a:t>Control files, one tab each</a:t>
            </a:r>
            <a:endParaRPr lang="en-US" sz="3200" dirty="0"/>
          </a:p>
        </p:txBody>
      </p:sp>
      <p:sp>
        <p:nvSpPr>
          <p:cNvPr id="4" name="Shape 2"/>
          <p:cNvSpPr/>
          <p:nvPr/>
        </p:nvSpPr>
        <p:spPr>
          <a:xfrm>
            <a:off x="822325" y="1897162"/>
            <a:ext cx="6584950" cy="4138513"/>
          </a:xfrm>
          <a:prstGeom prst="roundRect">
            <a:avLst>
              <a:gd name="adj" fmla="val 2225"/>
            </a:avLst>
          </a:prstGeom>
          <a:solidFill>
            <a:srgbClr val="E8EEF1"/>
          </a:solidFill>
          <a:ln w="19050">
            <a:solidFill>
              <a:srgbClr val="8FA6B4"/>
            </a:solidFill>
            <a:prstDash val="dash"/>
          </a:ln>
        </p:spPr>
      </p:sp>
      <p:sp>
        <p:nvSpPr>
          <p:cNvPr id="5" name="Text 3"/>
          <p:cNvSpPr/>
          <p:nvPr/>
        </p:nvSpPr>
        <p:spPr>
          <a:xfrm>
            <a:off x="3365421" y="3518098"/>
            <a:ext cx="1498759" cy="238720"/>
          </a:xfrm>
          <a:prstGeom prst="rect">
            <a:avLst/>
          </a:prstGeom>
          <a:noFill/>
          <a:ln/>
        </p:spPr>
        <p:txBody>
          <a:bodyPr wrap="square" lIns="0" tIns="0" rIns="0" bIns="0" rtlCol="0" anchor="t">
            <a:normAutofit/>
          </a:bodyPr>
          <a:lstStyle/>
          <a:p>
            <a:pPr algn="ctr" indent="0" marL="0">
              <a:lnSpc>
                <a:spcPts val="1680"/>
              </a:lnSpc>
              <a:buNone/>
            </a:pPr>
            <a:r>
              <a:rPr lang="en-US" sz="1200" b="1" spc="150" kern="0" dirty="0">
                <a:solidFill>
                  <a:srgbClr val="1F6F99"/>
                </a:solidFill>
                <a:latin typeface="Arial" pitchFamily="34" charset="0"/>
                <a:ea typeface="Arial" pitchFamily="34" charset="-122"/>
                <a:cs typeface="Arial" pitchFamily="34" charset="-120"/>
              </a:rPr>
              <a:t>SCREENSHOT</a:t>
            </a:r>
            <a:endParaRPr lang="en-US" sz="1200" dirty="0"/>
          </a:p>
        </p:txBody>
      </p:sp>
      <p:sp>
        <p:nvSpPr>
          <p:cNvPr id="6" name="Text 4"/>
          <p:cNvSpPr/>
          <p:nvPr/>
        </p:nvSpPr>
        <p:spPr>
          <a:xfrm>
            <a:off x="3244810" y="3833019"/>
            <a:ext cx="1739979"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14293A"/>
                </a:solidFill>
                <a:latin typeface="Arial" pitchFamily="34" charset="0"/>
                <a:ea typeface="Arial" pitchFamily="34" charset="-122"/>
                <a:cs typeface="Arial" pitchFamily="34" charset="-120"/>
              </a:rPr>
              <a:t>Control file tabs</a:t>
            </a:r>
            <a:endParaRPr lang="en-US" sz="1500" dirty="0"/>
          </a:p>
        </p:txBody>
      </p:sp>
      <p:sp>
        <p:nvSpPr>
          <p:cNvPr id="7" name="Text 5"/>
          <p:cNvSpPr/>
          <p:nvPr/>
        </p:nvSpPr>
        <p:spPr>
          <a:xfrm>
            <a:off x="2071688" y="4201319"/>
            <a:ext cx="408622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75866"/>
                </a:solidFill>
                <a:latin typeface="Arial" pitchFamily="34" charset="0"/>
                <a:ea typeface="Arial" pitchFamily="34" charset="-122"/>
                <a:cs typeface="Arial" pitchFamily="34" charset="-120"/>
              </a:rPr>
              <a:t>The TCF tab filled in, with the other file tabs visible</a:t>
            </a:r>
            <a:endParaRPr lang="en-US" sz="1200" dirty="0"/>
          </a:p>
        </p:txBody>
      </p:sp>
      <p:sp>
        <p:nvSpPr>
          <p:cNvPr id="8" name="Text 6"/>
          <p:cNvSpPr/>
          <p:nvPr/>
        </p:nvSpPr>
        <p:spPr>
          <a:xfrm>
            <a:off x="7823200" y="2630388"/>
            <a:ext cx="366268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93A"/>
                </a:solidFill>
                <a:latin typeface="Arial" pitchFamily="34" charset="0"/>
                <a:ea typeface="Arial" pitchFamily="34" charset="-122"/>
                <a:cs typeface="Arial" pitchFamily="34" charset="-120"/>
              </a:rPr>
              <a:t>Forms, not syntax</a:t>
            </a:r>
            <a:endParaRPr lang="en-US" sz="1500" dirty="0"/>
          </a:p>
        </p:txBody>
      </p:sp>
      <p:sp>
        <p:nvSpPr>
          <p:cNvPr id="9" name="Text 7"/>
          <p:cNvSpPr/>
          <p:nvPr/>
        </p:nvSpPr>
        <p:spPr>
          <a:xfrm>
            <a:off x="7823200" y="2909788"/>
            <a:ext cx="3662680"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75866"/>
                </a:solidFill>
                <a:latin typeface="Arial" pitchFamily="34" charset="0"/>
                <a:ea typeface="Arial" pitchFamily="34" charset="-122"/>
                <a:cs typeface="Arial" pitchFamily="34" charset="-120"/>
              </a:rPr>
              <a:t>Fill in commands and files; the plugin writes the TUFLOW control files.</a:t>
            </a:r>
            <a:endParaRPr lang="en-US" sz="1200" dirty="0"/>
          </a:p>
        </p:txBody>
      </p:sp>
      <p:sp>
        <p:nvSpPr>
          <p:cNvPr id="10" name="Text 8"/>
          <p:cNvSpPr/>
          <p:nvPr/>
        </p:nvSpPr>
        <p:spPr>
          <a:xfrm>
            <a:off x="7823200" y="3605709"/>
            <a:ext cx="366268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93A"/>
                </a:solidFill>
                <a:latin typeface="Arial" pitchFamily="34" charset="0"/>
                <a:ea typeface="Arial" pitchFamily="34" charset="-122"/>
                <a:cs typeface="Arial" pitchFamily="34" charset="-120"/>
              </a:rPr>
              <a:t>Every file in one window</a:t>
            </a:r>
            <a:endParaRPr lang="en-US" sz="1500" dirty="0"/>
          </a:p>
        </p:txBody>
      </p:sp>
      <p:sp>
        <p:nvSpPr>
          <p:cNvPr id="11" name="Text 9"/>
          <p:cNvSpPr/>
          <p:nvPr/>
        </p:nvSpPr>
        <p:spPr>
          <a:xfrm>
            <a:off x="7823200" y="3885109"/>
            <a:ext cx="3662680"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75866"/>
                </a:solidFill>
                <a:latin typeface="Arial" pitchFamily="34" charset="0"/>
                <a:ea typeface="Arial" pitchFamily="34" charset="-122"/>
                <a:cs typeface="Arial" pitchFamily="34" charset="-120"/>
              </a:rPr>
              <a:t>Move between TCF, TGC, TBC and ECF without a text editor.</a:t>
            </a:r>
            <a:endParaRPr lang="en-US" sz="1200" dirty="0"/>
          </a:p>
        </p:txBody>
      </p:sp>
      <p:sp>
        <p:nvSpPr>
          <p:cNvPr id="12" name="Text 10"/>
          <p:cNvSpPr/>
          <p:nvPr/>
        </p:nvSpPr>
        <p:spPr>
          <a:xfrm>
            <a:off x="7823200" y="4581029"/>
            <a:ext cx="366268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93A"/>
                </a:solidFill>
                <a:latin typeface="Arial" pitchFamily="34" charset="0"/>
                <a:ea typeface="Arial" pitchFamily="34" charset="-122"/>
                <a:cs typeface="Arial" pitchFamily="34" charset="-120"/>
              </a:rPr>
              <a:t>Help on hand</a:t>
            </a:r>
            <a:endParaRPr lang="en-US" sz="1500" dirty="0"/>
          </a:p>
        </p:txBody>
      </p:sp>
      <p:sp>
        <p:nvSpPr>
          <p:cNvPr id="13" name="Text 11"/>
          <p:cNvSpPr/>
          <p:nvPr/>
        </p:nvSpPr>
        <p:spPr>
          <a:xfrm>
            <a:off x="7823200" y="4860429"/>
            <a:ext cx="3662680"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75866"/>
                </a:solidFill>
                <a:latin typeface="Arial" pitchFamily="34" charset="0"/>
                <a:ea typeface="Arial" pitchFamily="34" charset="-122"/>
                <a:cs typeface="Arial" pitchFamily="34" charset="-120"/>
              </a:rPr>
              <a:t>The Help tab links to the TUFLOW Wiki for command details.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6F99"/>
                </a:solidFill>
                <a:latin typeface="Arial" pitchFamily="34" charset="0"/>
                <a:ea typeface="Arial" pitchFamily="34" charset="-122"/>
                <a:cs typeface="Arial" pitchFamily="34" charset="-120"/>
              </a:rPr>
              <a:t>FMB TOOLS 0.10 · STEPS 2 AND 3</a:t>
            </a:r>
            <a:endParaRPr lang="en-US" sz="1200" dirty="0"/>
          </a:p>
        </p:txBody>
      </p:sp>
      <p:sp>
        <p:nvSpPr>
          <p:cNvPr id="3" name="Text 1"/>
          <p:cNvSpPr/>
          <p:nvPr>
            <p:ph type="title"/>
          </p:nvPr>
        </p:nvSpPr>
        <p:spPr>
          <a:xfrm>
            <a:off x="812800" y="1127720"/>
            <a:ext cx="10883392" cy="480516"/>
          </a:xfrm>
          <a:prstGeom prst="rect">
            <a:avLst/>
          </a:prstGeom>
          <a:noFill/>
          <a:ln/>
        </p:spPr>
        <p:txBody>
          <a:bodyPr wrap="square" lIns="0" tIns="0" rIns="0" bIns="0" rtlCol="0" anchor="t">
            <a:normAutofit/>
          </a:bodyPr>
          <a:lstStyle/>
          <a:p>
            <a:pPr algn="l" indent="0" marL="0">
              <a:lnSpc>
                <a:spcPts val="3584"/>
              </a:lnSpc>
              <a:buNone/>
            </a:pPr>
            <a:r>
              <a:rPr lang="en-US" sz="3200" b="1" i="0" dirty="0">
                <a:solidFill>
                  <a:srgbClr val="14293A"/>
                </a:solidFill>
                <a:latin typeface="Arial" pitchFamily="34" charset="0"/>
                <a:ea typeface="Arial" pitchFamily="34" charset="-122"/>
                <a:cs typeface="Arial" pitchFamily="34" charset="-120"/>
              </a:rPr>
              <a:t>Batch files without hand-typed paths</a:t>
            </a:r>
            <a:endParaRPr lang="en-US" sz="3200" dirty="0"/>
          </a:p>
        </p:txBody>
      </p:sp>
      <p:sp>
        <p:nvSpPr>
          <p:cNvPr id="4" name="Text 2"/>
          <p:cNvSpPr/>
          <p:nvPr/>
        </p:nvSpPr>
        <p:spPr>
          <a:xfrm>
            <a:off x="812800" y="2630388"/>
            <a:ext cx="366268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93A"/>
                </a:solidFill>
                <a:latin typeface="Arial" pitchFamily="34" charset="0"/>
                <a:ea typeface="Arial" pitchFamily="34" charset="-122"/>
                <a:cs typeface="Arial" pitchFamily="34" charset="-120"/>
              </a:rPr>
              <a:t>Generated from your setup</a:t>
            </a:r>
            <a:endParaRPr lang="en-US" sz="1500" dirty="0"/>
          </a:p>
        </p:txBody>
      </p:sp>
      <p:sp>
        <p:nvSpPr>
          <p:cNvPr id="5" name="Text 3"/>
          <p:cNvSpPr/>
          <p:nvPr/>
        </p:nvSpPr>
        <p:spPr>
          <a:xfrm>
            <a:off x="812800" y="2909788"/>
            <a:ext cx="3662680"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75866"/>
                </a:solidFill>
                <a:latin typeface="Arial" pitchFamily="34" charset="0"/>
                <a:ea typeface="Arial" pitchFamily="34" charset="-122"/>
                <a:cs typeface="Arial" pitchFamily="34" charset="-120"/>
              </a:rPr>
              <a:t>The batch file is built from the model you just defined.</a:t>
            </a:r>
            <a:endParaRPr lang="en-US" sz="1200" dirty="0"/>
          </a:p>
        </p:txBody>
      </p:sp>
      <p:sp>
        <p:nvSpPr>
          <p:cNvPr id="6" name="Text 4"/>
          <p:cNvSpPr/>
          <p:nvPr/>
        </p:nvSpPr>
        <p:spPr>
          <a:xfrm>
            <a:off x="812800" y="3605709"/>
            <a:ext cx="366268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93A"/>
                </a:solidFill>
                <a:latin typeface="Arial" pitchFamily="34" charset="0"/>
                <a:ea typeface="Arial" pitchFamily="34" charset="-122"/>
                <a:cs typeface="Arial" pitchFamily="34" charset="-120"/>
              </a:rPr>
              <a:t>Same structure every time</a:t>
            </a:r>
            <a:endParaRPr lang="en-US" sz="1500" dirty="0"/>
          </a:p>
        </p:txBody>
      </p:sp>
      <p:sp>
        <p:nvSpPr>
          <p:cNvPr id="7" name="Text 5"/>
          <p:cNvSpPr/>
          <p:nvPr/>
        </p:nvSpPr>
        <p:spPr>
          <a:xfrm>
            <a:off x="812800" y="3885109"/>
            <a:ext cx="3662680"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75866"/>
                </a:solidFill>
                <a:latin typeface="Arial" pitchFamily="34" charset="0"/>
                <a:ea typeface="Arial" pitchFamily="34" charset="-122"/>
                <a:cs typeface="Arial" pitchFamily="34" charset="-120"/>
              </a:rPr>
              <a:t>Run files look alike across the team, so anyone can pick one up.</a:t>
            </a:r>
            <a:endParaRPr lang="en-US" sz="1200" dirty="0"/>
          </a:p>
        </p:txBody>
      </p:sp>
      <p:sp>
        <p:nvSpPr>
          <p:cNvPr id="8" name="Text 6"/>
          <p:cNvSpPr/>
          <p:nvPr/>
        </p:nvSpPr>
        <p:spPr>
          <a:xfrm>
            <a:off x="812800" y="4581029"/>
            <a:ext cx="366268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93A"/>
                </a:solidFill>
                <a:latin typeface="Arial" pitchFamily="34" charset="0"/>
                <a:ea typeface="Arial" pitchFamily="34" charset="-122"/>
                <a:cs typeface="Arial" pitchFamily="34" charset="-120"/>
              </a:rPr>
              <a:t>Run options</a:t>
            </a:r>
            <a:endParaRPr lang="en-US" sz="1500" dirty="0"/>
          </a:p>
        </p:txBody>
      </p:sp>
      <p:sp>
        <p:nvSpPr>
          <p:cNvPr id="9" name="Text 7"/>
          <p:cNvSpPr/>
          <p:nvPr/>
        </p:nvSpPr>
        <p:spPr>
          <a:xfrm>
            <a:off x="812800" y="4860429"/>
            <a:ext cx="3662680"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75866"/>
                </a:solidFill>
                <a:latin typeface="Arial" pitchFamily="34" charset="0"/>
                <a:ea typeface="Arial" pitchFamily="34" charset="-122"/>
                <a:cs typeface="Arial" pitchFamily="34" charset="-120"/>
              </a:rPr>
              <a:t>[List the run options 0.10 supports, such as events or scenarios]</a:t>
            </a:r>
            <a:endParaRPr lang="en-US" sz="1200" dirty="0"/>
          </a:p>
        </p:txBody>
      </p:sp>
      <p:sp>
        <p:nvSpPr>
          <p:cNvPr id="10" name="Shape 8"/>
          <p:cNvSpPr/>
          <p:nvPr/>
        </p:nvSpPr>
        <p:spPr>
          <a:xfrm>
            <a:off x="4784725" y="1897162"/>
            <a:ext cx="6584950" cy="4138513"/>
          </a:xfrm>
          <a:prstGeom prst="roundRect">
            <a:avLst>
              <a:gd name="adj" fmla="val 2225"/>
            </a:avLst>
          </a:prstGeom>
          <a:solidFill>
            <a:srgbClr val="E8EEF1"/>
          </a:solidFill>
          <a:ln w="19050">
            <a:solidFill>
              <a:srgbClr val="8FA6B4"/>
            </a:solidFill>
            <a:prstDash val="dash"/>
          </a:ln>
        </p:spPr>
      </p:sp>
      <p:sp>
        <p:nvSpPr>
          <p:cNvPr id="11" name="Text 9"/>
          <p:cNvSpPr/>
          <p:nvPr/>
        </p:nvSpPr>
        <p:spPr>
          <a:xfrm>
            <a:off x="7327821" y="3518098"/>
            <a:ext cx="1498759" cy="238720"/>
          </a:xfrm>
          <a:prstGeom prst="rect">
            <a:avLst/>
          </a:prstGeom>
          <a:noFill/>
          <a:ln/>
        </p:spPr>
        <p:txBody>
          <a:bodyPr wrap="square" lIns="0" tIns="0" rIns="0" bIns="0" rtlCol="0" anchor="t">
            <a:normAutofit/>
          </a:bodyPr>
          <a:lstStyle/>
          <a:p>
            <a:pPr algn="ctr" indent="0" marL="0">
              <a:lnSpc>
                <a:spcPts val="1680"/>
              </a:lnSpc>
              <a:buNone/>
            </a:pPr>
            <a:r>
              <a:rPr lang="en-US" sz="1200" b="1" spc="150" kern="0" dirty="0">
                <a:solidFill>
                  <a:srgbClr val="1F6F99"/>
                </a:solidFill>
                <a:latin typeface="Arial" pitchFamily="34" charset="0"/>
                <a:ea typeface="Arial" pitchFamily="34" charset="-122"/>
                <a:cs typeface="Arial" pitchFamily="34" charset="-120"/>
              </a:rPr>
              <a:t>SCREENSHOT</a:t>
            </a:r>
            <a:endParaRPr lang="en-US" sz="1200" dirty="0"/>
          </a:p>
        </p:txBody>
      </p:sp>
      <p:sp>
        <p:nvSpPr>
          <p:cNvPr id="12" name="Text 10"/>
          <p:cNvSpPr/>
          <p:nvPr/>
        </p:nvSpPr>
        <p:spPr>
          <a:xfrm>
            <a:off x="7149941" y="3833019"/>
            <a:ext cx="1854517"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14293A"/>
                </a:solidFill>
                <a:latin typeface="Arial" pitchFamily="34" charset="0"/>
                <a:ea typeface="Arial" pitchFamily="34" charset="-122"/>
                <a:cs typeface="Arial" pitchFamily="34" charset="-120"/>
              </a:rPr>
              <a:t>Batch file builder</a:t>
            </a:r>
            <a:endParaRPr lang="en-US" sz="1500" dirty="0"/>
          </a:p>
        </p:txBody>
      </p:sp>
      <p:sp>
        <p:nvSpPr>
          <p:cNvPr id="13" name="Text 11"/>
          <p:cNvSpPr/>
          <p:nvPr/>
        </p:nvSpPr>
        <p:spPr>
          <a:xfrm>
            <a:off x="6536888" y="4201319"/>
            <a:ext cx="3080623"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75866"/>
                </a:solidFill>
                <a:latin typeface="Arial" pitchFamily="34" charset="0"/>
                <a:ea typeface="Arial" pitchFamily="34" charset="-122"/>
                <a:cs typeface="Arial" pitchFamily="34" charset="-120"/>
              </a:rPr>
              <a:t>The batch tab and the .bat it produces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6F99"/>
                </a:solidFill>
                <a:latin typeface="Arial" pitchFamily="34" charset="0"/>
                <a:ea typeface="Arial" pitchFamily="34" charset="-122"/>
                <a:cs typeface="Arial" pitchFamily="34" charset="-120"/>
              </a:rPr>
              <a:t>FMB TOOLS 0.10 · STEPS 4 AND 5</a:t>
            </a:r>
            <a:endParaRPr lang="en-US" sz="1200" dirty="0"/>
          </a:p>
        </p:txBody>
      </p:sp>
      <p:sp>
        <p:nvSpPr>
          <p:cNvPr id="3" name="Text 1"/>
          <p:cNvSpPr/>
          <p:nvPr>
            <p:ph type="title"/>
          </p:nvPr>
        </p:nvSpPr>
        <p:spPr>
          <a:xfrm>
            <a:off x="812800" y="1127720"/>
            <a:ext cx="10883392" cy="480516"/>
          </a:xfrm>
          <a:prstGeom prst="rect">
            <a:avLst/>
          </a:prstGeom>
          <a:noFill/>
          <a:ln/>
        </p:spPr>
        <p:txBody>
          <a:bodyPr wrap="square" lIns="0" tIns="0" rIns="0" bIns="0" rtlCol="0" anchor="t">
            <a:normAutofit/>
          </a:bodyPr>
          <a:lstStyle/>
          <a:p>
            <a:pPr algn="l" indent="0" marL="0">
              <a:lnSpc>
                <a:spcPts val="3584"/>
              </a:lnSpc>
              <a:buNone/>
            </a:pPr>
            <a:r>
              <a:rPr lang="en-US" sz="3200" b="1" i="0" dirty="0">
                <a:solidFill>
                  <a:srgbClr val="14293A"/>
                </a:solidFill>
                <a:latin typeface="Arial" pitchFamily="34" charset="0"/>
                <a:ea typeface="Arial" pitchFamily="34" charset="-122"/>
                <a:cs typeface="Arial" pitchFamily="34" charset="-120"/>
              </a:rPr>
              <a:t>QC, log and results without leaving QGIS</a:t>
            </a:r>
            <a:endParaRPr lang="en-US" sz="3200" dirty="0"/>
          </a:p>
        </p:txBody>
      </p:sp>
      <p:sp>
        <p:nvSpPr>
          <p:cNvPr id="4" name="Shape 2"/>
          <p:cNvSpPr/>
          <p:nvPr/>
        </p:nvSpPr>
        <p:spPr>
          <a:xfrm>
            <a:off x="822325" y="1897162"/>
            <a:ext cx="5162550" cy="4138513"/>
          </a:xfrm>
          <a:prstGeom prst="roundRect">
            <a:avLst>
              <a:gd name="adj" fmla="val 2225"/>
            </a:avLst>
          </a:prstGeom>
          <a:solidFill>
            <a:srgbClr val="E8EEF1"/>
          </a:solidFill>
          <a:ln w="19050">
            <a:solidFill>
              <a:srgbClr val="8FA6B4"/>
            </a:solidFill>
            <a:prstDash val="dash"/>
          </a:ln>
        </p:spPr>
      </p:sp>
      <p:sp>
        <p:nvSpPr>
          <p:cNvPr id="5" name="Text 3"/>
          <p:cNvSpPr/>
          <p:nvPr/>
        </p:nvSpPr>
        <p:spPr>
          <a:xfrm>
            <a:off x="2654221" y="3518098"/>
            <a:ext cx="1498759" cy="238720"/>
          </a:xfrm>
          <a:prstGeom prst="rect">
            <a:avLst/>
          </a:prstGeom>
          <a:noFill/>
          <a:ln/>
        </p:spPr>
        <p:txBody>
          <a:bodyPr wrap="square" lIns="0" tIns="0" rIns="0" bIns="0" rtlCol="0" anchor="t">
            <a:normAutofit/>
          </a:bodyPr>
          <a:lstStyle/>
          <a:p>
            <a:pPr algn="ctr" indent="0" marL="0">
              <a:lnSpc>
                <a:spcPts val="1680"/>
              </a:lnSpc>
              <a:buNone/>
            </a:pPr>
            <a:r>
              <a:rPr lang="en-US" sz="1200" b="1" spc="150" kern="0" dirty="0">
                <a:solidFill>
                  <a:srgbClr val="1F6F99"/>
                </a:solidFill>
                <a:latin typeface="Arial" pitchFamily="34" charset="0"/>
                <a:ea typeface="Arial" pitchFamily="34" charset="-122"/>
                <a:cs typeface="Arial" pitchFamily="34" charset="-120"/>
              </a:rPr>
              <a:t>SCREENSHOT</a:t>
            </a:r>
            <a:endParaRPr lang="en-US" sz="1200" dirty="0"/>
          </a:p>
        </p:txBody>
      </p:sp>
      <p:sp>
        <p:nvSpPr>
          <p:cNvPr id="6" name="Text 4"/>
          <p:cNvSpPr/>
          <p:nvPr/>
        </p:nvSpPr>
        <p:spPr>
          <a:xfrm>
            <a:off x="2514441" y="3833019"/>
            <a:ext cx="1778317"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14293A"/>
                </a:solidFill>
                <a:latin typeface="Arial" pitchFamily="34" charset="0"/>
                <a:ea typeface="Arial" pitchFamily="34" charset="-122"/>
                <a:cs typeface="Arial" pitchFamily="34" charset="-120"/>
              </a:rPr>
              <a:t>QC and log view</a:t>
            </a:r>
            <a:endParaRPr lang="en-US" sz="1500" dirty="0"/>
          </a:p>
        </p:txBody>
      </p:sp>
      <p:sp>
        <p:nvSpPr>
          <p:cNvPr id="7" name="Text 5"/>
          <p:cNvSpPr/>
          <p:nvPr/>
        </p:nvSpPr>
        <p:spPr>
          <a:xfrm>
            <a:off x="1467058" y="4201319"/>
            <a:ext cx="3872984"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75866"/>
                </a:solidFill>
                <a:latin typeface="Arial" pitchFamily="34" charset="0"/>
                <a:ea typeface="Arial" pitchFamily="34" charset="-122"/>
                <a:cs typeface="Arial" pitchFamily="34" charset="-120"/>
              </a:rPr>
              <a:t>Messages and log from a run, read inside QGIS</a:t>
            </a:r>
            <a:endParaRPr lang="en-US" sz="1200" dirty="0"/>
          </a:p>
        </p:txBody>
      </p:sp>
      <p:sp>
        <p:nvSpPr>
          <p:cNvPr id="8" name="Shape 6"/>
          <p:cNvSpPr/>
          <p:nvPr/>
        </p:nvSpPr>
        <p:spPr>
          <a:xfrm>
            <a:off x="6207125" y="1897162"/>
            <a:ext cx="5162550" cy="4138513"/>
          </a:xfrm>
          <a:prstGeom prst="roundRect">
            <a:avLst>
              <a:gd name="adj" fmla="val 2225"/>
            </a:avLst>
          </a:prstGeom>
          <a:solidFill>
            <a:srgbClr val="E8EEF1"/>
          </a:solidFill>
          <a:ln w="19050">
            <a:solidFill>
              <a:srgbClr val="8FA6B4"/>
            </a:solidFill>
            <a:prstDash val="dash"/>
          </a:ln>
        </p:spPr>
      </p:sp>
      <p:sp>
        <p:nvSpPr>
          <p:cNvPr id="9" name="Text 7"/>
          <p:cNvSpPr/>
          <p:nvPr/>
        </p:nvSpPr>
        <p:spPr>
          <a:xfrm>
            <a:off x="8039021" y="3518098"/>
            <a:ext cx="1498759" cy="238720"/>
          </a:xfrm>
          <a:prstGeom prst="rect">
            <a:avLst/>
          </a:prstGeom>
          <a:noFill/>
          <a:ln/>
        </p:spPr>
        <p:txBody>
          <a:bodyPr wrap="square" lIns="0" tIns="0" rIns="0" bIns="0" rtlCol="0" anchor="t">
            <a:normAutofit/>
          </a:bodyPr>
          <a:lstStyle/>
          <a:p>
            <a:pPr algn="ctr" indent="0" marL="0">
              <a:lnSpc>
                <a:spcPts val="1680"/>
              </a:lnSpc>
              <a:buNone/>
            </a:pPr>
            <a:r>
              <a:rPr lang="en-US" sz="1200" b="1" spc="150" kern="0" dirty="0">
                <a:solidFill>
                  <a:srgbClr val="1F6F99"/>
                </a:solidFill>
                <a:latin typeface="Arial" pitchFamily="34" charset="0"/>
                <a:ea typeface="Arial" pitchFamily="34" charset="-122"/>
                <a:cs typeface="Arial" pitchFamily="34" charset="-120"/>
              </a:rPr>
              <a:t>SCREENSHOT</a:t>
            </a:r>
            <a:endParaRPr lang="en-US" sz="1200" dirty="0"/>
          </a:p>
        </p:txBody>
      </p:sp>
      <p:sp>
        <p:nvSpPr>
          <p:cNvPr id="10" name="Text 8"/>
          <p:cNvSpPr/>
          <p:nvPr/>
        </p:nvSpPr>
        <p:spPr>
          <a:xfrm>
            <a:off x="8095933" y="3833019"/>
            <a:ext cx="1384935"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14293A"/>
                </a:solidFill>
                <a:latin typeface="Arial" pitchFamily="34" charset="0"/>
                <a:ea typeface="Arial" pitchFamily="34" charset="-122"/>
                <a:cs typeface="Arial" pitchFamily="34" charset="-120"/>
              </a:rPr>
              <a:t>Results view</a:t>
            </a:r>
            <a:endParaRPr lang="en-US" sz="1500" dirty="0"/>
          </a:p>
        </p:txBody>
      </p:sp>
      <p:sp>
        <p:nvSpPr>
          <p:cNvPr id="11" name="Text 9"/>
          <p:cNvSpPr/>
          <p:nvPr/>
        </p:nvSpPr>
        <p:spPr>
          <a:xfrm>
            <a:off x="6999139" y="4201319"/>
            <a:ext cx="3578423"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75866"/>
                </a:solidFill>
                <a:latin typeface="Arial" pitchFamily="34" charset="0"/>
                <a:ea typeface="Arial" pitchFamily="34" charset="-122"/>
                <a:cs typeface="Arial" pitchFamily="34" charset="-120"/>
              </a:rPr>
              <a:t>Model results loaded next to the input layers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6F99"/>
                </a:solidFill>
                <a:latin typeface="Arial" pitchFamily="34" charset="0"/>
                <a:ea typeface="Arial" pitchFamily="34" charset="-122"/>
                <a:cs typeface="Arial" pitchFamily="34" charset="-120"/>
              </a:rPr>
              <a:t>FMB TOOLS 0.10 · BEFORE AND AFTER</a:t>
            </a:r>
            <a:endParaRPr lang="en-US" sz="1200" dirty="0"/>
          </a:p>
        </p:txBody>
      </p:sp>
      <p:sp>
        <p:nvSpPr>
          <p:cNvPr id="3" name="Text 1"/>
          <p:cNvSpPr/>
          <p:nvPr>
            <p:ph type="title"/>
          </p:nvPr>
        </p:nvSpPr>
        <p:spPr>
          <a:xfrm>
            <a:off x="812800" y="1127720"/>
            <a:ext cx="10883392" cy="480516"/>
          </a:xfrm>
          <a:prstGeom prst="rect">
            <a:avLst/>
          </a:prstGeom>
          <a:noFill/>
          <a:ln/>
        </p:spPr>
        <p:txBody>
          <a:bodyPr wrap="square" lIns="0" tIns="0" rIns="0" bIns="0" rtlCol="0" anchor="t">
            <a:normAutofit/>
          </a:bodyPr>
          <a:lstStyle/>
          <a:p>
            <a:pPr algn="l" indent="0" marL="0">
              <a:lnSpc>
                <a:spcPts val="3584"/>
              </a:lnSpc>
              <a:buNone/>
            </a:pPr>
            <a:r>
              <a:rPr lang="en-US" sz="3200" b="1" i="0" dirty="0">
                <a:solidFill>
                  <a:srgbClr val="14293A"/>
                </a:solidFill>
                <a:latin typeface="Arial" pitchFamily="34" charset="0"/>
                <a:ea typeface="Arial" pitchFamily="34" charset="-122"/>
                <a:cs typeface="Arial" pitchFamily="34" charset="-120"/>
              </a:rPr>
              <a:t>What changes for the modeller</a:t>
            </a:r>
            <a:endParaRPr lang="en-US" sz="3200" dirty="0"/>
          </a:p>
        </p:txBody>
      </p:sp>
      <p:sp>
        <p:nvSpPr>
          <p:cNvPr id="4" name="Shape 2"/>
          <p:cNvSpPr/>
          <p:nvPr/>
        </p:nvSpPr>
        <p:spPr>
          <a:xfrm>
            <a:off x="11376025" y="1887637"/>
            <a:ext cx="0" cy="2495550"/>
          </a:xfrm>
          <a:prstGeom prst="line">
            <a:avLst/>
          </a:prstGeom>
          <a:noFill/>
          <a:ln w="6350">
            <a:solidFill>
              <a:srgbClr val="DCE4E8"/>
            </a:solidFill>
            <a:prstDash val="solid"/>
          </a:ln>
        </p:spPr>
      </p:sp>
      <p:sp>
        <p:nvSpPr>
          <p:cNvPr id="5" name="Shape 3"/>
          <p:cNvSpPr/>
          <p:nvPr/>
        </p:nvSpPr>
        <p:spPr>
          <a:xfrm>
            <a:off x="812800" y="4380012"/>
            <a:ext cx="10566400" cy="0"/>
          </a:xfrm>
          <a:prstGeom prst="line">
            <a:avLst/>
          </a:prstGeom>
          <a:noFill/>
          <a:ln w="6350">
            <a:solidFill>
              <a:srgbClr val="DCE4E8"/>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1900337"/>
          <a:ext cx="10547350" cy="2476500"/>
        </p:xfrm>
        <a:graphic>
          <a:graphicData uri="http://schemas.openxmlformats.org/drawingml/2006/table">
            <a:tbl>
              <a:tblPr/>
              <a:tblGrid>
                <a:gridCol w="2742311"/>
                <a:gridCol w="3902519"/>
                <a:gridCol w="3902519"/>
              </a:tblGrid>
              <a:tr h="412750">
                <a:tc>
                  <a:txBody>
                    <a:bodyPr/>
                    <a:lstStyle/>
                    <a:p>
                      <a:pPr indent="0" marL="0">
                        <a:lnSpc>
                          <a:spcPts val="2100"/>
                        </a:lnSpc>
                        <a:buNone/>
                      </a:pPr>
                      <a:r>
                        <a:rPr lang="en-US" sz="1500" b="1" dirty="0">
                          <a:solidFill>
                            <a:srgbClr val="F5F7F6"/>
                          </a:solidFill>
                          <a:latin typeface="Arial" pitchFamily="34" charset="0"/>
                          <a:ea typeface="Arial" pitchFamily="34" charset="-122"/>
                          <a:cs typeface="Arial" pitchFamily="34" charset="-120"/>
                        </a:rPr>
                        <a:t>Task</a:t>
                      </a:r>
                      <a:endParaRPr lang="en-US" sz="1500" dirty="0">
                        <a:latin typeface="Arial" charset="0"/>
                        <a:ea typeface="Arial" charset="0"/>
                        <a:cs typeface="Arial" charset="0"/>
                      </a:endParaRPr>
                    </a:p>
                  </a:txBody>
                  <a:tcPr marL="66675" marR="66675" marT="66675" marB="66675" anchor="t">
                    <a:lnL w="12700" cap="flat" cmpd="sng" algn="ctr">
                      <a:solidFill>
                        <a:srgbClr val="C4C5C4"/>
                      </a:solidFill>
                      <a:prstDash val="solid"/>
                      <a:round/>
                      <a:headEnd type="none" w="med" len="med"/>
                      <a:tailEnd type="none" w="med" len="med"/>
                    </a:lnL>
                    <a:lnR w="12700" cap="flat" cmpd="sng" algn="ctr">
                      <a:solidFill>
                        <a:srgbClr val="10202C"/>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10202C"/>
                      </a:solidFill>
                      <a:prstDash val="solid"/>
                      <a:round/>
                      <a:headEnd type="none" w="med" len="med"/>
                      <a:tailEnd type="none" w="med" len="med"/>
                    </a:lnB>
                    <a:solidFill>
                      <a:srgbClr val="0F2433"/>
                    </a:solidFill>
                  </a:tcPr>
                </a:tc>
                <a:tc>
                  <a:txBody>
                    <a:bodyPr/>
                    <a:lstStyle/>
                    <a:p>
                      <a:pPr indent="0" marL="0">
                        <a:lnSpc>
                          <a:spcPts val="2100"/>
                        </a:lnSpc>
                        <a:buNone/>
                      </a:pPr>
                      <a:r>
                        <a:rPr lang="en-US" sz="1500" b="1" dirty="0">
                          <a:solidFill>
                            <a:srgbClr val="F5F7F6"/>
                          </a:solidFill>
                          <a:latin typeface="Arial" pitchFamily="34" charset="0"/>
                          <a:ea typeface="Arial" pitchFamily="34" charset="-122"/>
                          <a:cs typeface="Arial" pitchFamily="34" charset="-120"/>
                        </a:rPr>
                        <a:t>By hand in Notepad++</a:t>
                      </a:r>
                      <a:endParaRPr lang="en-US" sz="1500" dirty="0">
                        <a:latin typeface="Arial" charset="0"/>
                        <a:ea typeface="Arial" charset="0"/>
                        <a:cs typeface="Arial" charset="0"/>
                      </a:endParaRPr>
                    </a:p>
                  </a:txBody>
                  <a:tcPr marL="66675" marR="66675" marT="66675" marB="66675" anchor="t">
                    <a:lnL w="12700" cap="flat" cmpd="sng" algn="ctr">
                      <a:solidFill>
                        <a:srgbClr val="10202C"/>
                      </a:solidFill>
                      <a:prstDash val="solid"/>
                      <a:round/>
                      <a:headEnd type="none" w="med" len="med"/>
                      <a:tailEnd type="none" w="med" len="med"/>
                    </a:lnL>
                    <a:lnR w="12700" cap="flat" cmpd="sng" algn="ctr">
                      <a:solidFill>
                        <a:srgbClr val="10202C"/>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10202C"/>
                      </a:solidFill>
                      <a:prstDash val="solid"/>
                      <a:round/>
                      <a:headEnd type="none" w="med" len="med"/>
                      <a:tailEnd type="none" w="med" len="med"/>
                    </a:lnB>
                    <a:solidFill>
                      <a:srgbClr val="0F2433"/>
                    </a:solidFill>
                  </a:tcPr>
                </a:tc>
                <a:tc>
                  <a:txBody>
                    <a:bodyPr/>
                    <a:lstStyle/>
                    <a:p>
                      <a:pPr indent="0" marL="0">
                        <a:lnSpc>
                          <a:spcPts val="2100"/>
                        </a:lnSpc>
                        <a:buNone/>
                      </a:pPr>
                      <a:r>
                        <a:rPr lang="en-US" sz="1500" b="1" dirty="0">
                          <a:solidFill>
                            <a:srgbClr val="F5F7F6"/>
                          </a:solidFill>
                          <a:latin typeface="Arial" pitchFamily="34" charset="0"/>
                          <a:ea typeface="Arial" pitchFamily="34" charset="-122"/>
                          <a:cs typeface="Arial" pitchFamily="34" charset="-120"/>
                        </a:rPr>
                        <a:t>With FMB Tools</a:t>
                      </a:r>
                      <a:endParaRPr lang="en-US" sz="1500" dirty="0">
                        <a:latin typeface="Arial" charset="0"/>
                        <a:ea typeface="Arial" charset="0"/>
                        <a:cs typeface="Arial" charset="0"/>
                      </a:endParaRPr>
                    </a:p>
                  </a:txBody>
                  <a:tcPr marL="66675" marR="66675" marT="66675" marB="66675" anchor="t">
                    <a:lnL w="12700" cap="flat" cmpd="sng" algn="ctr">
                      <a:solidFill>
                        <a:srgbClr val="10202C"/>
                      </a:solidFill>
                      <a:prstDash val="solid"/>
                      <a:round/>
                      <a:headEnd type="none" w="med" len="med"/>
                      <a:tailEnd type="none" w="med" len="med"/>
                    </a:lnL>
                    <a:lnR w="12700" cap="flat" cmpd="sng" algn="ctr">
                      <a:solidFill>
                        <a:srgbClr val="10202C"/>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10202C"/>
                      </a:solidFill>
                      <a:prstDash val="solid"/>
                      <a:round/>
                      <a:headEnd type="none" w="med" len="med"/>
                      <a:tailEnd type="none" w="med" len="med"/>
                    </a:lnB>
                    <a:solidFill>
                      <a:srgbClr val="0F2433"/>
                    </a:solidFill>
                  </a:tcPr>
                </a:tc>
              </a:tr>
              <a:tr h="412750">
                <a:tc>
                  <a:txBody>
                    <a:bodyPr/>
                    <a:lstStyle/>
                    <a:p>
                      <a:pPr indent="0" marL="0">
                        <a:lnSpc>
                          <a:spcPts val="2100"/>
                        </a:lnSpc>
                        <a:buNone/>
                      </a:pPr>
                      <a:r>
                        <a:rPr lang="en-US" sz="1500" dirty="0">
                          <a:solidFill>
                            <a:srgbClr val="14293A"/>
                          </a:solidFill>
                          <a:latin typeface="Arial" pitchFamily="34" charset="0"/>
                          <a:ea typeface="Arial" pitchFamily="34" charset="-122"/>
                          <a:cs typeface="Arial" pitchFamily="34" charset="-120"/>
                        </a:rPr>
                        <a:t>Control files</a:t>
                      </a:r>
                      <a:endParaRPr lang="en-US" sz="1500" dirty="0">
                        <a:latin typeface="Arial" charset="0"/>
                        <a:ea typeface="Arial" charset="0"/>
                        <a:cs typeface="Arial" charset="0"/>
                      </a:endParaRPr>
                    </a:p>
                  </a:txBody>
                  <a:tcPr marL="66675" marR="66675" marT="66675" marB="66675" anchor="t">
                    <a:lnL w="12700" cap="flat" cmpd="sng" algn="ctr">
                      <a:solidFill>
                        <a:srgbClr val="C4C5C4"/>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10202C"/>
                      </a:solidFill>
                      <a:prstDash val="solid"/>
                      <a:round/>
                      <a:headEnd type="none" w="med" len="med"/>
                      <a:tailEnd type="none" w="med" len="med"/>
                    </a:lnT>
                    <a:lnB w="12700" cap="flat" cmpd="sng" algn="ctr">
                      <a:solidFill>
                        <a:srgbClr val="CACBCA"/>
                      </a:solidFill>
                      <a:prstDash val="solid"/>
                      <a:round/>
                      <a:headEnd type="none" w="med" len="med"/>
                      <a:tailEnd type="none" w="med" len="med"/>
                    </a:lnB>
                    <a:solidFill>
                      <a:srgbClr val="FDFEFD"/>
                    </a:solidFill>
                  </a:tcPr>
                </a:tc>
                <a:tc>
                  <a:txBody>
                    <a:bodyPr/>
                    <a:lstStyle/>
                    <a:p>
                      <a:pPr indent="0" marL="0">
                        <a:lnSpc>
                          <a:spcPts val="2100"/>
                        </a:lnSpc>
                        <a:buNone/>
                      </a:pPr>
                      <a:r>
                        <a:rPr lang="en-US" sz="1500" dirty="0">
                          <a:solidFill>
                            <a:srgbClr val="475866"/>
                          </a:solidFill>
                          <a:latin typeface="Arial" pitchFamily="34" charset="0"/>
                          <a:ea typeface="Arial" pitchFamily="34" charset="-122"/>
                          <a:cs typeface="Arial" pitchFamily="34" charset="-120"/>
                        </a:rPr>
                        <a:t>Typed, or copied from an old model</a:t>
                      </a:r>
                      <a:endParaRPr lang="en-US" sz="1500" dirty="0">
                        <a:latin typeface="Arial" charset="0"/>
                        <a:ea typeface="Arial" charset="0"/>
                        <a:cs typeface="Arial" charset="0"/>
                      </a:endParaRPr>
                    </a:p>
                  </a:txBody>
                  <a:tcPr marL="66675" marR="66675" marT="66675" marB="66675" anchor="t">
                    <a:lnL w="12700" cap="flat" cmpd="sng" algn="ctr">
                      <a:solidFill>
                        <a:srgbClr val="CACBCA"/>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10202C"/>
                      </a:solidFill>
                      <a:prstDash val="solid"/>
                      <a:round/>
                      <a:headEnd type="none" w="med" len="med"/>
                      <a:tailEnd type="none" w="med" len="med"/>
                    </a:lnT>
                    <a:lnB w="12700" cap="flat" cmpd="sng" algn="ctr">
                      <a:solidFill>
                        <a:srgbClr val="CACBCA"/>
                      </a:solidFill>
                      <a:prstDash val="solid"/>
                      <a:round/>
                      <a:headEnd type="none" w="med" len="med"/>
                      <a:tailEnd type="none" w="med" len="med"/>
                    </a:lnB>
                    <a:solidFill>
                      <a:srgbClr val="FDFEFD"/>
                    </a:solidFill>
                  </a:tcPr>
                </a:tc>
                <a:tc>
                  <a:txBody>
                    <a:bodyPr/>
                    <a:lstStyle/>
                    <a:p>
                      <a:pPr indent="0" marL="0">
                        <a:lnSpc>
                          <a:spcPts val="2100"/>
                        </a:lnSpc>
                        <a:buNone/>
                      </a:pPr>
                      <a:r>
                        <a:rPr lang="en-US" sz="1500" dirty="0">
                          <a:solidFill>
                            <a:srgbClr val="14293A"/>
                          </a:solidFill>
                          <a:latin typeface="Arial" pitchFamily="34" charset="0"/>
                          <a:ea typeface="Arial" pitchFamily="34" charset="-122"/>
                          <a:cs typeface="Arial" pitchFamily="34" charset="-120"/>
                        </a:rPr>
                        <a:t>Built from tabbed forms</a:t>
                      </a:r>
                      <a:endParaRPr lang="en-US" sz="1500" dirty="0">
                        <a:latin typeface="Arial" charset="0"/>
                        <a:ea typeface="Arial" charset="0"/>
                        <a:cs typeface="Arial" charset="0"/>
                      </a:endParaRPr>
                    </a:p>
                  </a:txBody>
                  <a:tcPr marL="66675" marR="66675" marT="66675" marB="66675" anchor="t">
                    <a:lnL w="12700" cap="flat" cmpd="sng" algn="ctr">
                      <a:solidFill>
                        <a:srgbClr val="CACBCA"/>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10202C"/>
                      </a:solidFill>
                      <a:prstDash val="solid"/>
                      <a:round/>
                      <a:headEnd type="none" w="med" len="med"/>
                      <a:tailEnd type="none" w="med" len="med"/>
                    </a:lnT>
                    <a:lnB w="12700" cap="flat" cmpd="sng" algn="ctr">
                      <a:solidFill>
                        <a:srgbClr val="CACBCA"/>
                      </a:solidFill>
                      <a:prstDash val="solid"/>
                      <a:round/>
                      <a:headEnd type="none" w="med" len="med"/>
                      <a:tailEnd type="none" w="med" len="med"/>
                    </a:lnB>
                    <a:solidFill>
                      <a:srgbClr val="FDFEFD"/>
                    </a:solidFill>
                  </a:tcPr>
                </a:tc>
              </a:tr>
              <a:tr h="412750">
                <a:tc>
                  <a:txBody>
                    <a:bodyPr/>
                    <a:lstStyle/>
                    <a:p>
                      <a:pPr indent="0" marL="0">
                        <a:lnSpc>
                          <a:spcPts val="2100"/>
                        </a:lnSpc>
                        <a:buNone/>
                      </a:pPr>
                      <a:r>
                        <a:rPr lang="en-US" sz="1500" dirty="0">
                          <a:solidFill>
                            <a:srgbClr val="14293A"/>
                          </a:solidFill>
                          <a:latin typeface="Arial" pitchFamily="34" charset="0"/>
                          <a:ea typeface="Arial" pitchFamily="34" charset="-122"/>
                          <a:cs typeface="Arial" pitchFamily="34" charset="-120"/>
                        </a:rPr>
                        <a:t>Batch file</a:t>
                      </a:r>
                      <a:endParaRPr lang="en-US" sz="1500" dirty="0">
                        <a:latin typeface="Arial" charset="0"/>
                        <a:ea typeface="Arial" charset="0"/>
                        <a:cs typeface="Arial" charset="0"/>
                      </a:endParaRPr>
                    </a:p>
                  </a:txBody>
                  <a:tcPr marL="66675" marR="66675" marT="66675" marB="66675" anchor="t">
                    <a:lnL w="12700" cap="flat" cmpd="sng" algn="ctr">
                      <a:solidFill>
                        <a:srgbClr val="C4C5C4"/>
                      </a:solidFill>
                      <a:prstDash val="solid"/>
                      <a:round/>
                      <a:headEnd type="none" w="med" len="med"/>
                      <a:tailEnd type="none" w="med" len="med"/>
                    </a:lnL>
                    <a:lnR w="12700" cap="flat" cmpd="sng" algn="ctr">
                      <a:solidFill>
                        <a:srgbClr val="BEC2C3"/>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BEC2C3"/>
                      </a:solidFill>
                      <a:prstDash val="solid"/>
                      <a:round/>
                      <a:headEnd type="none" w="med" len="med"/>
                      <a:tailEnd type="none" w="med" len="med"/>
                    </a:lnB>
                    <a:solidFill>
                      <a:srgbClr val="EEF3F5"/>
                    </a:solidFill>
                  </a:tcPr>
                </a:tc>
                <a:tc>
                  <a:txBody>
                    <a:bodyPr/>
                    <a:lstStyle/>
                    <a:p>
                      <a:pPr indent="0" marL="0">
                        <a:lnSpc>
                          <a:spcPts val="2100"/>
                        </a:lnSpc>
                        <a:buNone/>
                      </a:pPr>
                      <a:r>
                        <a:rPr lang="en-US" sz="1500" dirty="0">
                          <a:solidFill>
                            <a:srgbClr val="475866"/>
                          </a:solidFill>
                          <a:latin typeface="Arial" pitchFamily="34" charset="0"/>
                          <a:ea typeface="Arial" pitchFamily="34" charset="-122"/>
                          <a:cs typeface="Arial" pitchFamily="34" charset="-120"/>
                        </a:rPr>
                        <a:t>Edited for each run</a:t>
                      </a:r>
                      <a:endParaRPr lang="en-US" sz="1500" dirty="0">
                        <a:latin typeface="Arial" charset="0"/>
                        <a:ea typeface="Arial" charset="0"/>
                        <a:cs typeface="Arial" charset="0"/>
                      </a:endParaRPr>
                    </a:p>
                  </a:txBody>
                  <a:tcPr marL="66675" marR="66675" marT="66675" marB="66675" anchor="t">
                    <a:lnL w="12700" cap="flat" cmpd="sng" algn="ctr">
                      <a:solidFill>
                        <a:srgbClr val="BEC2C3"/>
                      </a:solidFill>
                      <a:prstDash val="solid"/>
                      <a:round/>
                      <a:headEnd type="none" w="med" len="med"/>
                      <a:tailEnd type="none" w="med" len="med"/>
                    </a:lnL>
                    <a:lnR w="12700" cap="flat" cmpd="sng" algn="ctr">
                      <a:solidFill>
                        <a:srgbClr val="BEC2C3"/>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BEC2C3"/>
                      </a:solidFill>
                      <a:prstDash val="solid"/>
                      <a:round/>
                      <a:headEnd type="none" w="med" len="med"/>
                      <a:tailEnd type="none" w="med" len="med"/>
                    </a:lnB>
                    <a:solidFill>
                      <a:srgbClr val="EEF3F5"/>
                    </a:solidFill>
                  </a:tcPr>
                </a:tc>
                <a:tc>
                  <a:txBody>
                    <a:bodyPr/>
                    <a:lstStyle/>
                    <a:p>
                      <a:pPr indent="0" marL="0">
                        <a:lnSpc>
                          <a:spcPts val="2100"/>
                        </a:lnSpc>
                        <a:buNone/>
                      </a:pPr>
                      <a:r>
                        <a:rPr lang="en-US" sz="1500" dirty="0">
                          <a:solidFill>
                            <a:srgbClr val="14293A"/>
                          </a:solidFill>
                          <a:latin typeface="Arial" pitchFamily="34" charset="0"/>
                          <a:ea typeface="Arial" pitchFamily="34" charset="-122"/>
                          <a:cs typeface="Arial" pitchFamily="34" charset="-120"/>
                        </a:rPr>
                        <a:t>Generated by the plugin</a:t>
                      </a:r>
                      <a:endParaRPr lang="en-US" sz="1500" dirty="0">
                        <a:latin typeface="Arial" charset="0"/>
                        <a:ea typeface="Arial" charset="0"/>
                        <a:cs typeface="Arial" charset="0"/>
                      </a:endParaRPr>
                    </a:p>
                  </a:txBody>
                  <a:tcPr marL="66675" marR="66675" marT="66675" marB="66675" anchor="t">
                    <a:lnL w="12700" cap="flat" cmpd="sng" algn="ctr">
                      <a:solidFill>
                        <a:srgbClr val="BEC2C3"/>
                      </a:solidFill>
                      <a:prstDash val="solid"/>
                      <a:round/>
                      <a:headEnd type="none" w="med" len="med"/>
                      <a:tailEnd type="none" w="med" len="med"/>
                    </a:lnL>
                    <a:lnR w="12700" cap="flat" cmpd="sng" algn="ctr">
                      <a:solidFill>
                        <a:srgbClr val="BEC2C3"/>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BEC2C3"/>
                      </a:solidFill>
                      <a:prstDash val="solid"/>
                      <a:round/>
                      <a:headEnd type="none" w="med" len="med"/>
                      <a:tailEnd type="none" w="med" len="med"/>
                    </a:lnB>
                    <a:solidFill>
                      <a:srgbClr val="EEF3F5"/>
                    </a:solidFill>
                  </a:tcPr>
                </a:tc>
              </a:tr>
              <a:tr h="412750">
                <a:tc>
                  <a:txBody>
                    <a:bodyPr/>
                    <a:lstStyle/>
                    <a:p>
                      <a:pPr indent="0" marL="0">
                        <a:lnSpc>
                          <a:spcPts val="2100"/>
                        </a:lnSpc>
                        <a:buNone/>
                      </a:pPr>
                      <a:r>
                        <a:rPr lang="en-US" sz="1500" dirty="0">
                          <a:solidFill>
                            <a:srgbClr val="14293A"/>
                          </a:solidFill>
                          <a:latin typeface="Arial" pitchFamily="34" charset="0"/>
                          <a:ea typeface="Arial" pitchFamily="34" charset="-122"/>
                          <a:cs typeface="Arial" pitchFamily="34" charset="-120"/>
                        </a:rPr>
                        <a:t>Finding errors</a:t>
                      </a:r>
                      <a:endParaRPr lang="en-US" sz="1500" dirty="0">
                        <a:latin typeface="Arial" charset="0"/>
                        <a:ea typeface="Arial" charset="0"/>
                        <a:cs typeface="Arial" charset="0"/>
                      </a:endParaRPr>
                    </a:p>
                  </a:txBody>
                  <a:tcPr marL="66675" marR="66675" marT="66675" marB="66675" anchor="t">
                    <a:lnL w="12700" cap="flat" cmpd="sng" algn="ctr">
                      <a:solidFill>
                        <a:srgbClr val="C4C5C4"/>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BEC2C3"/>
                      </a:solidFill>
                      <a:prstDash val="solid"/>
                      <a:round/>
                      <a:headEnd type="none" w="med" len="med"/>
                      <a:tailEnd type="none" w="med" len="med"/>
                    </a:lnT>
                    <a:lnB w="12700" cap="flat" cmpd="sng" algn="ctr">
                      <a:solidFill>
                        <a:srgbClr val="CACBCA"/>
                      </a:solidFill>
                      <a:prstDash val="solid"/>
                      <a:round/>
                      <a:headEnd type="none" w="med" len="med"/>
                      <a:tailEnd type="none" w="med" len="med"/>
                    </a:lnB>
                    <a:solidFill>
                      <a:srgbClr val="FDFEFD"/>
                    </a:solidFill>
                  </a:tcPr>
                </a:tc>
                <a:tc>
                  <a:txBody>
                    <a:bodyPr/>
                    <a:lstStyle/>
                    <a:p>
                      <a:pPr indent="0" marL="0">
                        <a:lnSpc>
                          <a:spcPts val="2100"/>
                        </a:lnSpc>
                        <a:buNone/>
                      </a:pPr>
                      <a:r>
                        <a:rPr lang="en-US" sz="1500" dirty="0">
                          <a:solidFill>
                            <a:srgbClr val="475866"/>
                          </a:solidFill>
                          <a:latin typeface="Arial" pitchFamily="34" charset="0"/>
                          <a:ea typeface="Arial" pitchFamily="34" charset="-122"/>
                          <a:cs typeface="Arial" pitchFamily="34" charset="-120"/>
                        </a:rPr>
                        <a:t>After a run stops, in the log</a:t>
                      </a:r>
                      <a:endParaRPr lang="en-US" sz="1500" dirty="0">
                        <a:latin typeface="Arial" charset="0"/>
                        <a:ea typeface="Arial" charset="0"/>
                        <a:cs typeface="Arial" charset="0"/>
                      </a:endParaRPr>
                    </a:p>
                  </a:txBody>
                  <a:tcPr marL="66675" marR="66675" marT="66675" marB="66675" anchor="t">
                    <a:lnL w="12700" cap="flat" cmpd="sng" algn="ctr">
                      <a:solidFill>
                        <a:srgbClr val="CACBCA"/>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BEC2C3"/>
                      </a:solidFill>
                      <a:prstDash val="solid"/>
                      <a:round/>
                      <a:headEnd type="none" w="med" len="med"/>
                      <a:tailEnd type="none" w="med" len="med"/>
                    </a:lnT>
                    <a:lnB w="12700" cap="flat" cmpd="sng" algn="ctr">
                      <a:solidFill>
                        <a:srgbClr val="CACBCA"/>
                      </a:solidFill>
                      <a:prstDash val="solid"/>
                      <a:round/>
                      <a:headEnd type="none" w="med" len="med"/>
                      <a:tailEnd type="none" w="med" len="med"/>
                    </a:lnB>
                    <a:solidFill>
                      <a:srgbClr val="FDFEFD"/>
                    </a:solidFill>
                  </a:tcPr>
                </a:tc>
                <a:tc>
                  <a:txBody>
                    <a:bodyPr/>
                    <a:lstStyle/>
                    <a:p>
                      <a:pPr indent="0" marL="0">
                        <a:lnSpc>
                          <a:spcPts val="2100"/>
                        </a:lnSpc>
                        <a:buNone/>
                      </a:pPr>
                      <a:r>
                        <a:rPr lang="en-US" sz="1500" dirty="0">
                          <a:solidFill>
                            <a:srgbClr val="14293A"/>
                          </a:solidFill>
                          <a:latin typeface="Arial" pitchFamily="34" charset="0"/>
                          <a:ea typeface="Arial" pitchFamily="34" charset="-122"/>
                          <a:cs typeface="Arial" pitchFamily="34" charset="-120"/>
                        </a:rPr>
                        <a:t>QC view inside QGIS</a:t>
                      </a:r>
                      <a:endParaRPr lang="en-US" sz="1500" dirty="0">
                        <a:latin typeface="Arial" charset="0"/>
                        <a:ea typeface="Arial" charset="0"/>
                        <a:cs typeface="Arial" charset="0"/>
                      </a:endParaRPr>
                    </a:p>
                  </a:txBody>
                  <a:tcPr marL="66675" marR="66675" marT="66675" marB="66675" anchor="t">
                    <a:lnL w="12700" cap="flat" cmpd="sng" algn="ctr">
                      <a:solidFill>
                        <a:srgbClr val="CACBCA"/>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BEC2C3"/>
                      </a:solidFill>
                      <a:prstDash val="solid"/>
                      <a:round/>
                      <a:headEnd type="none" w="med" len="med"/>
                      <a:tailEnd type="none" w="med" len="med"/>
                    </a:lnT>
                    <a:lnB w="12700" cap="flat" cmpd="sng" algn="ctr">
                      <a:solidFill>
                        <a:srgbClr val="CACBCA"/>
                      </a:solidFill>
                      <a:prstDash val="solid"/>
                      <a:round/>
                      <a:headEnd type="none" w="med" len="med"/>
                      <a:tailEnd type="none" w="med" len="med"/>
                    </a:lnB>
                    <a:solidFill>
                      <a:srgbClr val="FDFEFD"/>
                    </a:solidFill>
                  </a:tcPr>
                </a:tc>
              </a:tr>
              <a:tr h="412750">
                <a:tc>
                  <a:txBody>
                    <a:bodyPr/>
                    <a:lstStyle/>
                    <a:p>
                      <a:pPr indent="0" marL="0">
                        <a:lnSpc>
                          <a:spcPts val="2100"/>
                        </a:lnSpc>
                        <a:buNone/>
                      </a:pPr>
                      <a:r>
                        <a:rPr lang="en-US" sz="1500" dirty="0">
                          <a:solidFill>
                            <a:srgbClr val="14293A"/>
                          </a:solidFill>
                          <a:latin typeface="Arial" pitchFamily="34" charset="0"/>
                          <a:ea typeface="Arial" pitchFamily="34" charset="-122"/>
                          <a:cs typeface="Arial" pitchFamily="34" charset="-120"/>
                        </a:rPr>
                        <a:t>Command help</a:t>
                      </a:r>
                      <a:endParaRPr lang="en-US" sz="1500" dirty="0">
                        <a:latin typeface="Arial" charset="0"/>
                        <a:ea typeface="Arial" charset="0"/>
                        <a:cs typeface="Arial" charset="0"/>
                      </a:endParaRPr>
                    </a:p>
                  </a:txBody>
                  <a:tcPr marL="66675" marR="66675" marT="66675" marB="66675" anchor="t">
                    <a:lnL w="12700" cap="flat" cmpd="sng" algn="ctr">
                      <a:solidFill>
                        <a:srgbClr val="C4C5C4"/>
                      </a:solidFill>
                      <a:prstDash val="solid"/>
                      <a:round/>
                      <a:headEnd type="none" w="med" len="med"/>
                      <a:tailEnd type="none" w="med" len="med"/>
                    </a:lnL>
                    <a:lnR w="12700" cap="flat" cmpd="sng" algn="ctr">
                      <a:solidFill>
                        <a:srgbClr val="BEC2C3"/>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BEC2C3"/>
                      </a:solidFill>
                      <a:prstDash val="solid"/>
                      <a:round/>
                      <a:headEnd type="none" w="med" len="med"/>
                      <a:tailEnd type="none" w="med" len="med"/>
                    </a:lnB>
                    <a:solidFill>
                      <a:srgbClr val="EEF3F5"/>
                    </a:solidFill>
                  </a:tcPr>
                </a:tc>
                <a:tc>
                  <a:txBody>
                    <a:bodyPr/>
                    <a:lstStyle/>
                    <a:p>
                      <a:pPr indent="0" marL="0">
                        <a:lnSpc>
                          <a:spcPts val="2100"/>
                        </a:lnSpc>
                        <a:buNone/>
                      </a:pPr>
                      <a:r>
                        <a:rPr lang="en-US" sz="1500" dirty="0">
                          <a:solidFill>
                            <a:srgbClr val="475866"/>
                          </a:solidFill>
                          <a:latin typeface="Arial" pitchFamily="34" charset="0"/>
                          <a:ea typeface="Arial" pitchFamily="34" charset="-122"/>
                          <a:cs typeface="Arial" pitchFamily="34" charset="-120"/>
                        </a:rPr>
                        <a:t>A separate TUFLOW Wiki search</a:t>
                      </a:r>
                      <a:endParaRPr lang="en-US" sz="1500" dirty="0">
                        <a:latin typeface="Arial" charset="0"/>
                        <a:ea typeface="Arial" charset="0"/>
                        <a:cs typeface="Arial" charset="0"/>
                      </a:endParaRPr>
                    </a:p>
                  </a:txBody>
                  <a:tcPr marL="66675" marR="66675" marT="66675" marB="66675" anchor="t">
                    <a:lnL w="12700" cap="flat" cmpd="sng" algn="ctr">
                      <a:solidFill>
                        <a:srgbClr val="BEC2C3"/>
                      </a:solidFill>
                      <a:prstDash val="solid"/>
                      <a:round/>
                      <a:headEnd type="none" w="med" len="med"/>
                      <a:tailEnd type="none" w="med" len="med"/>
                    </a:lnL>
                    <a:lnR w="12700" cap="flat" cmpd="sng" algn="ctr">
                      <a:solidFill>
                        <a:srgbClr val="BEC2C3"/>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BEC2C3"/>
                      </a:solidFill>
                      <a:prstDash val="solid"/>
                      <a:round/>
                      <a:headEnd type="none" w="med" len="med"/>
                      <a:tailEnd type="none" w="med" len="med"/>
                    </a:lnB>
                    <a:solidFill>
                      <a:srgbClr val="EEF3F5"/>
                    </a:solidFill>
                  </a:tcPr>
                </a:tc>
                <a:tc>
                  <a:txBody>
                    <a:bodyPr/>
                    <a:lstStyle/>
                    <a:p>
                      <a:pPr indent="0" marL="0">
                        <a:lnSpc>
                          <a:spcPts val="2100"/>
                        </a:lnSpc>
                        <a:buNone/>
                      </a:pPr>
                      <a:r>
                        <a:rPr lang="en-US" sz="1500" dirty="0">
                          <a:solidFill>
                            <a:srgbClr val="14293A"/>
                          </a:solidFill>
                          <a:latin typeface="Arial" pitchFamily="34" charset="0"/>
                          <a:ea typeface="Arial" pitchFamily="34" charset="-122"/>
                          <a:cs typeface="Arial" pitchFamily="34" charset="-120"/>
                        </a:rPr>
                        <a:t>Help tab linked to the Wiki</a:t>
                      </a:r>
                      <a:endParaRPr lang="en-US" sz="1500" dirty="0">
                        <a:latin typeface="Arial" charset="0"/>
                        <a:ea typeface="Arial" charset="0"/>
                        <a:cs typeface="Arial" charset="0"/>
                      </a:endParaRPr>
                    </a:p>
                  </a:txBody>
                  <a:tcPr marL="66675" marR="66675" marT="66675" marB="66675" anchor="t">
                    <a:lnL w="12700" cap="flat" cmpd="sng" algn="ctr">
                      <a:solidFill>
                        <a:srgbClr val="BEC2C3"/>
                      </a:solidFill>
                      <a:prstDash val="solid"/>
                      <a:round/>
                      <a:headEnd type="none" w="med" len="med"/>
                      <a:tailEnd type="none" w="med" len="med"/>
                    </a:lnL>
                    <a:lnR w="12700" cap="flat" cmpd="sng" algn="ctr">
                      <a:solidFill>
                        <a:srgbClr val="BEC2C3"/>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BEC2C3"/>
                      </a:solidFill>
                      <a:prstDash val="solid"/>
                      <a:round/>
                      <a:headEnd type="none" w="med" len="med"/>
                      <a:tailEnd type="none" w="med" len="med"/>
                    </a:lnB>
                    <a:solidFill>
                      <a:srgbClr val="EEF3F5"/>
                    </a:solidFill>
                  </a:tcPr>
                </a:tc>
              </a:tr>
              <a:tr h="412750">
                <a:tc>
                  <a:txBody>
                    <a:bodyPr/>
                    <a:lstStyle/>
                    <a:p>
                      <a:pPr indent="0" marL="0">
                        <a:lnSpc>
                          <a:spcPts val="2100"/>
                        </a:lnSpc>
                        <a:buNone/>
                      </a:pPr>
                      <a:r>
                        <a:rPr lang="en-US" sz="1500" dirty="0">
                          <a:solidFill>
                            <a:srgbClr val="14293A"/>
                          </a:solidFill>
                          <a:latin typeface="Arial" pitchFamily="34" charset="0"/>
                          <a:ea typeface="Arial" pitchFamily="34" charset="-122"/>
                          <a:cs typeface="Arial" pitchFamily="34" charset="-120"/>
                        </a:rPr>
                        <a:t>Time to first run</a:t>
                      </a:r>
                      <a:endParaRPr lang="en-US" sz="1500" dirty="0">
                        <a:latin typeface="Arial" charset="0"/>
                        <a:ea typeface="Arial" charset="0"/>
                        <a:cs typeface="Arial" charset="0"/>
                      </a:endParaRPr>
                    </a:p>
                  </a:txBody>
                  <a:tcPr marL="66675" marR="66675" marT="66675" marB="66675" anchor="t">
                    <a:lnL w="12700" cap="flat" cmpd="sng" algn="ctr">
                      <a:solidFill>
                        <a:srgbClr val="C4C5C4"/>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BEC2C3"/>
                      </a:solidFill>
                      <a:prstDash val="solid"/>
                      <a:round/>
                      <a:headEnd type="none" w="med" len="med"/>
                      <a:tailEnd type="none" w="med" len="med"/>
                    </a:lnT>
                    <a:lnB w="12700" cap="flat" cmpd="sng" algn="ctr">
                      <a:solidFill>
                        <a:srgbClr val="CACBCA"/>
                      </a:solidFill>
                      <a:prstDash val="solid"/>
                      <a:round/>
                      <a:headEnd type="none" w="med" len="med"/>
                      <a:tailEnd type="none" w="med" len="med"/>
                    </a:lnB>
                    <a:solidFill>
                      <a:srgbClr val="FDFEFD"/>
                    </a:solidFill>
                  </a:tcPr>
                </a:tc>
                <a:tc>
                  <a:txBody>
                    <a:bodyPr/>
                    <a:lstStyle/>
                    <a:p>
                      <a:pPr indent="0" marL="0">
                        <a:lnSpc>
                          <a:spcPts val="2100"/>
                        </a:lnSpc>
                        <a:buNone/>
                      </a:pPr>
                      <a:r>
                        <a:rPr lang="en-US" sz="1500" dirty="0">
                          <a:solidFill>
                            <a:srgbClr val="475866"/>
                          </a:solidFill>
                          <a:latin typeface="Arial" pitchFamily="34" charset="0"/>
                          <a:ea typeface="Arial" pitchFamily="34" charset="-122"/>
                          <a:cs typeface="Arial" pitchFamily="34" charset="-120"/>
                        </a:rPr>
                        <a:t>[__ hours]</a:t>
                      </a:r>
                      <a:endParaRPr lang="en-US" sz="1500" dirty="0">
                        <a:latin typeface="Arial" charset="0"/>
                        <a:ea typeface="Arial" charset="0"/>
                        <a:cs typeface="Arial" charset="0"/>
                      </a:endParaRPr>
                    </a:p>
                  </a:txBody>
                  <a:tcPr marL="66675" marR="66675" marT="66675" marB="66675" anchor="t">
                    <a:lnL w="12700" cap="flat" cmpd="sng" algn="ctr">
                      <a:solidFill>
                        <a:srgbClr val="CACBCA"/>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BEC2C3"/>
                      </a:solidFill>
                      <a:prstDash val="solid"/>
                      <a:round/>
                      <a:headEnd type="none" w="med" len="med"/>
                      <a:tailEnd type="none" w="med" len="med"/>
                    </a:lnT>
                    <a:lnB w="12700" cap="flat" cmpd="sng" algn="ctr">
                      <a:solidFill>
                        <a:srgbClr val="CACBCA"/>
                      </a:solidFill>
                      <a:prstDash val="solid"/>
                      <a:round/>
                      <a:headEnd type="none" w="med" len="med"/>
                      <a:tailEnd type="none" w="med" len="med"/>
                    </a:lnB>
                    <a:solidFill>
                      <a:srgbClr val="FDFEFD"/>
                    </a:solidFill>
                  </a:tcPr>
                </a:tc>
                <a:tc>
                  <a:txBody>
                    <a:bodyPr/>
                    <a:lstStyle/>
                    <a:p>
                      <a:pPr indent="0" marL="0">
                        <a:lnSpc>
                          <a:spcPts val="2100"/>
                        </a:lnSpc>
                        <a:buNone/>
                      </a:pPr>
                      <a:r>
                        <a:rPr lang="en-US" sz="1500" dirty="0">
                          <a:solidFill>
                            <a:srgbClr val="14293A"/>
                          </a:solidFill>
                          <a:latin typeface="Arial" pitchFamily="34" charset="0"/>
                          <a:ea typeface="Arial" pitchFamily="34" charset="-122"/>
                          <a:cs typeface="Arial" pitchFamily="34" charset="-120"/>
                        </a:rPr>
                        <a:t>[__ hours]</a:t>
                      </a:r>
                      <a:endParaRPr lang="en-US" sz="1500" dirty="0">
                        <a:latin typeface="Arial" charset="0"/>
                        <a:ea typeface="Arial" charset="0"/>
                        <a:cs typeface="Arial" charset="0"/>
                      </a:endParaRPr>
                    </a:p>
                  </a:txBody>
                  <a:tcPr marL="66675" marR="66675" marT="66675" marB="66675" anchor="t">
                    <a:lnL w="12700" cap="flat" cmpd="sng" algn="ctr">
                      <a:solidFill>
                        <a:srgbClr val="CACBCA"/>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BEC2C3"/>
                      </a:solidFill>
                      <a:prstDash val="solid"/>
                      <a:round/>
                      <a:headEnd type="none" w="med" len="med"/>
                      <a:tailEnd type="none" w="med" len="med"/>
                    </a:lnT>
                    <a:lnB w="12700" cap="flat" cmpd="sng" algn="ctr">
                      <a:solidFill>
                        <a:srgbClr val="CACBCA"/>
                      </a:solidFill>
                      <a:prstDash val="solid"/>
                      <a:round/>
                      <a:headEnd type="none" w="med" len="med"/>
                      <a:tailEnd type="none" w="med" len="med"/>
                    </a:lnB>
                    <a:solidFill>
                      <a:srgbClr val="FDFEFD"/>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243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07A2E"/>
                </a:solidFill>
                <a:latin typeface="Arial" pitchFamily="34" charset="0"/>
                <a:ea typeface="Arial" pitchFamily="34" charset="-122"/>
                <a:cs typeface="Arial" pitchFamily="34" charset="-120"/>
              </a:rPr>
              <a:t>BONUS · RAIN2FLOOD V3.0</a:t>
            </a:r>
            <a:endParaRPr lang="en-US" sz="1200" dirty="0"/>
          </a:p>
        </p:txBody>
      </p:sp>
      <p:sp>
        <p:nvSpPr>
          <p:cNvPr id="3" name="Text 1"/>
          <p:cNvSpPr/>
          <p:nvPr>
            <p:ph type="title"/>
          </p:nvPr>
        </p:nvSpPr>
        <p:spPr>
          <a:xfrm>
            <a:off x="812800" y="1127720"/>
            <a:ext cx="10883392" cy="480516"/>
          </a:xfrm>
          <a:prstGeom prst="rect">
            <a:avLst/>
          </a:prstGeom>
          <a:noFill/>
          <a:ln/>
        </p:spPr>
        <p:txBody>
          <a:bodyPr wrap="square" lIns="0" tIns="0" rIns="0" bIns="0" rtlCol="0" anchor="t">
            <a:normAutofit/>
          </a:bodyPr>
          <a:lstStyle/>
          <a:p>
            <a:pPr algn="l" indent="0" marL="0">
              <a:lnSpc>
                <a:spcPts val="3584"/>
              </a:lnSpc>
              <a:buNone/>
            </a:pPr>
            <a:r>
              <a:rPr lang="en-US" sz="3200" b="1" i="0" dirty="0">
                <a:solidFill>
                  <a:srgbClr val="F5F7F6"/>
                </a:solidFill>
                <a:latin typeface="Arial" pitchFamily="34" charset="0"/>
                <a:ea typeface="Arial" pitchFamily="34" charset="-122"/>
                <a:cs typeface="Arial" pitchFamily="34" charset="-120"/>
              </a:rPr>
              <a:t>From rainfall to flood hydrograph, inside QGIS</a:t>
            </a:r>
            <a:endParaRPr lang="en-US" sz="3200" dirty="0"/>
          </a:p>
        </p:txBody>
      </p:sp>
      <p:sp>
        <p:nvSpPr>
          <p:cNvPr id="4" name="Shape 2"/>
          <p:cNvSpPr/>
          <p:nvPr/>
        </p:nvSpPr>
        <p:spPr>
          <a:xfrm>
            <a:off x="815975" y="1890812"/>
            <a:ext cx="2482850" cy="4151213"/>
          </a:xfrm>
          <a:prstGeom prst="roundRect">
            <a:avLst>
              <a:gd name="adj" fmla="val 3964"/>
            </a:avLst>
          </a:prstGeom>
          <a:solidFill>
            <a:srgbClr val="163650"/>
          </a:solidFill>
          <a:ln w="6350">
            <a:solidFill>
              <a:srgbClr val="24506E"/>
            </a:solidFill>
            <a:prstDash val="solid"/>
          </a:ln>
        </p:spPr>
      </p:sp>
      <p:sp>
        <p:nvSpPr>
          <p:cNvPr id="5" name="Text 3"/>
          <p:cNvSpPr/>
          <p:nvPr/>
        </p:nvSpPr>
        <p:spPr>
          <a:xfrm>
            <a:off x="1047750" y="2122587"/>
            <a:ext cx="207987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DB7E0"/>
                </a:solidFill>
                <a:latin typeface="Arial" pitchFamily="34" charset="0"/>
                <a:ea typeface="Arial" pitchFamily="34" charset="-122"/>
                <a:cs typeface="Arial" pitchFamily="34" charset="-120"/>
              </a:rPr>
              <a:t>01</a:t>
            </a:r>
            <a:endParaRPr lang="en-US" sz="1200" dirty="0"/>
          </a:p>
        </p:txBody>
      </p:sp>
      <p:sp>
        <p:nvSpPr>
          <p:cNvPr id="6" name="Text 4"/>
          <p:cNvSpPr/>
          <p:nvPr/>
        </p:nvSpPr>
        <p:spPr>
          <a:xfrm>
            <a:off x="1047750" y="2462907"/>
            <a:ext cx="207987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5F7F6"/>
                </a:solidFill>
                <a:latin typeface="Arial" pitchFamily="34" charset="0"/>
                <a:ea typeface="Arial" pitchFamily="34" charset="-122"/>
                <a:cs typeface="Arial" pitchFamily="34" charset="-120"/>
              </a:rPr>
              <a:t>Catchment</a:t>
            </a:r>
            <a:endParaRPr lang="en-US" sz="1500" dirty="0"/>
          </a:p>
        </p:txBody>
      </p:sp>
      <p:sp>
        <p:nvSpPr>
          <p:cNvPr id="7" name="Text 5"/>
          <p:cNvSpPr/>
          <p:nvPr/>
        </p:nvSpPr>
        <p:spPr>
          <a:xfrm>
            <a:off x="1159256" y="2818507"/>
            <a:ext cx="1960753" cy="1092002"/>
          </a:xfrm>
          <a:prstGeom prst="rect">
            <a:avLst/>
          </a:prstGeom>
          <a:noFill/>
          <a:ln/>
        </p:spPr>
        <p:txBody>
          <a:bodyPr wrap="square" lIns="0" tIns="0" rIns="0" bIns="0" rtlCol="0" anchor="t">
            <a:normAutofit/>
          </a:bodyPr>
          <a:lstStyle/>
          <a:p>
            <a:pPr algn="l" marL="142494" indent="-142494">
              <a:lnSpc>
                <a:spcPts val="1680"/>
              </a:lnSpc>
              <a:buSzPct val="100000"/>
              <a:buChar char="•"/>
            </a:pPr>
            <a:r>
              <a:rPr lang="en-US" sz="1200" dirty="0">
                <a:solidFill>
                  <a:srgbClr val="B9CCD6"/>
                </a:solidFill>
                <a:latin typeface="Arial" pitchFamily="34" charset="0"/>
                <a:ea typeface="Arial" pitchFamily="34" charset="-122"/>
                <a:cs typeface="Arial" pitchFamily="34" charset="-120"/>
              </a:rPr>
              <a:t>Streams and sub-basins with GRASS r.watershed</a:t>
            </a:r>
            <a:endParaRPr lang="en-US" sz="1200" dirty="0"/>
          </a:p>
          <a:p>
            <a:pPr algn="l" marL="142494" indent="-142494">
              <a:lnSpc>
                <a:spcPts val="1680"/>
              </a:lnSpc>
              <a:buSzPct val="100000"/>
              <a:buChar char="•"/>
            </a:pPr>
            <a:r>
              <a:rPr lang="en-US" sz="1200" dirty="0">
                <a:solidFill>
                  <a:srgbClr val="B9CCD6"/>
                </a:solidFill>
                <a:latin typeface="Arial" pitchFamily="34" charset="0"/>
                <a:ea typeface="Arial" pitchFamily="34" charset="-122"/>
                <a:cs typeface="Arial" pitchFamily="34" charset="-120"/>
              </a:rPr>
              <a:t>DEM and slope processing with styled outputs</a:t>
            </a:r>
            <a:endParaRPr lang="en-US" sz="1200" dirty="0"/>
          </a:p>
        </p:txBody>
      </p:sp>
      <p:sp>
        <p:nvSpPr>
          <p:cNvPr id="8" name="Shape 6"/>
          <p:cNvSpPr/>
          <p:nvPr/>
        </p:nvSpPr>
        <p:spPr>
          <a:xfrm>
            <a:off x="3508375" y="1890812"/>
            <a:ext cx="2482850" cy="4151213"/>
          </a:xfrm>
          <a:prstGeom prst="roundRect">
            <a:avLst>
              <a:gd name="adj" fmla="val 3964"/>
            </a:avLst>
          </a:prstGeom>
          <a:solidFill>
            <a:srgbClr val="163650"/>
          </a:solidFill>
          <a:ln w="6350">
            <a:solidFill>
              <a:srgbClr val="24506E"/>
            </a:solidFill>
            <a:prstDash val="solid"/>
          </a:ln>
        </p:spPr>
      </p:sp>
      <p:sp>
        <p:nvSpPr>
          <p:cNvPr id="9" name="Text 7"/>
          <p:cNvSpPr/>
          <p:nvPr/>
        </p:nvSpPr>
        <p:spPr>
          <a:xfrm>
            <a:off x="3740150" y="2122587"/>
            <a:ext cx="207987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DB7E0"/>
                </a:solidFill>
                <a:latin typeface="Arial" pitchFamily="34" charset="0"/>
                <a:ea typeface="Arial" pitchFamily="34" charset="-122"/>
                <a:cs typeface="Arial" pitchFamily="34" charset="-120"/>
              </a:rPr>
              <a:t>02</a:t>
            </a:r>
            <a:endParaRPr lang="en-US" sz="1200" dirty="0"/>
          </a:p>
        </p:txBody>
      </p:sp>
      <p:sp>
        <p:nvSpPr>
          <p:cNvPr id="10" name="Text 8"/>
          <p:cNvSpPr/>
          <p:nvPr/>
        </p:nvSpPr>
        <p:spPr>
          <a:xfrm>
            <a:off x="3740150" y="2462907"/>
            <a:ext cx="207987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5F7F6"/>
                </a:solidFill>
                <a:latin typeface="Arial" pitchFamily="34" charset="0"/>
                <a:ea typeface="Arial" pitchFamily="34" charset="-122"/>
                <a:cs typeface="Arial" pitchFamily="34" charset="-120"/>
              </a:rPr>
              <a:t>Rainfall</a:t>
            </a:r>
            <a:endParaRPr lang="en-US" sz="1500" dirty="0"/>
          </a:p>
        </p:txBody>
      </p:sp>
      <p:sp>
        <p:nvSpPr>
          <p:cNvPr id="11" name="Text 9"/>
          <p:cNvSpPr/>
          <p:nvPr/>
        </p:nvSpPr>
        <p:spPr>
          <a:xfrm>
            <a:off x="3851656" y="2818507"/>
            <a:ext cx="1960753" cy="878681"/>
          </a:xfrm>
          <a:prstGeom prst="rect">
            <a:avLst/>
          </a:prstGeom>
          <a:noFill/>
          <a:ln/>
        </p:spPr>
        <p:txBody>
          <a:bodyPr wrap="square" lIns="0" tIns="0" rIns="0" bIns="0" rtlCol="0" anchor="t">
            <a:normAutofit/>
          </a:bodyPr>
          <a:lstStyle/>
          <a:p>
            <a:pPr algn="l" marL="142494" indent="-142494">
              <a:lnSpc>
                <a:spcPts val="1680"/>
              </a:lnSpc>
              <a:buSzPct val="100000"/>
              <a:buChar char="•"/>
            </a:pPr>
            <a:r>
              <a:rPr lang="en-US" sz="1200" dirty="0">
                <a:solidFill>
                  <a:srgbClr val="B9CCD6"/>
                </a:solidFill>
                <a:latin typeface="Arial" pitchFamily="34" charset="0"/>
                <a:ea typeface="Arial" pitchFamily="34" charset="-122"/>
                <a:cs typeface="Arial" pitchFamily="34" charset="-120"/>
              </a:rPr>
              <a:t>Frequency analysis with several distributions</a:t>
            </a:r>
            <a:endParaRPr lang="en-US" sz="1200" dirty="0"/>
          </a:p>
          <a:p>
            <a:pPr algn="l" marL="142494" indent="-142494">
              <a:lnSpc>
                <a:spcPts val="1680"/>
              </a:lnSpc>
              <a:buSzPct val="100000"/>
              <a:buChar char="•"/>
            </a:pPr>
            <a:r>
              <a:rPr lang="en-US" sz="1200" dirty="0">
                <a:solidFill>
                  <a:srgbClr val="B9CCD6"/>
                </a:solidFill>
                <a:latin typeface="Arial" pitchFamily="34" charset="0"/>
                <a:ea typeface="Arial" pitchFamily="34" charset="-122"/>
                <a:cs typeface="Arial" pitchFamily="34" charset="-120"/>
              </a:rPr>
              <a:t>Design rainfall for chosen return periods</a:t>
            </a:r>
            <a:endParaRPr lang="en-US" sz="1200" dirty="0"/>
          </a:p>
        </p:txBody>
      </p:sp>
      <p:sp>
        <p:nvSpPr>
          <p:cNvPr id="12" name="Shape 10"/>
          <p:cNvSpPr/>
          <p:nvPr/>
        </p:nvSpPr>
        <p:spPr>
          <a:xfrm>
            <a:off x="6200775" y="1890812"/>
            <a:ext cx="2482850" cy="4151213"/>
          </a:xfrm>
          <a:prstGeom prst="roundRect">
            <a:avLst>
              <a:gd name="adj" fmla="val 3964"/>
            </a:avLst>
          </a:prstGeom>
          <a:solidFill>
            <a:srgbClr val="163650"/>
          </a:solidFill>
          <a:ln w="6350">
            <a:solidFill>
              <a:srgbClr val="24506E"/>
            </a:solidFill>
            <a:prstDash val="solid"/>
          </a:ln>
        </p:spPr>
      </p:sp>
      <p:sp>
        <p:nvSpPr>
          <p:cNvPr id="13" name="Text 11"/>
          <p:cNvSpPr/>
          <p:nvPr/>
        </p:nvSpPr>
        <p:spPr>
          <a:xfrm>
            <a:off x="6432550" y="2122587"/>
            <a:ext cx="207987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DB7E0"/>
                </a:solidFill>
                <a:latin typeface="Arial" pitchFamily="34" charset="0"/>
                <a:ea typeface="Arial" pitchFamily="34" charset="-122"/>
                <a:cs typeface="Arial" pitchFamily="34" charset="-120"/>
              </a:rPr>
              <a:t>03</a:t>
            </a:r>
            <a:endParaRPr lang="en-US" sz="1200" dirty="0"/>
          </a:p>
        </p:txBody>
      </p:sp>
      <p:sp>
        <p:nvSpPr>
          <p:cNvPr id="14" name="Text 12"/>
          <p:cNvSpPr/>
          <p:nvPr/>
        </p:nvSpPr>
        <p:spPr>
          <a:xfrm>
            <a:off x="6432550" y="2462907"/>
            <a:ext cx="207987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5F7F6"/>
                </a:solidFill>
                <a:latin typeface="Arial" pitchFamily="34" charset="0"/>
                <a:ea typeface="Arial" pitchFamily="34" charset="-122"/>
                <a:cs typeface="Arial" pitchFamily="34" charset="-120"/>
              </a:rPr>
              <a:t>Runoff</a:t>
            </a:r>
            <a:endParaRPr lang="en-US" sz="1500" dirty="0"/>
          </a:p>
        </p:txBody>
      </p:sp>
      <p:sp>
        <p:nvSpPr>
          <p:cNvPr id="15" name="Text 13"/>
          <p:cNvSpPr/>
          <p:nvPr/>
        </p:nvSpPr>
        <p:spPr>
          <a:xfrm>
            <a:off x="6544056" y="2818507"/>
            <a:ext cx="1960753" cy="1305322"/>
          </a:xfrm>
          <a:prstGeom prst="rect">
            <a:avLst/>
          </a:prstGeom>
          <a:noFill/>
          <a:ln/>
        </p:spPr>
        <p:txBody>
          <a:bodyPr wrap="square" lIns="0" tIns="0" rIns="0" bIns="0" rtlCol="0" anchor="t">
            <a:normAutofit/>
          </a:bodyPr>
          <a:lstStyle/>
          <a:p>
            <a:pPr algn="l" marL="142494" indent="-142494">
              <a:lnSpc>
                <a:spcPts val="1680"/>
              </a:lnSpc>
              <a:buSzPct val="100000"/>
              <a:buChar char="•"/>
            </a:pPr>
            <a:r>
              <a:rPr lang="en-US" sz="1200" dirty="0">
                <a:solidFill>
                  <a:srgbClr val="B9CCD6"/>
                </a:solidFill>
                <a:latin typeface="Arial" pitchFamily="34" charset="0"/>
                <a:ea typeface="Arial" pitchFamily="34" charset="-122"/>
                <a:cs typeface="Arial" pitchFamily="34" charset="-120"/>
              </a:rPr>
              <a:t>SCS-CN, Green-Ampt and Horton losses</a:t>
            </a:r>
            <a:endParaRPr lang="en-US" sz="1200" dirty="0"/>
          </a:p>
          <a:p>
            <a:pPr algn="l" marL="142494" indent="-142494">
              <a:lnSpc>
                <a:spcPts val="1680"/>
              </a:lnSpc>
              <a:buSzPct val="100000"/>
              <a:buChar char="•"/>
            </a:pPr>
            <a:r>
              <a:rPr lang="en-US" sz="1200" dirty="0">
                <a:solidFill>
                  <a:srgbClr val="B9CCD6"/>
                </a:solidFill>
                <a:latin typeface="Arial" pitchFamily="34" charset="0"/>
                <a:ea typeface="Arial" pitchFamily="34" charset="-122"/>
                <a:cs typeface="Arial" pitchFamily="34" charset="-120"/>
              </a:rPr>
              <a:t>SCS, Snyder, Clark and Nash unit hydrographs</a:t>
            </a:r>
            <a:endParaRPr lang="en-US" sz="1200" dirty="0"/>
          </a:p>
          <a:p>
            <a:pPr algn="l" marL="142494" indent="-142494">
              <a:lnSpc>
                <a:spcPts val="1680"/>
              </a:lnSpc>
              <a:buSzPct val="100000"/>
              <a:buChar char="•"/>
            </a:pPr>
            <a:r>
              <a:rPr lang="en-US" sz="1200" dirty="0">
                <a:solidFill>
                  <a:srgbClr val="B9CCD6"/>
                </a:solidFill>
                <a:latin typeface="Arial" pitchFamily="34" charset="0"/>
                <a:ea typeface="Arial" pitchFamily="34" charset="-122"/>
                <a:cs typeface="Arial" pitchFamily="34" charset="-120"/>
              </a:rPr>
              <a:t>CN rasters from ESA WorldCover and SoilGrids</a:t>
            </a:r>
            <a:endParaRPr lang="en-US" sz="1200" dirty="0"/>
          </a:p>
        </p:txBody>
      </p:sp>
      <p:sp>
        <p:nvSpPr>
          <p:cNvPr id="16" name="Shape 14"/>
          <p:cNvSpPr/>
          <p:nvPr/>
        </p:nvSpPr>
        <p:spPr>
          <a:xfrm>
            <a:off x="8893175" y="1890812"/>
            <a:ext cx="2482850" cy="4151213"/>
          </a:xfrm>
          <a:prstGeom prst="roundRect">
            <a:avLst>
              <a:gd name="adj" fmla="val 3964"/>
            </a:avLst>
          </a:prstGeom>
          <a:solidFill>
            <a:srgbClr val="163650"/>
          </a:solidFill>
          <a:ln w="6350">
            <a:solidFill>
              <a:srgbClr val="24506E"/>
            </a:solidFill>
            <a:prstDash val="solid"/>
          </a:ln>
        </p:spPr>
      </p:sp>
      <p:sp>
        <p:nvSpPr>
          <p:cNvPr id="17" name="Text 15"/>
          <p:cNvSpPr/>
          <p:nvPr/>
        </p:nvSpPr>
        <p:spPr>
          <a:xfrm>
            <a:off x="9124950" y="2122587"/>
            <a:ext cx="207987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DB7E0"/>
                </a:solidFill>
                <a:latin typeface="Arial" pitchFamily="34" charset="0"/>
                <a:ea typeface="Arial" pitchFamily="34" charset="-122"/>
                <a:cs typeface="Arial" pitchFamily="34" charset="-120"/>
              </a:rPr>
              <a:t>04</a:t>
            </a:r>
            <a:endParaRPr lang="en-US" sz="1200" dirty="0"/>
          </a:p>
        </p:txBody>
      </p:sp>
      <p:sp>
        <p:nvSpPr>
          <p:cNvPr id="18" name="Text 16"/>
          <p:cNvSpPr/>
          <p:nvPr/>
        </p:nvSpPr>
        <p:spPr>
          <a:xfrm>
            <a:off x="9124950" y="2462907"/>
            <a:ext cx="207987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5F7F6"/>
                </a:solidFill>
                <a:latin typeface="Arial" pitchFamily="34" charset="0"/>
                <a:ea typeface="Arial" pitchFamily="34" charset="-122"/>
                <a:cs typeface="Arial" pitchFamily="34" charset="-120"/>
              </a:rPr>
              <a:t>Routing</a:t>
            </a:r>
            <a:endParaRPr lang="en-US" sz="1500" dirty="0"/>
          </a:p>
        </p:txBody>
      </p:sp>
      <p:sp>
        <p:nvSpPr>
          <p:cNvPr id="19" name="Text 17"/>
          <p:cNvSpPr/>
          <p:nvPr/>
        </p:nvSpPr>
        <p:spPr>
          <a:xfrm>
            <a:off x="9236456" y="2818507"/>
            <a:ext cx="1960753" cy="878681"/>
          </a:xfrm>
          <a:prstGeom prst="rect">
            <a:avLst/>
          </a:prstGeom>
          <a:noFill/>
          <a:ln/>
        </p:spPr>
        <p:txBody>
          <a:bodyPr wrap="square" lIns="0" tIns="0" rIns="0" bIns="0" rtlCol="0" anchor="t">
            <a:normAutofit/>
          </a:bodyPr>
          <a:lstStyle/>
          <a:p>
            <a:pPr algn="l" marL="142494" indent="-142494">
              <a:lnSpc>
                <a:spcPts val="1680"/>
              </a:lnSpc>
              <a:buSzPct val="100000"/>
              <a:buChar char="•"/>
            </a:pPr>
            <a:r>
              <a:rPr lang="en-US" sz="1200" dirty="0">
                <a:solidFill>
                  <a:srgbClr val="B9CCD6"/>
                </a:solidFill>
                <a:latin typeface="Arial" pitchFamily="34" charset="0"/>
                <a:ea typeface="Arial" pitchFamily="34" charset="-122"/>
                <a:cs typeface="Arial" pitchFamily="34" charset="-120"/>
              </a:rPr>
              <a:t>Muskingum-Cunge channel routing</a:t>
            </a:r>
            <a:endParaRPr lang="en-US" sz="1200" dirty="0"/>
          </a:p>
          <a:p>
            <a:pPr algn="l" marL="142494" indent="-142494">
              <a:lnSpc>
                <a:spcPts val="1680"/>
              </a:lnSpc>
              <a:buSzPct val="100000"/>
              <a:buChar char="•"/>
            </a:pPr>
            <a:r>
              <a:rPr lang="en-US" sz="1200" dirty="0">
                <a:solidFill>
                  <a:srgbClr val="B9CCD6"/>
                </a:solidFill>
                <a:latin typeface="Arial" pitchFamily="34" charset="0"/>
                <a:ea typeface="Arial" pitchFamily="34" charset="-122"/>
                <a:cs typeface="Arial" pitchFamily="34" charset="-120"/>
              </a:rPr>
              <a:t>2D diffusive-wave engine, in development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35A17"/>
                </a:solidFill>
                <a:latin typeface="Arial" pitchFamily="34" charset="0"/>
                <a:ea typeface="Arial" pitchFamily="34" charset="-122"/>
                <a:cs typeface="Arial" pitchFamily="34" charset="-120"/>
              </a:rPr>
              <a:t>BONUS · RAIN2FLOOD V3.0</a:t>
            </a:r>
            <a:endParaRPr lang="en-US" sz="1200" dirty="0"/>
          </a:p>
        </p:txBody>
      </p:sp>
      <p:sp>
        <p:nvSpPr>
          <p:cNvPr id="3" name="Text 1"/>
          <p:cNvSpPr/>
          <p:nvPr>
            <p:ph type="title"/>
          </p:nvPr>
        </p:nvSpPr>
        <p:spPr>
          <a:xfrm>
            <a:off x="812800" y="1127720"/>
            <a:ext cx="10883392" cy="480516"/>
          </a:xfrm>
          <a:prstGeom prst="rect">
            <a:avLst/>
          </a:prstGeom>
          <a:noFill/>
          <a:ln/>
        </p:spPr>
        <p:txBody>
          <a:bodyPr wrap="square" lIns="0" tIns="0" rIns="0" bIns="0" rtlCol="0" anchor="t">
            <a:normAutofit/>
          </a:bodyPr>
          <a:lstStyle/>
          <a:p>
            <a:pPr algn="l" indent="0" marL="0">
              <a:lnSpc>
                <a:spcPts val="3584"/>
              </a:lnSpc>
              <a:buNone/>
            </a:pPr>
            <a:r>
              <a:rPr lang="en-US" sz="3200" b="1" i="0" dirty="0">
                <a:solidFill>
                  <a:srgbClr val="14293A"/>
                </a:solidFill>
                <a:latin typeface="Arial" pitchFamily="34" charset="0"/>
                <a:ea typeface="Arial" pitchFamily="34" charset="-122"/>
                <a:cs typeface="Arial" pitchFamily="34" charset="-120"/>
              </a:rPr>
              <a:t>Rain2Flood in action</a:t>
            </a:r>
            <a:endParaRPr lang="en-US" sz="3200" dirty="0"/>
          </a:p>
        </p:txBody>
      </p:sp>
      <p:sp>
        <p:nvSpPr>
          <p:cNvPr id="4" name="Shape 2"/>
          <p:cNvSpPr/>
          <p:nvPr/>
        </p:nvSpPr>
        <p:spPr>
          <a:xfrm>
            <a:off x="822325" y="1897162"/>
            <a:ext cx="5162550" cy="4138513"/>
          </a:xfrm>
          <a:prstGeom prst="roundRect">
            <a:avLst>
              <a:gd name="adj" fmla="val 2225"/>
            </a:avLst>
          </a:prstGeom>
          <a:solidFill>
            <a:srgbClr val="E8EEF1"/>
          </a:solidFill>
          <a:ln w="19050">
            <a:solidFill>
              <a:srgbClr val="8FA6B4"/>
            </a:solidFill>
            <a:prstDash val="dash"/>
          </a:ln>
        </p:spPr>
      </p:sp>
      <p:sp>
        <p:nvSpPr>
          <p:cNvPr id="5" name="Text 3"/>
          <p:cNvSpPr/>
          <p:nvPr/>
        </p:nvSpPr>
        <p:spPr>
          <a:xfrm>
            <a:off x="2654221" y="3518098"/>
            <a:ext cx="1498759" cy="238720"/>
          </a:xfrm>
          <a:prstGeom prst="rect">
            <a:avLst/>
          </a:prstGeom>
          <a:noFill/>
          <a:ln/>
        </p:spPr>
        <p:txBody>
          <a:bodyPr wrap="square" lIns="0" tIns="0" rIns="0" bIns="0" rtlCol="0" anchor="t">
            <a:normAutofit/>
          </a:bodyPr>
          <a:lstStyle/>
          <a:p>
            <a:pPr algn="ctr" indent="0" marL="0">
              <a:lnSpc>
                <a:spcPts val="1680"/>
              </a:lnSpc>
              <a:buNone/>
            </a:pPr>
            <a:r>
              <a:rPr lang="en-US" sz="1200" b="1" spc="150" kern="0" dirty="0">
                <a:solidFill>
                  <a:srgbClr val="1F6F99"/>
                </a:solidFill>
                <a:latin typeface="Arial" pitchFamily="34" charset="0"/>
                <a:ea typeface="Arial" pitchFamily="34" charset="-122"/>
                <a:cs typeface="Arial" pitchFamily="34" charset="-120"/>
              </a:rPr>
              <a:t>SCREENSHOT</a:t>
            </a:r>
            <a:endParaRPr lang="en-US" sz="1200" dirty="0"/>
          </a:p>
        </p:txBody>
      </p:sp>
      <p:sp>
        <p:nvSpPr>
          <p:cNvPr id="6" name="Text 4"/>
          <p:cNvSpPr/>
          <p:nvPr/>
        </p:nvSpPr>
        <p:spPr>
          <a:xfrm>
            <a:off x="1879134" y="3833019"/>
            <a:ext cx="3048833"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14293A"/>
                </a:solidFill>
                <a:latin typeface="Arial" pitchFamily="34" charset="0"/>
                <a:ea typeface="Arial" pitchFamily="34" charset="-122"/>
                <a:cs typeface="Arial" pitchFamily="34" charset="-120"/>
              </a:rPr>
              <a:t>Streams and sub-basins tab</a:t>
            </a:r>
            <a:endParaRPr lang="en-US" sz="1500" dirty="0"/>
          </a:p>
        </p:txBody>
      </p:sp>
      <p:sp>
        <p:nvSpPr>
          <p:cNvPr id="7" name="Text 5"/>
          <p:cNvSpPr/>
          <p:nvPr/>
        </p:nvSpPr>
        <p:spPr>
          <a:xfrm>
            <a:off x="1969978" y="4201319"/>
            <a:ext cx="2867144"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75866"/>
                </a:solidFill>
                <a:latin typeface="Arial" pitchFamily="34" charset="0"/>
                <a:ea typeface="Arial" pitchFamily="34" charset="-122"/>
                <a:cs typeface="Arial" pitchFamily="34" charset="-120"/>
              </a:rPr>
              <a:t>A delineated catchment on the map</a:t>
            </a:r>
            <a:endParaRPr lang="en-US" sz="1200" dirty="0"/>
          </a:p>
        </p:txBody>
      </p:sp>
      <p:sp>
        <p:nvSpPr>
          <p:cNvPr id="8" name="Shape 6"/>
          <p:cNvSpPr/>
          <p:nvPr/>
        </p:nvSpPr>
        <p:spPr>
          <a:xfrm>
            <a:off x="6207125" y="1897162"/>
            <a:ext cx="5162550" cy="4138513"/>
          </a:xfrm>
          <a:prstGeom prst="roundRect">
            <a:avLst>
              <a:gd name="adj" fmla="val 2225"/>
            </a:avLst>
          </a:prstGeom>
          <a:solidFill>
            <a:srgbClr val="E8EEF1"/>
          </a:solidFill>
          <a:ln w="19050">
            <a:solidFill>
              <a:srgbClr val="8FA6B4"/>
            </a:solidFill>
            <a:prstDash val="dash"/>
          </a:ln>
        </p:spPr>
      </p:sp>
      <p:sp>
        <p:nvSpPr>
          <p:cNvPr id="9" name="Text 7"/>
          <p:cNvSpPr/>
          <p:nvPr/>
        </p:nvSpPr>
        <p:spPr>
          <a:xfrm>
            <a:off x="8039021" y="3518098"/>
            <a:ext cx="1498759" cy="238720"/>
          </a:xfrm>
          <a:prstGeom prst="rect">
            <a:avLst/>
          </a:prstGeom>
          <a:noFill/>
          <a:ln/>
        </p:spPr>
        <p:txBody>
          <a:bodyPr wrap="square" lIns="0" tIns="0" rIns="0" bIns="0" rtlCol="0" anchor="t">
            <a:normAutofit/>
          </a:bodyPr>
          <a:lstStyle/>
          <a:p>
            <a:pPr algn="ctr" indent="0" marL="0">
              <a:lnSpc>
                <a:spcPts val="1680"/>
              </a:lnSpc>
              <a:buNone/>
            </a:pPr>
            <a:r>
              <a:rPr lang="en-US" sz="1200" b="1" spc="150" kern="0" dirty="0">
                <a:solidFill>
                  <a:srgbClr val="1F6F99"/>
                </a:solidFill>
                <a:latin typeface="Arial" pitchFamily="34" charset="0"/>
                <a:ea typeface="Arial" pitchFamily="34" charset="-122"/>
                <a:cs typeface="Arial" pitchFamily="34" charset="-120"/>
              </a:rPr>
              <a:t>SCREENSHOT</a:t>
            </a:r>
            <a:endParaRPr lang="en-US" sz="1200" dirty="0"/>
          </a:p>
        </p:txBody>
      </p:sp>
      <p:sp>
        <p:nvSpPr>
          <p:cNvPr id="10" name="Text 8"/>
          <p:cNvSpPr/>
          <p:nvPr/>
        </p:nvSpPr>
        <p:spPr>
          <a:xfrm>
            <a:off x="7753400" y="3833019"/>
            <a:ext cx="2069902"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14293A"/>
                </a:solidFill>
                <a:latin typeface="Arial" pitchFamily="34" charset="0"/>
                <a:ea typeface="Arial" pitchFamily="34" charset="-122"/>
                <a:cs typeface="Arial" pitchFamily="34" charset="-120"/>
              </a:rPr>
              <a:t>Hydrograph output</a:t>
            </a:r>
            <a:endParaRPr lang="en-US" sz="1500" dirty="0"/>
          </a:p>
        </p:txBody>
      </p:sp>
      <p:sp>
        <p:nvSpPr>
          <p:cNvPr id="11" name="Text 9"/>
          <p:cNvSpPr/>
          <p:nvPr/>
        </p:nvSpPr>
        <p:spPr>
          <a:xfrm>
            <a:off x="6871861" y="4201319"/>
            <a:ext cx="3832979"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75866"/>
                </a:solidFill>
                <a:latin typeface="Arial" pitchFamily="34" charset="0"/>
                <a:ea typeface="Arial" pitchFamily="34" charset="-122"/>
                <a:cs typeface="Arial" pitchFamily="34" charset="-120"/>
              </a:rPr>
              <a:t>A design flood hydrograph for one return period</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243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07A2E"/>
                </a:solidFill>
                <a:latin typeface="Arial" pitchFamily="34" charset="0"/>
                <a:ea typeface="Arial" pitchFamily="34" charset="-122"/>
                <a:cs typeface="Arial" pitchFamily="34" charset="-120"/>
              </a:rPr>
              <a:t>BUILD YOUR OWN</a:t>
            </a:r>
            <a:endParaRPr lang="en-US" sz="1200" dirty="0"/>
          </a:p>
        </p:txBody>
      </p:sp>
      <p:sp>
        <p:nvSpPr>
          <p:cNvPr id="3" name="Text 1"/>
          <p:cNvSpPr/>
          <p:nvPr>
            <p:ph type="title"/>
          </p:nvPr>
        </p:nvSpPr>
        <p:spPr>
          <a:xfrm>
            <a:off x="812800" y="1127720"/>
            <a:ext cx="10883392" cy="480516"/>
          </a:xfrm>
          <a:prstGeom prst="rect">
            <a:avLst/>
          </a:prstGeom>
          <a:noFill/>
          <a:ln/>
        </p:spPr>
        <p:txBody>
          <a:bodyPr wrap="square" lIns="0" tIns="0" rIns="0" bIns="0" rtlCol="0" anchor="t">
            <a:normAutofit/>
          </a:bodyPr>
          <a:lstStyle/>
          <a:p>
            <a:pPr algn="l" indent="0" marL="0">
              <a:lnSpc>
                <a:spcPts val="3584"/>
              </a:lnSpc>
              <a:buNone/>
            </a:pPr>
            <a:r>
              <a:rPr lang="en-US" sz="3200" b="1" i="0" dirty="0">
                <a:solidFill>
                  <a:srgbClr val="F5F7F6"/>
                </a:solidFill>
                <a:latin typeface="Arial" pitchFamily="34" charset="0"/>
                <a:ea typeface="Arial" pitchFamily="34" charset="-122"/>
                <a:cs typeface="Arial" pitchFamily="34" charset="-120"/>
              </a:rPr>
              <a:t>Plugin development, start to finish</a:t>
            </a:r>
            <a:endParaRPr lang="en-US" sz="3200" dirty="0"/>
          </a:p>
        </p:txBody>
      </p:sp>
      <p:sp>
        <p:nvSpPr>
          <p:cNvPr id="4" name="Shape 2"/>
          <p:cNvSpPr/>
          <p:nvPr/>
        </p:nvSpPr>
        <p:spPr>
          <a:xfrm>
            <a:off x="815975" y="1890812"/>
            <a:ext cx="2520950" cy="1996182"/>
          </a:xfrm>
          <a:prstGeom prst="roundRect">
            <a:avLst>
              <a:gd name="adj" fmla="val 4931"/>
            </a:avLst>
          </a:prstGeom>
          <a:solidFill>
            <a:srgbClr val="163650"/>
          </a:solidFill>
          <a:ln w="6350">
            <a:solidFill>
              <a:srgbClr val="24506E"/>
            </a:solidFill>
            <a:prstDash val="solid"/>
          </a:ln>
        </p:spPr>
      </p:sp>
      <p:sp>
        <p:nvSpPr>
          <p:cNvPr id="5" name="Text 3"/>
          <p:cNvSpPr/>
          <p:nvPr/>
        </p:nvSpPr>
        <p:spPr>
          <a:xfrm>
            <a:off x="1022350" y="2097187"/>
            <a:ext cx="217144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5DB7E0"/>
                </a:solidFill>
                <a:latin typeface="Arial" pitchFamily="34" charset="0"/>
                <a:ea typeface="Arial" pitchFamily="34" charset="-122"/>
                <a:cs typeface="Arial" pitchFamily="34" charset="-120"/>
              </a:rPr>
              <a:t>01</a:t>
            </a:r>
            <a:endParaRPr lang="en-US" sz="1500" dirty="0"/>
          </a:p>
        </p:txBody>
      </p:sp>
      <p:sp>
        <p:nvSpPr>
          <p:cNvPr id="6" name="Text 4"/>
          <p:cNvSpPr/>
          <p:nvPr/>
        </p:nvSpPr>
        <p:spPr>
          <a:xfrm>
            <a:off x="1022350" y="2440087"/>
            <a:ext cx="217144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5F7F6"/>
                </a:solidFill>
                <a:latin typeface="Arial" pitchFamily="34" charset="0"/>
                <a:ea typeface="Arial" pitchFamily="34" charset="-122"/>
                <a:cs typeface="Arial" pitchFamily="34" charset="-120"/>
              </a:rPr>
              <a:t>Plan</a:t>
            </a:r>
            <a:endParaRPr lang="en-US" sz="1500" dirty="0"/>
          </a:p>
        </p:txBody>
      </p:sp>
      <p:sp>
        <p:nvSpPr>
          <p:cNvPr id="7" name="Text 5"/>
          <p:cNvSpPr/>
          <p:nvPr/>
        </p:nvSpPr>
        <p:spPr>
          <a:xfrm>
            <a:off x="1022350" y="2744887"/>
            <a:ext cx="217144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CD6"/>
                </a:solidFill>
                <a:latin typeface="Arial" pitchFamily="34" charset="0"/>
                <a:ea typeface="Arial" pitchFamily="34" charset="-122"/>
                <a:cs typeface="Arial" pitchFamily="34" charset="-120"/>
              </a:rPr>
              <a:t>One task, its inputs and its outputs</a:t>
            </a:r>
            <a:endParaRPr lang="en-US" sz="1200" dirty="0"/>
          </a:p>
        </p:txBody>
      </p:sp>
      <p:sp>
        <p:nvSpPr>
          <p:cNvPr id="8" name="Shape 6"/>
          <p:cNvSpPr/>
          <p:nvPr/>
        </p:nvSpPr>
        <p:spPr>
          <a:xfrm>
            <a:off x="3495675" y="1890812"/>
            <a:ext cx="2520950" cy="1996182"/>
          </a:xfrm>
          <a:prstGeom prst="roundRect">
            <a:avLst>
              <a:gd name="adj" fmla="val 4931"/>
            </a:avLst>
          </a:prstGeom>
          <a:solidFill>
            <a:srgbClr val="163650"/>
          </a:solidFill>
          <a:ln w="6350">
            <a:solidFill>
              <a:srgbClr val="24506E"/>
            </a:solidFill>
            <a:prstDash val="solid"/>
          </a:ln>
        </p:spPr>
      </p:sp>
      <p:sp>
        <p:nvSpPr>
          <p:cNvPr id="9" name="Text 7"/>
          <p:cNvSpPr/>
          <p:nvPr/>
        </p:nvSpPr>
        <p:spPr>
          <a:xfrm>
            <a:off x="3702050" y="2097187"/>
            <a:ext cx="217144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5DB7E0"/>
                </a:solidFill>
                <a:latin typeface="Arial" pitchFamily="34" charset="0"/>
                <a:ea typeface="Arial" pitchFamily="34" charset="-122"/>
                <a:cs typeface="Arial" pitchFamily="34" charset="-120"/>
              </a:rPr>
              <a:t>02</a:t>
            </a:r>
            <a:endParaRPr lang="en-US" sz="1500" dirty="0"/>
          </a:p>
        </p:txBody>
      </p:sp>
      <p:sp>
        <p:nvSpPr>
          <p:cNvPr id="10" name="Text 8"/>
          <p:cNvSpPr/>
          <p:nvPr/>
        </p:nvSpPr>
        <p:spPr>
          <a:xfrm>
            <a:off x="3702050" y="2440087"/>
            <a:ext cx="217144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5F7F6"/>
                </a:solidFill>
                <a:latin typeface="Arial" pitchFamily="34" charset="0"/>
                <a:ea typeface="Arial" pitchFamily="34" charset="-122"/>
                <a:cs typeface="Arial" pitchFamily="34" charset="-120"/>
              </a:rPr>
              <a:t>Set up</a:t>
            </a:r>
            <a:endParaRPr lang="en-US" sz="1500" dirty="0"/>
          </a:p>
        </p:txBody>
      </p:sp>
      <p:sp>
        <p:nvSpPr>
          <p:cNvPr id="11" name="Text 9"/>
          <p:cNvSpPr/>
          <p:nvPr/>
        </p:nvSpPr>
        <p:spPr>
          <a:xfrm>
            <a:off x="3702050" y="2744887"/>
            <a:ext cx="217144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CD6"/>
                </a:solidFill>
                <a:latin typeface="Arial" pitchFamily="34" charset="0"/>
                <a:ea typeface="Arial" pitchFamily="34" charset="-122"/>
                <a:cs typeface="Arial" pitchFamily="34" charset="-120"/>
              </a:rPr>
              <a:t>QGIS, an editor and helper plugins</a:t>
            </a:r>
            <a:endParaRPr lang="en-US" sz="1200" dirty="0"/>
          </a:p>
        </p:txBody>
      </p:sp>
      <p:sp>
        <p:nvSpPr>
          <p:cNvPr id="12" name="Shape 10"/>
          <p:cNvSpPr/>
          <p:nvPr/>
        </p:nvSpPr>
        <p:spPr>
          <a:xfrm>
            <a:off x="6175375" y="1890812"/>
            <a:ext cx="2520950" cy="1996182"/>
          </a:xfrm>
          <a:prstGeom prst="roundRect">
            <a:avLst>
              <a:gd name="adj" fmla="val 4931"/>
            </a:avLst>
          </a:prstGeom>
          <a:solidFill>
            <a:srgbClr val="163650"/>
          </a:solidFill>
          <a:ln w="6350">
            <a:solidFill>
              <a:srgbClr val="24506E"/>
            </a:solidFill>
            <a:prstDash val="solid"/>
          </a:ln>
        </p:spPr>
      </p:sp>
      <p:sp>
        <p:nvSpPr>
          <p:cNvPr id="13" name="Text 11"/>
          <p:cNvSpPr/>
          <p:nvPr/>
        </p:nvSpPr>
        <p:spPr>
          <a:xfrm>
            <a:off x="6381750" y="2097187"/>
            <a:ext cx="217144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5DB7E0"/>
                </a:solidFill>
                <a:latin typeface="Arial" pitchFamily="34" charset="0"/>
                <a:ea typeface="Arial" pitchFamily="34" charset="-122"/>
                <a:cs typeface="Arial" pitchFamily="34" charset="-120"/>
              </a:rPr>
              <a:t>03</a:t>
            </a:r>
            <a:endParaRPr lang="en-US" sz="1500" dirty="0"/>
          </a:p>
        </p:txBody>
      </p:sp>
      <p:sp>
        <p:nvSpPr>
          <p:cNvPr id="14" name="Text 12"/>
          <p:cNvSpPr/>
          <p:nvPr/>
        </p:nvSpPr>
        <p:spPr>
          <a:xfrm>
            <a:off x="6381750" y="2440087"/>
            <a:ext cx="217144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5F7F6"/>
                </a:solidFill>
                <a:latin typeface="Arial" pitchFamily="34" charset="0"/>
                <a:ea typeface="Arial" pitchFamily="34" charset="-122"/>
                <a:cs typeface="Arial" pitchFamily="34" charset="-120"/>
              </a:rPr>
              <a:t>Scaffold</a:t>
            </a:r>
            <a:endParaRPr lang="en-US" sz="1500" dirty="0"/>
          </a:p>
        </p:txBody>
      </p:sp>
      <p:sp>
        <p:nvSpPr>
          <p:cNvPr id="15" name="Text 13"/>
          <p:cNvSpPr/>
          <p:nvPr/>
        </p:nvSpPr>
        <p:spPr>
          <a:xfrm>
            <a:off x="6381750" y="2744887"/>
            <a:ext cx="217144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CD6"/>
                </a:solidFill>
                <a:latin typeface="Arial" pitchFamily="34" charset="0"/>
                <a:ea typeface="Arial" pitchFamily="34" charset="-122"/>
                <a:cs typeface="Arial" pitchFamily="34" charset="-120"/>
              </a:rPr>
              <a:t>Plugin Builder, or three files by hand</a:t>
            </a:r>
            <a:endParaRPr lang="en-US" sz="1200" dirty="0"/>
          </a:p>
        </p:txBody>
      </p:sp>
      <p:sp>
        <p:nvSpPr>
          <p:cNvPr id="16" name="Shape 14"/>
          <p:cNvSpPr/>
          <p:nvPr/>
        </p:nvSpPr>
        <p:spPr>
          <a:xfrm>
            <a:off x="8855075" y="1890812"/>
            <a:ext cx="2520950" cy="1996182"/>
          </a:xfrm>
          <a:prstGeom prst="roundRect">
            <a:avLst>
              <a:gd name="adj" fmla="val 4931"/>
            </a:avLst>
          </a:prstGeom>
          <a:solidFill>
            <a:srgbClr val="163650"/>
          </a:solidFill>
          <a:ln w="6350">
            <a:solidFill>
              <a:srgbClr val="24506E"/>
            </a:solidFill>
            <a:prstDash val="solid"/>
          </a:ln>
        </p:spPr>
      </p:sp>
      <p:sp>
        <p:nvSpPr>
          <p:cNvPr id="17" name="Text 15"/>
          <p:cNvSpPr/>
          <p:nvPr/>
        </p:nvSpPr>
        <p:spPr>
          <a:xfrm>
            <a:off x="9061450" y="2097187"/>
            <a:ext cx="217144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5DB7E0"/>
                </a:solidFill>
                <a:latin typeface="Arial" pitchFamily="34" charset="0"/>
                <a:ea typeface="Arial" pitchFamily="34" charset="-122"/>
                <a:cs typeface="Arial" pitchFamily="34" charset="-120"/>
              </a:rPr>
              <a:t>04</a:t>
            </a:r>
            <a:endParaRPr lang="en-US" sz="1500" dirty="0"/>
          </a:p>
        </p:txBody>
      </p:sp>
      <p:sp>
        <p:nvSpPr>
          <p:cNvPr id="18" name="Text 16"/>
          <p:cNvSpPr/>
          <p:nvPr/>
        </p:nvSpPr>
        <p:spPr>
          <a:xfrm>
            <a:off x="9061450" y="2440087"/>
            <a:ext cx="217144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5F7F6"/>
                </a:solidFill>
                <a:latin typeface="Arial" pitchFamily="34" charset="0"/>
                <a:ea typeface="Arial" pitchFamily="34" charset="-122"/>
                <a:cs typeface="Arial" pitchFamily="34" charset="-120"/>
              </a:rPr>
              <a:t>Design the UI</a:t>
            </a:r>
            <a:endParaRPr lang="en-US" sz="1500" dirty="0"/>
          </a:p>
        </p:txBody>
      </p:sp>
      <p:sp>
        <p:nvSpPr>
          <p:cNvPr id="19" name="Text 17"/>
          <p:cNvSpPr/>
          <p:nvPr/>
        </p:nvSpPr>
        <p:spPr>
          <a:xfrm>
            <a:off x="9061450" y="2744887"/>
            <a:ext cx="217144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CD6"/>
                </a:solidFill>
                <a:latin typeface="Arial" pitchFamily="34" charset="0"/>
                <a:ea typeface="Arial" pitchFamily="34" charset="-122"/>
                <a:cs typeface="Arial" pitchFamily="34" charset="-120"/>
              </a:rPr>
              <a:t>Qt Designer with QGIS widgets</a:t>
            </a:r>
            <a:endParaRPr lang="en-US" sz="1200" dirty="0"/>
          </a:p>
        </p:txBody>
      </p:sp>
      <p:sp>
        <p:nvSpPr>
          <p:cNvPr id="20" name="Shape 18"/>
          <p:cNvSpPr/>
          <p:nvPr/>
        </p:nvSpPr>
        <p:spPr>
          <a:xfrm>
            <a:off x="815975" y="4045744"/>
            <a:ext cx="2520950" cy="1996281"/>
          </a:xfrm>
          <a:prstGeom prst="roundRect">
            <a:avLst>
              <a:gd name="adj" fmla="val 4930"/>
            </a:avLst>
          </a:prstGeom>
          <a:solidFill>
            <a:srgbClr val="163650"/>
          </a:solidFill>
          <a:ln w="6350">
            <a:solidFill>
              <a:srgbClr val="24506E"/>
            </a:solidFill>
            <a:prstDash val="solid"/>
          </a:ln>
        </p:spPr>
      </p:sp>
      <p:sp>
        <p:nvSpPr>
          <p:cNvPr id="21" name="Text 19"/>
          <p:cNvSpPr/>
          <p:nvPr/>
        </p:nvSpPr>
        <p:spPr>
          <a:xfrm>
            <a:off x="1022350" y="4252119"/>
            <a:ext cx="217144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5DB7E0"/>
                </a:solidFill>
                <a:latin typeface="Arial" pitchFamily="34" charset="0"/>
                <a:ea typeface="Arial" pitchFamily="34" charset="-122"/>
                <a:cs typeface="Arial" pitchFamily="34" charset="-120"/>
              </a:rPr>
              <a:t>05</a:t>
            </a:r>
            <a:endParaRPr lang="en-US" sz="1500" dirty="0"/>
          </a:p>
        </p:txBody>
      </p:sp>
      <p:sp>
        <p:nvSpPr>
          <p:cNvPr id="22" name="Text 20"/>
          <p:cNvSpPr/>
          <p:nvPr/>
        </p:nvSpPr>
        <p:spPr>
          <a:xfrm>
            <a:off x="1022350" y="4595019"/>
            <a:ext cx="217144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5F7F6"/>
                </a:solidFill>
                <a:latin typeface="Arial" pitchFamily="34" charset="0"/>
                <a:ea typeface="Arial" pitchFamily="34" charset="-122"/>
                <a:cs typeface="Arial" pitchFamily="34" charset="-120"/>
              </a:rPr>
              <a:t>Write the logic</a:t>
            </a:r>
            <a:endParaRPr lang="en-US" sz="1500" dirty="0"/>
          </a:p>
        </p:txBody>
      </p:sp>
      <p:sp>
        <p:nvSpPr>
          <p:cNvPr id="23" name="Text 21"/>
          <p:cNvSpPr/>
          <p:nvPr/>
        </p:nvSpPr>
        <p:spPr>
          <a:xfrm>
            <a:off x="1022350" y="4899819"/>
            <a:ext cx="21714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CD6"/>
                </a:solidFill>
                <a:latin typeface="Arial" pitchFamily="34" charset="0"/>
                <a:ea typeface="Arial" pitchFamily="34" charset="-122"/>
                <a:cs typeface="Arial" pitchFamily="34" charset="-120"/>
              </a:rPr>
              <a:t>PyQGIS and Processing</a:t>
            </a:r>
            <a:endParaRPr lang="en-US" sz="1200" dirty="0"/>
          </a:p>
        </p:txBody>
      </p:sp>
      <p:sp>
        <p:nvSpPr>
          <p:cNvPr id="24" name="Shape 22"/>
          <p:cNvSpPr/>
          <p:nvPr/>
        </p:nvSpPr>
        <p:spPr>
          <a:xfrm>
            <a:off x="3495675" y="4045744"/>
            <a:ext cx="2520950" cy="1996281"/>
          </a:xfrm>
          <a:prstGeom prst="roundRect">
            <a:avLst>
              <a:gd name="adj" fmla="val 4930"/>
            </a:avLst>
          </a:prstGeom>
          <a:solidFill>
            <a:srgbClr val="163650"/>
          </a:solidFill>
          <a:ln w="6350">
            <a:solidFill>
              <a:srgbClr val="24506E"/>
            </a:solidFill>
            <a:prstDash val="solid"/>
          </a:ln>
        </p:spPr>
      </p:sp>
      <p:sp>
        <p:nvSpPr>
          <p:cNvPr id="25" name="Text 23"/>
          <p:cNvSpPr/>
          <p:nvPr/>
        </p:nvSpPr>
        <p:spPr>
          <a:xfrm>
            <a:off x="3702050" y="4252119"/>
            <a:ext cx="217144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5DB7E0"/>
                </a:solidFill>
                <a:latin typeface="Arial" pitchFamily="34" charset="0"/>
                <a:ea typeface="Arial" pitchFamily="34" charset="-122"/>
                <a:cs typeface="Arial" pitchFamily="34" charset="-120"/>
              </a:rPr>
              <a:t>06</a:t>
            </a:r>
            <a:endParaRPr lang="en-US" sz="1500" dirty="0"/>
          </a:p>
        </p:txBody>
      </p:sp>
      <p:sp>
        <p:nvSpPr>
          <p:cNvPr id="26" name="Text 24"/>
          <p:cNvSpPr/>
          <p:nvPr/>
        </p:nvSpPr>
        <p:spPr>
          <a:xfrm>
            <a:off x="3702050" y="4595019"/>
            <a:ext cx="217144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5F7F6"/>
                </a:solidFill>
                <a:latin typeface="Arial" pitchFamily="34" charset="0"/>
                <a:ea typeface="Arial" pitchFamily="34" charset="-122"/>
                <a:cs typeface="Arial" pitchFamily="34" charset="-120"/>
              </a:rPr>
              <a:t>Test and debug</a:t>
            </a:r>
            <a:endParaRPr lang="en-US" sz="1500" dirty="0"/>
          </a:p>
        </p:txBody>
      </p:sp>
      <p:sp>
        <p:nvSpPr>
          <p:cNvPr id="27" name="Text 25"/>
          <p:cNvSpPr/>
          <p:nvPr/>
        </p:nvSpPr>
        <p:spPr>
          <a:xfrm>
            <a:off x="3702050" y="4899819"/>
            <a:ext cx="21714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CD6"/>
                </a:solidFill>
                <a:latin typeface="Arial" pitchFamily="34" charset="0"/>
                <a:ea typeface="Arial" pitchFamily="34" charset="-122"/>
                <a:cs typeface="Arial" pitchFamily="34" charset="-120"/>
              </a:rPr>
              <a:t>Reload, log and test</a:t>
            </a:r>
            <a:endParaRPr lang="en-US" sz="1200" dirty="0"/>
          </a:p>
        </p:txBody>
      </p:sp>
      <p:sp>
        <p:nvSpPr>
          <p:cNvPr id="28" name="Shape 26"/>
          <p:cNvSpPr/>
          <p:nvPr/>
        </p:nvSpPr>
        <p:spPr>
          <a:xfrm>
            <a:off x="6175375" y="4045744"/>
            <a:ext cx="2520950" cy="1996281"/>
          </a:xfrm>
          <a:prstGeom prst="roundRect">
            <a:avLst>
              <a:gd name="adj" fmla="val 4930"/>
            </a:avLst>
          </a:prstGeom>
          <a:solidFill>
            <a:srgbClr val="163650"/>
          </a:solidFill>
          <a:ln w="6350">
            <a:solidFill>
              <a:srgbClr val="24506E"/>
            </a:solidFill>
            <a:prstDash val="solid"/>
          </a:ln>
        </p:spPr>
      </p:sp>
      <p:sp>
        <p:nvSpPr>
          <p:cNvPr id="29" name="Text 27"/>
          <p:cNvSpPr/>
          <p:nvPr/>
        </p:nvSpPr>
        <p:spPr>
          <a:xfrm>
            <a:off x="6381750" y="4252119"/>
            <a:ext cx="217144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5DB7E0"/>
                </a:solidFill>
                <a:latin typeface="Arial" pitchFamily="34" charset="0"/>
                <a:ea typeface="Arial" pitchFamily="34" charset="-122"/>
                <a:cs typeface="Arial" pitchFamily="34" charset="-120"/>
              </a:rPr>
              <a:t>07</a:t>
            </a:r>
            <a:endParaRPr lang="en-US" sz="1500" dirty="0"/>
          </a:p>
        </p:txBody>
      </p:sp>
      <p:sp>
        <p:nvSpPr>
          <p:cNvPr id="30" name="Text 28"/>
          <p:cNvSpPr/>
          <p:nvPr/>
        </p:nvSpPr>
        <p:spPr>
          <a:xfrm>
            <a:off x="6381750" y="4595019"/>
            <a:ext cx="217144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5F7F6"/>
                </a:solidFill>
                <a:latin typeface="Arial" pitchFamily="34" charset="0"/>
                <a:ea typeface="Arial" pitchFamily="34" charset="-122"/>
                <a:cs typeface="Arial" pitchFamily="34" charset="-120"/>
              </a:rPr>
              <a:t>Package</a:t>
            </a:r>
            <a:endParaRPr lang="en-US" sz="1500" dirty="0"/>
          </a:p>
        </p:txBody>
      </p:sp>
      <p:sp>
        <p:nvSpPr>
          <p:cNvPr id="31" name="Text 29"/>
          <p:cNvSpPr/>
          <p:nvPr/>
        </p:nvSpPr>
        <p:spPr>
          <a:xfrm>
            <a:off x="6381750" y="4899819"/>
            <a:ext cx="21714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CD6"/>
                </a:solidFill>
                <a:latin typeface="Arial" pitchFamily="34" charset="0"/>
                <a:ea typeface="Arial" pitchFamily="34" charset="-122"/>
                <a:cs typeface="Arial" pitchFamily="34" charset="-120"/>
              </a:rPr>
              <a:t>metadata.txt and a clean zip</a:t>
            </a:r>
            <a:endParaRPr lang="en-US" sz="1200" dirty="0"/>
          </a:p>
        </p:txBody>
      </p:sp>
      <p:sp>
        <p:nvSpPr>
          <p:cNvPr id="32" name="Shape 30"/>
          <p:cNvSpPr/>
          <p:nvPr/>
        </p:nvSpPr>
        <p:spPr>
          <a:xfrm>
            <a:off x="8858250" y="4048919"/>
            <a:ext cx="2514600" cy="1989931"/>
          </a:xfrm>
          <a:prstGeom prst="roundRect">
            <a:avLst>
              <a:gd name="adj" fmla="val 4787"/>
            </a:avLst>
          </a:prstGeom>
          <a:solidFill>
            <a:srgbClr val="163650"/>
          </a:solidFill>
          <a:ln w="12700">
            <a:solidFill>
              <a:srgbClr val="E07A2E"/>
            </a:solidFill>
            <a:prstDash val="solid"/>
          </a:ln>
        </p:spPr>
      </p:sp>
      <p:sp>
        <p:nvSpPr>
          <p:cNvPr id="33" name="Text 31"/>
          <p:cNvSpPr/>
          <p:nvPr/>
        </p:nvSpPr>
        <p:spPr>
          <a:xfrm>
            <a:off x="9067800" y="4258469"/>
            <a:ext cx="2158365"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E07A2E"/>
                </a:solidFill>
                <a:latin typeface="Arial" pitchFamily="34" charset="0"/>
                <a:ea typeface="Arial" pitchFamily="34" charset="-122"/>
                <a:cs typeface="Arial" pitchFamily="34" charset="-120"/>
              </a:rPr>
              <a:t>08</a:t>
            </a:r>
            <a:endParaRPr lang="en-US" sz="1500" dirty="0"/>
          </a:p>
        </p:txBody>
      </p:sp>
      <p:sp>
        <p:nvSpPr>
          <p:cNvPr id="34" name="Text 32"/>
          <p:cNvSpPr/>
          <p:nvPr/>
        </p:nvSpPr>
        <p:spPr>
          <a:xfrm>
            <a:off x="9067800" y="4601369"/>
            <a:ext cx="215836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5F7F6"/>
                </a:solidFill>
                <a:latin typeface="Arial" pitchFamily="34" charset="0"/>
                <a:ea typeface="Arial" pitchFamily="34" charset="-122"/>
                <a:cs typeface="Arial" pitchFamily="34" charset="-120"/>
              </a:rPr>
              <a:t>Share and maintain</a:t>
            </a:r>
            <a:endParaRPr lang="en-US" sz="1500" dirty="0"/>
          </a:p>
        </p:txBody>
      </p:sp>
      <p:sp>
        <p:nvSpPr>
          <p:cNvPr id="35" name="Text 33"/>
          <p:cNvSpPr/>
          <p:nvPr/>
        </p:nvSpPr>
        <p:spPr>
          <a:xfrm>
            <a:off x="9067800" y="4906169"/>
            <a:ext cx="215836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CD6"/>
                </a:solidFill>
                <a:latin typeface="Arial" pitchFamily="34" charset="0"/>
                <a:ea typeface="Arial" pitchFamily="34" charset="-122"/>
                <a:cs typeface="Arial" pitchFamily="34" charset="-120"/>
              </a:rPr>
              <a:t>Team zip, team repository or plugins.qgis.org</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6F99"/>
                </a:solidFill>
                <a:latin typeface="Arial" pitchFamily="34" charset="0"/>
                <a:ea typeface="Arial" pitchFamily="34" charset="-122"/>
                <a:cs typeface="Arial" pitchFamily="34" charset="-120"/>
              </a:rPr>
              <a:t>STAGE 1 · PLAN</a:t>
            </a:r>
            <a:endParaRPr lang="en-US" sz="1200" dirty="0"/>
          </a:p>
        </p:txBody>
      </p:sp>
      <p:sp>
        <p:nvSpPr>
          <p:cNvPr id="3" name="Text 1"/>
          <p:cNvSpPr/>
          <p:nvPr>
            <p:ph type="title"/>
          </p:nvPr>
        </p:nvSpPr>
        <p:spPr>
          <a:xfrm>
            <a:off x="812800" y="1127720"/>
            <a:ext cx="10883392" cy="480516"/>
          </a:xfrm>
          <a:prstGeom prst="rect">
            <a:avLst/>
          </a:prstGeom>
          <a:noFill/>
          <a:ln/>
        </p:spPr>
        <p:txBody>
          <a:bodyPr wrap="square" lIns="0" tIns="0" rIns="0" bIns="0" rtlCol="0" anchor="t">
            <a:normAutofit/>
          </a:bodyPr>
          <a:lstStyle/>
          <a:p>
            <a:pPr algn="l" indent="0" marL="0">
              <a:lnSpc>
                <a:spcPts val="3584"/>
              </a:lnSpc>
              <a:buNone/>
            </a:pPr>
            <a:r>
              <a:rPr lang="en-US" sz="3200" b="1" i="0" dirty="0">
                <a:solidFill>
                  <a:srgbClr val="14293A"/>
                </a:solidFill>
                <a:latin typeface="Arial" pitchFamily="34" charset="0"/>
                <a:ea typeface="Arial" pitchFamily="34" charset="-122"/>
                <a:cs typeface="Arial" pitchFamily="34" charset="-120"/>
              </a:rPr>
              <a:t>Decide what it does before you write code</a:t>
            </a:r>
            <a:endParaRPr lang="en-US" sz="3200" dirty="0"/>
          </a:p>
        </p:txBody>
      </p:sp>
      <p:sp>
        <p:nvSpPr>
          <p:cNvPr id="4" name="Text 2"/>
          <p:cNvSpPr/>
          <p:nvPr/>
        </p:nvSpPr>
        <p:spPr>
          <a:xfrm>
            <a:off x="812800" y="2912269"/>
            <a:ext cx="470916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93A"/>
                </a:solidFill>
                <a:latin typeface="Arial" pitchFamily="34" charset="0"/>
                <a:ea typeface="Arial" pitchFamily="34" charset="-122"/>
                <a:cs typeface="Arial" pitchFamily="34" charset="-120"/>
              </a:rPr>
              <a:t>Four questions to answer first</a:t>
            </a:r>
            <a:endParaRPr lang="en-US" sz="1500" dirty="0"/>
          </a:p>
        </p:txBody>
      </p:sp>
      <p:sp>
        <p:nvSpPr>
          <p:cNvPr id="5" name="Text 3"/>
          <p:cNvSpPr/>
          <p:nvPr/>
        </p:nvSpPr>
        <p:spPr>
          <a:xfrm>
            <a:off x="812800" y="3344069"/>
            <a:ext cx="4064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6F99"/>
                </a:solidFill>
                <a:latin typeface="Arial" pitchFamily="34" charset="0"/>
                <a:ea typeface="Arial" pitchFamily="34" charset="-122"/>
                <a:cs typeface="Arial" pitchFamily="34" charset="-120"/>
              </a:rPr>
              <a:t>1</a:t>
            </a:r>
            <a:endParaRPr lang="en-US" sz="1500" dirty="0"/>
          </a:p>
        </p:txBody>
      </p:sp>
      <p:sp>
        <p:nvSpPr>
          <p:cNvPr id="6" name="Text 4"/>
          <p:cNvSpPr/>
          <p:nvPr/>
        </p:nvSpPr>
        <p:spPr>
          <a:xfrm>
            <a:off x="1320800" y="3348831"/>
            <a:ext cx="418592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4293A"/>
                </a:solidFill>
                <a:latin typeface="Arial" pitchFamily="34" charset="0"/>
                <a:ea typeface="Arial" pitchFamily="34" charset="-122"/>
                <a:cs typeface="Arial" pitchFamily="34" charset="-120"/>
              </a:rPr>
              <a:t>Which manual task does it replace?</a:t>
            </a:r>
            <a:endParaRPr lang="en-US" sz="1500" dirty="0"/>
          </a:p>
        </p:txBody>
      </p:sp>
      <p:sp>
        <p:nvSpPr>
          <p:cNvPr id="7" name="Text 5"/>
          <p:cNvSpPr/>
          <p:nvPr/>
        </p:nvSpPr>
        <p:spPr>
          <a:xfrm>
            <a:off x="812800" y="3813969"/>
            <a:ext cx="4064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6F99"/>
                </a:solidFill>
                <a:latin typeface="Arial" pitchFamily="34" charset="0"/>
                <a:ea typeface="Arial" pitchFamily="34" charset="-122"/>
                <a:cs typeface="Arial" pitchFamily="34" charset="-120"/>
              </a:rPr>
              <a:t>2</a:t>
            </a:r>
            <a:endParaRPr lang="en-US" sz="1500" dirty="0"/>
          </a:p>
        </p:txBody>
      </p:sp>
      <p:sp>
        <p:nvSpPr>
          <p:cNvPr id="8" name="Text 6"/>
          <p:cNvSpPr/>
          <p:nvPr/>
        </p:nvSpPr>
        <p:spPr>
          <a:xfrm>
            <a:off x="1320800" y="3818731"/>
            <a:ext cx="418592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4293A"/>
                </a:solidFill>
                <a:latin typeface="Arial" pitchFamily="34" charset="0"/>
                <a:ea typeface="Arial" pitchFamily="34" charset="-122"/>
                <a:cs typeface="Arial" pitchFamily="34" charset="-120"/>
              </a:rPr>
              <a:t>What goes in: layers, files, settings?</a:t>
            </a:r>
            <a:endParaRPr lang="en-US" sz="1500" dirty="0"/>
          </a:p>
        </p:txBody>
      </p:sp>
      <p:sp>
        <p:nvSpPr>
          <p:cNvPr id="9" name="Text 7"/>
          <p:cNvSpPr/>
          <p:nvPr/>
        </p:nvSpPr>
        <p:spPr>
          <a:xfrm>
            <a:off x="812800" y="4283869"/>
            <a:ext cx="4064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6F99"/>
                </a:solidFill>
                <a:latin typeface="Arial" pitchFamily="34" charset="0"/>
                <a:ea typeface="Arial" pitchFamily="34" charset="-122"/>
                <a:cs typeface="Arial" pitchFamily="34" charset="-120"/>
              </a:rPr>
              <a:t>3</a:t>
            </a:r>
            <a:endParaRPr lang="en-US" sz="1500" dirty="0"/>
          </a:p>
        </p:txBody>
      </p:sp>
      <p:sp>
        <p:nvSpPr>
          <p:cNvPr id="10" name="Text 8"/>
          <p:cNvSpPr/>
          <p:nvPr/>
        </p:nvSpPr>
        <p:spPr>
          <a:xfrm>
            <a:off x="1320800" y="4288631"/>
            <a:ext cx="418592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4293A"/>
                </a:solidFill>
                <a:latin typeface="Arial" pitchFamily="34" charset="0"/>
                <a:ea typeface="Arial" pitchFamily="34" charset="-122"/>
                <a:cs typeface="Arial" pitchFamily="34" charset="-120"/>
              </a:rPr>
              <a:t>What comes out: files, layers, reports?</a:t>
            </a:r>
            <a:endParaRPr lang="en-US" sz="1500" dirty="0"/>
          </a:p>
        </p:txBody>
      </p:sp>
      <p:sp>
        <p:nvSpPr>
          <p:cNvPr id="11" name="Text 9"/>
          <p:cNvSpPr/>
          <p:nvPr/>
        </p:nvSpPr>
        <p:spPr>
          <a:xfrm>
            <a:off x="812800" y="4753769"/>
            <a:ext cx="4064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6F99"/>
                </a:solidFill>
                <a:latin typeface="Arial" pitchFamily="34" charset="0"/>
                <a:ea typeface="Arial" pitchFamily="34" charset="-122"/>
                <a:cs typeface="Arial" pitchFamily="34" charset="-120"/>
              </a:rPr>
              <a:t>4</a:t>
            </a:r>
            <a:endParaRPr lang="en-US" sz="1500" dirty="0"/>
          </a:p>
        </p:txBody>
      </p:sp>
      <p:sp>
        <p:nvSpPr>
          <p:cNvPr id="12" name="Text 10"/>
          <p:cNvSpPr/>
          <p:nvPr/>
        </p:nvSpPr>
        <p:spPr>
          <a:xfrm>
            <a:off x="1320800" y="4758531"/>
            <a:ext cx="418592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4293A"/>
                </a:solidFill>
                <a:latin typeface="Arial" pitchFamily="34" charset="0"/>
                <a:ea typeface="Arial" pitchFamily="34" charset="-122"/>
                <a:cs typeface="Arial" pitchFamily="34" charset="-120"/>
              </a:rPr>
              <a:t>Who uses it, and on which QGIS version?</a:t>
            </a:r>
            <a:endParaRPr lang="en-US" sz="1500" dirty="0"/>
          </a:p>
        </p:txBody>
      </p:sp>
      <p:sp>
        <p:nvSpPr>
          <p:cNvPr id="13" name="Text 11"/>
          <p:cNvSpPr/>
          <p:nvPr/>
        </p:nvSpPr>
        <p:spPr>
          <a:xfrm>
            <a:off x="5791200" y="1887637"/>
            <a:ext cx="575564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93A"/>
                </a:solidFill>
                <a:latin typeface="Arial" pitchFamily="34" charset="0"/>
                <a:ea typeface="Arial" pitchFamily="34" charset="-122"/>
                <a:cs typeface="Arial" pitchFamily="34" charset="-120"/>
              </a:rPr>
              <a:t>Then pick a plugin type</a:t>
            </a:r>
            <a:endParaRPr lang="en-US" sz="1500" dirty="0"/>
          </a:p>
        </p:txBody>
      </p:sp>
      <p:sp>
        <p:nvSpPr>
          <p:cNvPr id="14" name="Shape 12"/>
          <p:cNvSpPr/>
          <p:nvPr/>
        </p:nvSpPr>
        <p:spPr>
          <a:xfrm>
            <a:off x="5794375" y="2322612"/>
            <a:ext cx="5581650" cy="1754981"/>
          </a:xfrm>
          <a:prstGeom prst="roundRect">
            <a:avLst>
              <a:gd name="adj" fmla="val 5608"/>
            </a:avLst>
          </a:prstGeom>
          <a:solidFill>
            <a:srgbClr val="FDFEFD"/>
          </a:solidFill>
          <a:ln w="6350">
            <a:solidFill>
              <a:srgbClr val="DCE4E8"/>
            </a:solidFill>
            <a:prstDash val="solid"/>
          </a:ln>
        </p:spPr>
      </p:sp>
      <p:sp>
        <p:nvSpPr>
          <p:cNvPr id="15" name="Text 13"/>
          <p:cNvSpPr/>
          <p:nvPr/>
        </p:nvSpPr>
        <p:spPr>
          <a:xfrm>
            <a:off x="6026150" y="2554387"/>
            <a:ext cx="527164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6F99"/>
                </a:solidFill>
                <a:latin typeface="Arial" pitchFamily="34" charset="0"/>
                <a:ea typeface="Arial" pitchFamily="34" charset="-122"/>
                <a:cs typeface="Arial" pitchFamily="34" charset="-120"/>
              </a:rPr>
              <a:t>Dialog or dock plugin</a:t>
            </a:r>
            <a:endParaRPr lang="en-US" sz="1500" dirty="0"/>
          </a:p>
        </p:txBody>
      </p:sp>
      <p:sp>
        <p:nvSpPr>
          <p:cNvPr id="16" name="Text 14"/>
          <p:cNvSpPr/>
          <p:nvPr/>
        </p:nvSpPr>
        <p:spPr>
          <a:xfrm>
            <a:off x="6026150" y="2859187"/>
            <a:ext cx="5271643"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75866"/>
                </a:solidFill>
                <a:latin typeface="Arial" pitchFamily="34" charset="0"/>
                <a:ea typeface="Arial" pitchFamily="34" charset="-122"/>
                <a:cs typeface="Arial" pitchFamily="34" charset="-120"/>
              </a:rPr>
              <a:t>Your own window and workflow. Best for multi-step tools, like the tabbed window in FMB Tools.</a:t>
            </a:r>
            <a:endParaRPr lang="en-US" sz="1200" dirty="0"/>
          </a:p>
        </p:txBody>
      </p:sp>
      <p:sp>
        <p:nvSpPr>
          <p:cNvPr id="17" name="Shape 15"/>
          <p:cNvSpPr/>
          <p:nvPr/>
        </p:nvSpPr>
        <p:spPr>
          <a:xfrm>
            <a:off x="5794375" y="4287143"/>
            <a:ext cx="5581650" cy="1754981"/>
          </a:xfrm>
          <a:prstGeom prst="roundRect">
            <a:avLst>
              <a:gd name="adj" fmla="val 5608"/>
            </a:avLst>
          </a:prstGeom>
          <a:solidFill>
            <a:srgbClr val="FDFEFD"/>
          </a:solidFill>
          <a:ln w="6350">
            <a:solidFill>
              <a:srgbClr val="DCE4E8"/>
            </a:solidFill>
            <a:prstDash val="solid"/>
          </a:ln>
        </p:spPr>
      </p:sp>
      <p:sp>
        <p:nvSpPr>
          <p:cNvPr id="18" name="Text 16"/>
          <p:cNvSpPr/>
          <p:nvPr/>
        </p:nvSpPr>
        <p:spPr>
          <a:xfrm>
            <a:off x="6026150" y="4518918"/>
            <a:ext cx="527164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6F99"/>
                </a:solidFill>
                <a:latin typeface="Arial" pitchFamily="34" charset="0"/>
                <a:ea typeface="Arial" pitchFamily="34" charset="-122"/>
                <a:cs typeface="Arial" pitchFamily="34" charset="-120"/>
              </a:rPr>
              <a:t>Processing provider</a:t>
            </a:r>
            <a:endParaRPr lang="en-US" sz="1500" dirty="0"/>
          </a:p>
        </p:txBody>
      </p:sp>
      <p:sp>
        <p:nvSpPr>
          <p:cNvPr id="19" name="Text 17"/>
          <p:cNvSpPr/>
          <p:nvPr/>
        </p:nvSpPr>
        <p:spPr>
          <a:xfrm>
            <a:off x="6026150" y="4823718"/>
            <a:ext cx="5271643"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75866"/>
                </a:solidFill>
                <a:latin typeface="Arial" pitchFamily="34" charset="0"/>
                <a:ea typeface="Arial" pitchFamily="34" charset="-122"/>
                <a:cs typeface="Arial" pitchFamily="34" charset="-120"/>
              </a:rPr>
              <a:t>Tools in the Processing Toolbox, with batch mode and Model Designer included. Rain2Flood began as one.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6F99"/>
                </a:solidFill>
                <a:latin typeface="Arial" pitchFamily="34" charset="0"/>
                <a:ea typeface="Arial" pitchFamily="34" charset="-122"/>
                <a:cs typeface="Arial" pitchFamily="34" charset="-120"/>
              </a:rPr>
              <a:t>STAGE 2 · SET UP</a:t>
            </a:r>
            <a:endParaRPr lang="en-US" sz="1200" dirty="0"/>
          </a:p>
        </p:txBody>
      </p:sp>
      <p:sp>
        <p:nvSpPr>
          <p:cNvPr id="3" name="Text 1"/>
          <p:cNvSpPr/>
          <p:nvPr>
            <p:ph type="title"/>
          </p:nvPr>
        </p:nvSpPr>
        <p:spPr>
          <a:xfrm>
            <a:off x="812800" y="1127720"/>
            <a:ext cx="10883392" cy="480516"/>
          </a:xfrm>
          <a:prstGeom prst="rect">
            <a:avLst/>
          </a:prstGeom>
          <a:noFill/>
          <a:ln/>
        </p:spPr>
        <p:txBody>
          <a:bodyPr wrap="square" lIns="0" tIns="0" rIns="0" bIns="0" rtlCol="0" anchor="t">
            <a:normAutofit/>
          </a:bodyPr>
          <a:lstStyle/>
          <a:p>
            <a:pPr algn="l" indent="0" marL="0">
              <a:lnSpc>
                <a:spcPts val="3584"/>
              </a:lnSpc>
              <a:buNone/>
            </a:pPr>
            <a:r>
              <a:rPr lang="en-US" sz="3200" b="1" i="0" dirty="0">
                <a:solidFill>
                  <a:srgbClr val="14293A"/>
                </a:solidFill>
                <a:latin typeface="Arial" pitchFamily="34" charset="0"/>
                <a:ea typeface="Arial" pitchFamily="34" charset="-122"/>
                <a:cs typeface="Arial" pitchFamily="34" charset="-120"/>
              </a:rPr>
              <a:t>Your toolkit: all free, mostly already installed</a:t>
            </a:r>
            <a:endParaRPr lang="en-US" sz="3200" dirty="0"/>
          </a:p>
        </p:txBody>
      </p:sp>
      <p:sp>
        <p:nvSpPr>
          <p:cNvPr id="4" name="Shape 2"/>
          <p:cNvSpPr/>
          <p:nvPr/>
        </p:nvSpPr>
        <p:spPr>
          <a:xfrm>
            <a:off x="11376025" y="1887637"/>
            <a:ext cx="0" cy="3252490"/>
          </a:xfrm>
          <a:prstGeom prst="line">
            <a:avLst/>
          </a:prstGeom>
          <a:noFill/>
          <a:ln w="6350">
            <a:solidFill>
              <a:srgbClr val="DCE4E8"/>
            </a:solidFill>
            <a:prstDash val="solid"/>
          </a:ln>
        </p:spPr>
      </p:sp>
      <p:sp>
        <p:nvSpPr>
          <p:cNvPr id="5" name="Shape 3"/>
          <p:cNvSpPr/>
          <p:nvPr/>
        </p:nvSpPr>
        <p:spPr>
          <a:xfrm>
            <a:off x="812800" y="5136952"/>
            <a:ext cx="10566400" cy="0"/>
          </a:xfrm>
          <a:prstGeom prst="line">
            <a:avLst/>
          </a:prstGeom>
          <a:noFill/>
          <a:ln w="6350">
            <a:solidFill>
              <a:srgbClr val="DCE4E8"/>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1900337"/>
          <a:ext cx="10547350" cy="3233440"/>
        </p:xfrm>
        <a:graphic>
          <a:graphicData uri="http://schemas.openxmlformats.org/drawingml/2006/table">
            <a:tbl>
              <a:tblPr/>
              <a:tblGrid>
                <a:gridCol w="3375152"/>
                <a:gridCol w="7172198"/>
              </a:tblGrid>
              <a:tr h="359271">
                <a:tc>
                  <a:txBody>
                    <a:bodyPr/>
                    <a:lstStyle/>
                    <a:p>
                      <a:pPr indent="0" marL="0">
                        <a:lnSpc>
                          <a:spcPts val="1820"/>
                        </a:lnSpc>
                        <a:buNone/>
                      </a:pPr>
                      <a:r>
                        <a:rPr lang="en-US" sz="1300" b="1" dirty="0">
                          <a:solidFill>
                            <a:srgbClr val="F5F7F6"/>
                          </a:solidFill>
                          <a:latin typeface="Arial" pitchFamily="34" charset="0"/>
                          <a:ea typeface="Arial" pitchFamily="34" charset="-122"/>
                          <a:cs typeface="Arial" pitchFamily="34" charset="-120"/>
                        </a:rPr>
                        <a:t>Tool</a:t>
                      </a:r>
                      <a:endParaRPr lang="en-US" sz="1300" dirty="0">
                        <a:latin typeface="Arial" charset="0"/>
                        <a:ea typeface="Arial" charset="0"/>
                        <a:cs typeface="Arial" charset="0"/>
                      </a:endParaRPr>
                    </a:p>
                  </a:txBody>
                  <a:tcPr marL="57785" marR="57785" marT="57785" marB="57785" anchor="t">
                    <a:lnL w="12700" cap="flat" cmpd="sng" algn="ctr">
                      <a:solidFill>
                        <a:srgbClr val="C4C5C4"/>
                      </a:solidFill>
                      <a:prstDash val="solid"/>
                      <a:round/>
                      <a:headEnd type="none" w="med" len="med"/>
                      <a:tailEnd type="none" w="med" len="med"/>
                    </a:lnL>
                    <a:lnR w="12700" cap="flat" cmpd="sng" algn="ctr">
                      <a:solidFill>
                        <a:srgbClr val="10202C"/>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10202C"/>
                      </a:solidFill>
                      <a:prstDash val="solid"/>
                      <a:round/>
                      <a:headEnd type="none" w="med" len="med"/>
                      <a:tailEnd type="none" w="med" len="med"/>
                    </a:lnB>
                    <a:solidFill>
                      <a:srgbClr val="0F2433"/>
                    </a:solidFill>
                  </a:tcPr>
                </a:tc>
                <a:tc>
                  <a:txBody>
                    <a:bodyPr/>
                    <a:lstStyle/>
                    <a:p>
                      <a:pPr indent="0" marL="0">
                        <a:lnSpc>
                          <a:spcPts val="1820"/>
                        </a:lnSpc>
                        <a:buNone/>
                      </a:pPr>
                      <a:r>
                        <a:rPr lang="en-US" sz="1300" b="1" dirty="0">
                          <a:solidFill>
                            <a:srgbClr val="F5F7F6"/>
                          </a:solidFill>
                          <a:latin typeface="Arial" pitchFamily="34" charset="0"/>
                          <a:ea typeface="Arial" pitchFamily="34" charset="-122"/>
                          <a:cs typeface="Arial" pitchFamily="34" charset="-120"/>
                        </a:rPr>
                        <a:t>What it is for</a:t>
                      </a:r>
                      <a:endParaRPr lang="en-US" sz="1300" dirty="0">
                        <a:latin typeface="Arial" charset="0"/>
                        <a:ea typeface="Arial" charset="0"/>
                        <a:cs typeface="Arial" charset="0"/>
                      </a:endParaRPr>
                    </a:p>
                  </a:txBody>
                  <a:tcPr marL="57785" marR="57785" marT="57785" marB="57785" anchor="t">
                    <a:lnL w="12700" cap="flat" cmpd="sng" algn="ctr">
                      <a:solidFill>
                        <a:srgbClr val="10202C"/>
                      </a:solidFill>
                      <a:prstDash val="solid"/>
                      <a:round/>
                      <a:headEnd type="none" w="med" len="med"/>
                      <a:tailEnd type="none" w="med" len="med"/>
                    </a:lnL>
                    <a:lnR w="12700" cap="flat" cmpd="sng" algn="ctr">
                      <a:solidFill>
                        <a:srgbClr val="10202C"/>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10202C"/>
                      </a:solidFill>
                      <a:prstDash val="solid"/>
                      <a:round/>
                      <a:headEnd type="none" w="med" len="med"/>
                      <a:tailEnd type="none" w="med" len="med"/>
                    </a:lnB>
                    <a:solidFill>
                      <a:srgbClr val="0F2433"/>
                    </a:solidFill>
                  </a:tcPr>
                </a:tc>
              </a:tr>
              <a:tr h="359271">
                <a:tc>
                  <a:txBody>
                    <a:bodyPr/>
                    <a:lstStyle/>
                    <a:p>
                      <a:pPr indent="0" marL="0">
                        <a:lnSpc>
                          <a:spcPts val="1820"/>
                        </a:lnSpc>
                        <a:buNone/>
                      </a:pPr>
                      <a:r>
                        <a:rPr lang="en-US" sz="1300" dirty="0">
                          <a:solidFill>
                            <a:srgbClr val="14293A"/>
                          </a:solidFill>
                          <a:latin typeface="Arial" pitchFamily="34" charset="0"/>
                          <a:ea typeface="Arial" pitchFamily="34" charset="-122"/>
                          <a:cs typeface="Arial" pitchFamily="34" charset="-120"/>
                        </a:rPr>
                        <a:t>QGIS LTR</a:t>
                      </a:r>
                      <a:endParaRPr lang="en-US" sz="1300" dirty="0">
                        <a:latin typeface="Arial" charset="0"/>
                        <a:ea typeface="Arial" charset="0"/>
                        <a:cs typeface="Arial" charset="0"/>
                      </a:endParaRPr>
                    </a:p>
                  </a:txBody>
                  <a:tcPr marL="57785" marR="57785" marT="57785" marB="57785" anchor="t">
                    <a:lnL w="12700" cap="flat" cmpd="sng" algn="ctr">
                      <a:solidFill>
                        <a:srgbClr val="C4C5C4"/>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10202C"/>
                      </a:solidFill>
                      <a:prstDash val="solid"/>
                      <a:round/>
                      <a:headEnd type="none" w="med" len="med"/>
                      <a:tailEnd type="none" w="med" len="med"/>
                    </a:lnT>
                    <a:lnB w="12700" cap="flat" cmpd="sng" algn="ctr">
                      <a:solidFill>
                        <a:srgbClr val="CACBCA"/>
                      </a:solidFill>
                      <a:prstDash val="solid"/>
                      <a:round/>
                      <a:headEnd type="none" w="med" len="med"/>
                      <a:tailEnd type="none" w="med" len="med"/>
                    </a:lnB>
                    <a:solidFill>
                      <a:srgbClr val="FDFEFD"/>
                    </a:solidFill>
                  </a:tcPr>
                </a:tc>
                <a:tc>
                  <a:txBody>
                    <a:bodyPr/>
                    <a:lstStyle/>
                    <a:p>
                      <a:pPr indent="0" marL="0">
                        <a:lnSpc>
                          <a:spcPts val="1820"/>
                        </a:lnSpc>
                        <a:buNone/>
                      </a:pPr>
                      <a:r>
                        <a:rPr lang="en-US" sz="1300" dirty="0">
                          <a:solidFill>
                            <a:srgbClr val="475866"/>
                          </a:solidFill>
                          <a:latin typeface="Arial" pitchFamily="34" charset="0"/>
                          <a:ea typeface="Arial" pitchFamily="34" charset="-122"/>
                          <a:cs typeface="Arial" pitchFamily="34" charset="-120"/>
                        </a:rPr>
                        <a:t>Develop and test on the version the team uses</a:t>
                      </a:r>
                      <a:endParaRPr lang="en-US" sz="1300" dirty="0">
                        <a:latin typeface="Arial" charset="0"/>
                        <a:ea typeface="Arial" charset="0"/>
                        <a:cs typeface="Arial" charset="0"/>
                      </a:endParaRPr>
                    </a:p>
                  </a:txBody>
                  <a:tcPr marL="57785" marR="57785" marT="57785" marB="57785" anchor="t">
                    <a:lnL w="12700" cap="flat" cmpd="sng" algn="ctr">
                      <a:solidFill>
                        <a:srgbClr val="CACBCA"/>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10202C"/>
                      </a:solidFill>
                      <a:prstDash val="solid"/>
                      <a:round/>
                      <a:headEnd type="none" w="med" len="med"/>
                      <a:tailEnd type="none" w="med" len="med"/>
                    </a:lnT>
                    <a:lnB w="12700" cap="flat" cmpd="sng" algn="ctr">
                      <a:solidFill>
                        <a:srgbClr val="CACBCA"/>
                      </a:solidFill>
                      <a:prstDash val="solid"/>
                      <a:round/>
                      <a:headEnd type="none" w="med" len="med"/>
                      <a:tailEnd type="none" w="med" len="med"/>
                    </a:lnB>
                    <a:solidFill>
                      <a:srgbClr val="FDFEFD"/>
                    </a:solidFill>
                  </a:tcPr>
                </a:tc>
              </a:tr>
              <a:tr h="359271">
                <a:tc>
                  <a:txBody>
                    <a:bodyPr/>
                    <a:lstStyle/>
                    <a:p>
                      <a:pPr indent="0" marL="0">
                        <a:lnSpc>
                          <a:spcPts val="1820"/>
                        </a:lnSpc>
                        <a:buNone/>
                      </a:pPr>
                      <a:r>
                        <a:rPr lang="en-US" sz="1300" dirty="0">
                          <a:solidFill>
                            <a:srgbClr val="14293A"/>
                          </a:solidFill>
                          <a:latin typeface="Arial" pitchFamily="34" charset="0"/>
                          <a:ea typeface="Arial" pitchFamily="34" charset="-122"/>
                          <a:cs typeface="Arial" pitchFamily="34" charset="-120"/>
                        </a:rPr>
                        <a:t>VS Code or PyCharm</a:t>
                      </a:r>
                      <a:endParaRPr lang="en-US" sz="1300" dirty="0">
                        <a:latin typeface="Arial" charset="0"/>
                        <a:ea typeface="Arial" charset="0"/>
                        <a:cs typeface="Arial" charset="0"/>
                      </a:endParaRPr>
                    </a:p>
                  </a:txBody>
                  <a:tcPr marL="57785" marR="57785" marT="57785" marB="57785" anchor="t">
                    <a:lnL w="12700" cap="flat" cmpd="sng" algn="ctr">
                      <a:solidFill>
                        <a:srgbClr val="C4C5C4"/>
                      </a:solidFill>
                      <a:prstDash val="solid"/>
                      <a:round/>
                      <a:headEnd type="none" w="med" len="med"/>
                      <a:tailEnd type="none" w="med" len="med"/>
                    </a:lnL>
                    <a:lnR w="12700" cap="flat" cmpd="sng" algn="ctr">
                      <a:solidFill>
                        <a:srgbClr val="BEC2C3"/>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BEC2C3"/>
                      </a:solidFill>
                      <a:prstDash val="solid"/>
                      <a:round/>
                      <a:headEnd type="none" w="med" len="med"/>
                      <a:tailEnd type="none" w="med" len="med"/>
                    </a:lnB>
                    <a:solidFill>
                      <a:srgbClr val="EEF3F5"/>
                    </a:solidFill>
                  </a:tcPr>
                </a:tc>
                <a:tc>
                  <a:txBody>
                    <a:bodyPr/>
                    <a:lstStyle/>
                    <a:p>
                      <a:pPr indent="0" marL="0">
                        <a:lnSpc>
                          <a:spcPts val="1820"/>
                        </a:lnSpc>
                        <a:buNone/>
                      </a:pPr>
                      <a:r>
                        <a:rPr lang="en-US" sz="1300" dirty="0">
                          <a:solidFill>
                            <a:srgbClr val="475866"/>
                          </a:solidFill>
                          <a:latin typeface="Arial" pitchFamily="34" charset="0"/>
                          <a:ea typeface="Arial" pitchFamily="34" charset="-122"/>
                          <a:cs typeface="Arial" pitchFamily="34" charset="-120"/>
                        </a:rPr>
                        <a:t>Edit Python with autocomplete and Git built in</a:t>
                      </a:r>
                      <a:endParaRPr lang="en-US" sz="1300" dirty="0">
                        <a:latin typeface="Arial" charset="0"/>
                        <a:ea typeface="Arial" charset="0"/>
                        <a:cs typeface="Arial" charset="0"/>
                      </a:endParaRPr>
                    </a:p>
                  </a:txBody>
                  <a:tcPr marL="57785" marR="57785" marT="57785" marB="57785" anchor="t">
                    <a:lnL w="12700" cap="flat" cmpd="sng" algn="ctr">
                      <a:solidFill>
                        <a:srgbClr val="BEC2C3"/>
                      </a:solidFill>
                      <a:prstDash val="solid"/>
                      <a:round/>
                      <a:headEnd type="none" w="med" len="med"/>
                      <a:tailEnd type="none" w="med" len="med"/>
                    </a:lnL>
                    <a:lnR w="12700" cap="flat" cmpd="sng" algn="ctr">
                      <a:solidFill>
                        <a:srgbClr val="BEC2C3"/>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BEC2C3"/>
                      </a:solidFill>
                      <a:prstDash val="solid"/>
                      <a:round/>
                      <a:headEnd type="none" w="med" len="med"/>
                      <a:tailEnd type="none" w="med" len="med"/>
                    </a:lnB>
                    <a:solidFill>
                      <a:srgbClr val="EEF3F5"/>
                    </a:solidFill>
                  </a:tcPr>
                </a:tc>
              </a:tr>
              <a:tr h="359271">
                <a:tc>
                  <a:txBody>
                    <a:bodyPr/>
                    <a:lstStyle/>
                    <a:p>
                      <a:pPr indent="0" marL="0">
                        <a:lnSpc>
                          <a:spcPts val="1820"/>
                        </a:lnSpc>
                        <a:buNone/>
                      </a:pPr>
                      <a:r>
                        <a:rPr lang="en-US" sz="1300" dirty="0">
                          <a:solidFill>
                            <a:srgbClr val="14293A"/>
                          </a:solidFill>
                          <a:latin typeface="Arial" pitchFamily="34" charset="0"/>
                          <a:ea typeface="Arial" pitchFamily="34" charset="-122"/>
                          <a:cs typeface="Arial" pitchFamily="34" charset="-120"/>
                        </a:rPr>
                        <a:t>OSGeo4W Shell</a:t>
                      </a:r>
                      <a:endParaRPr lang="en-US" sz="1300" dirty="0">
                        <a:latin typeface="Arial" charset="0"/>
                        <a:ea typeface="Arial" charset="0"/>
                        <a:cs typeface="Arial" charset="0"/>
                      </a:endParaRPr>
                    </a:p>
                  </a:txBody>
                  <a:tcPr marL="57785" marR="57785" marT="57785" marB="57785" anchor="t">
                    <a:lnL w="12700" cap="flat" cmpd="sng" algn="ctr">
                      <a:solidFill>
                        <a:srgbClr val="C4C5C4"/>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BEC2C3"/>
                      </a:solidFill>
                      <a:prstDash val="solid"/>
                      <a:round/>
                      <a:headEnd type="none" w="med" len="med"/>
                      <a:tailEnd type="none" w="med" len="med"/>
                    </a:lnT>
                    <a:lnB w="12700" cap="flat" cmpd="sng" algn="ctr">
                      <a:solidFill>
                        <a:srgbClr val="CACBCA"/>
                      </a:solidFill>
                      <a:prstDash val="solid"/>
                      <a:round/>
                      <a:headEnd type="none" w="med" len="med"/>
                      <a:tailEnd type="none" w="med" len="med"/>
                    </a:lnB>
                    <a:solidFill>
                      <a:srgbClr val="FDFEFD"/>
                    </a:solidFill>
                  </a:tcPr>
                </a:tc>
                <a:tc>
                  <a:txBody>
                    <a:bodyPr/>
                    <a:lstStyle/>
                    <a:p>
                      <a:pPr indent="0" marL="0">
                        <a:lnSpc>
                          <a:spcPts val="1820"/>
                        </a:lnSpc>
                        <a:buNone/>
                      </a:pPr>
                      <a:r>
                        <a:rPr lang="en-US" sz="1300" dirty="0">
                          <a:solidFill>
                            <a:srgbClr val="475866"/>
                          </a:solidFill>
                          <a:latin typeface="Arial" pitchFamily="34" charset="0"/>
                          <a:ea typeface="Arial" pitchFamily="34" charset="-122"/>
                          <a:cs typeface="Arial" pitchFamily="34" charset="-120"/>
                        </a:rPr>
                        <a:t>pip install packages into QGIS's own Python</a:t>
                      </a:r>
                      <a:endParaRPr lang="en-US" sz="1300" dirty="0">
                        <a:latin typeface="Arial" charset="0"/>
                        <a:ea typeface="Arial" charset="0"/>
                        <a:cs typeface="Arial" charset="0"/>
                      </a:endParaRPr>
                    </a:p>
                  </a:txBody>
                  <a:tcPr marL="57785" marR="57785" marT="57785" marB="57785" anchor="t">
                    <a:lnL w="12700" cap="flat" cmpd="sng" algn="ctr">
                      <a:solidFill>
                        <a:srgbClr val="CACBCA"/>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BEC2C3"/>
                      </a:solidFill>
                      <a:prstDash val="solid"/>
                      <a:round/>
                      <a:headEnd type="none" w="med" len="med"/>
                      <a:tailEnd type="none" w="med" len="med"/>
                    </a:lnT>
                    <a:lnB w="12700" cap="flat" cmpd="sng" algn="ctr">
                      <a:solidFill>
                        <a:srgbClr val="CACBCA"/>
                      </a:solidFill>
                      <a:prstDash val="solid"/>
                      <a:round/>
                      <a:headEnd type="none" w="med" len="med"/>
                      <a:tailEnd type="none" w="med" len="med"/>
                    </a:lnB>
                    <a:solidFill>
                      <a:srgbClr val="FDFEFD"/>
                    </a:solidFill>
                  </a:tcPr>
                </a:tc>
              </a:tr>
              <a:tr h="359271">
                <a:tc>
                  <a:txBody>
                    <a:bodyPr/>
                    <a:lstStyle/>
                    <a:p>
                      <a:pPr indent="0" marL="0">
                        <a:lnSpc>
                          <a:spcPts val="1820"/>
                        </a:lnSpc>
                        <a:buNone/>
                      </a:pPr>
                      <a:r>
                        <a:rPr lang="en-US" sz="1300" dirty="0">
                          <a:solidFill>
                            <a:srgbClr val="14293A"/>
                          </a:solidFill>
                          <a:latin typeface="Arial" pitchFamily="34" charset="0"/>
                          <a:ea typeface="Arial" pitchFamily="34" charset="-122"/>
                          <a:cs typeface="Arial" pitchFamily="34" charset="-120"/>
                        </a:rPr>
                        <a:t>Plugin Builder 3</a:t>
                      </a:r>
                      <a:endParaRPr lang="en-US" sz="1300" dirty="0">
                        <a:latin typeface="Arial" charset="0"/>
                        <a:ea typeface="Arial" charset="0"/>
                        <a:cs typeface="Arial" charset="0"/>
                      </a:endParaRPr>
                    </a:p>
                  </a:txBody>
                  <a:tcPr marL="57785" marR="57785" marT="57785" marB="57785" anchor="t">
                    <a:lnL w="12700" cap="flat" cmpd="sng" algn="ctr">
                      <a:solidFill>
                        <a:srgbClr val="C4C5C4"/>
                      </a:solidFill>
                      <a:prstDash val="solid"/>
                      <a:round/>
                      <a:headEnd type="none" w="med" len="med"/>
                      <a:tailEnd type="none" w="med" len="med"/>
                    </a:lnL>
                    <a:lnR w="12700" cap="flat" cmpd="sng" algn="ctr">
                      <a:solidFill>
                        <a:srgbClr val="BEC2C3"/>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BEC2C3"/>
                      </a:solidFill>
                      <a:prstDash val="solid"/>
                      <a:round/>
                      <a:headEnd type="none" w="med" len="med"/>
                      <a:tailEnd type="none" w="med" len="med"/>
                    </a:lnB>
                    <a:solidFill>
                      <a:srgbClr val="EEF3F5"/>
                    </a:solidFill>
                  </a:tcPr>
                </a:tc>
                <a:tc>
                  <a:txBody>
                    <a:bodyPr/>
                    <a:lstStyle/>
                    <a:p>
                      <a:pPr indent="0" marL="0">
                        <a:lnSpc>
                          <a:spcPts val="1820"/>
                        </a:lnSpc>
                        <a:buNone/>
                      </a:pPr>
                      <a:r>
                        <a:rPr lang="en-US" sz="1300" dirty="0">
                          <a:solidFill>
                            <a:srgbClr val="475866"/>
                          </a:solidFill>
                          <a:latin typeface="Arial" pitchFamily="34" charset="0"/>
                          <a:ea typeface="Arial" pitchFamily="34" charset="-122"/>
                          <a:cs typeface="Arial" pitchFamily="34" charset="-120"/>
                        </a:rPr>
                        <a:t>Generates a starter plugin from a form</a:t>
                      </a:r>
                      <a:endParaRPr lang="en-US" sz="1300" dirty="0">
                        <a:latin typeface="Arial" charset="0"/>
                        <a:ea typeface="Arial" charset="0"/>
                        <a:cs typeface="Arial" charset="0"/>
                      </a:endParaRPr>
                    </a:p>
                  </a:txBody>
                  <a:tcPr marL="57785" marR="57785" marT="57785" marB="57785" anchor="t">
                    <a:lnL w="12700" cap="flat" cmpd="sng" algn="ctr">
                      <a:solidFill>
                        <a:srgbClr val="BEC2C3"/>
                      </a:solidFill>
                      <a:prstDash val="solid"/>
                      <a:round/>
                      <a:headEnd type="none" w="med" len="med"/>
                      <a:tailEnd type="none" w="med" len="med"/>
                    </a:lnL>
                    <a:lnR w="12700" cap="flat" cmpd="sng" algn="ctr">
                      <a:solidFill>
                        <a:srgbClr val="BEC2C3"/>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BEC2C3"/>
                      </a:solidFill>
                      <a:prstDash val="solid"/>
                      <a:round/>
                      <a:headEnd type="none" w="med" len="med"/>
                      <a:tailEnd type="none" w="med" len="med"/>
                    </a:lnB>
                    <a:solidFill>
                      <a:srgbClr val="EEF3F5"/>
                    </a:solidFill>
                  </a:tcPr>
                </a:tc>
              </a:tr>
              <a:tr h="359271">
                <a:tc>
                  <a:txBody>
                    <a:bodyPr/>
                    <a:lstStyle/>
                    <a:p>
                      <a:pPr indent="0" marL="0">
                        <a:lnSpc>
                          <a:spcPts val="1820"/>
                        </a:lnSpc>
                        <a:buNone/>
                      </a:pPr>
                      <a:r>
                        <a:rPr lang="en-US" sz="1300" dirty="0">
                          <a:solidFill>
                            <a:srgbClr val="14293A"/>
                          </a:solidFill>
                          <a:latin typeface="Arial" pitchFamily="34" charset="0"/>
                          <a:ea typeface="Arial" pitchFamily="34" charset="-122"/>
                          <a:cs typeface="Arial" pitchFamily="34" charset="-120"/>
                        </a:rPr>
                        <a:t>Plugin Reloader</a:t>
                      </a:r>
                      <a:endParaRPr lang="en-US" sz="1300" dirty="0">
                        <a:latin typeface="Arial" charset="0"/>
                        <a:ea typeface="Arial" charset="0"/>
                        <a:cs typeface="Arial" charset="0"/>
                      </a:endParaRPr>
                    </a:p>
                  </a:txBody>
                  <a:tcPr marL="57785" marR="57785" marT="57785" marB="57785" anchor="t">
                    <a:lnL w="12700" cap="flat" cmpd="sng" algn="ctr">
                      <a:solidFill>
                        <a:srgbClr val="C4C5C4"/>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BEC2C3"/>
                      </a:solidFill>
                      <a:prstDash val="solid"/>
                      <a:round/>
                      <a:headEnd type="none" w="med" len="med"/>
                      <a:tailEnd type="none" w="med" len="med"/>
                    </a:lnT>
                    <a:lnB w="12700" cap="flat" cmpd="sng" algn="ctr">
                      <a:solidFill>
                        <a:srgbClr val="CACBCA"/>
                      </a:solidFill>
                      <a:prstDash val="solid"/>
                      <a:round/>
                      <a:headEnd type="none" w="med" len="med"/>
                      <a:tailEnd type="none" w="med" len="med"/>
                    </a:lnB>
                    <a:solidFill>
                      <a:srgbClr val="FDFEFD"/>
                    </a:solidFill>
                  </a:tcPr>
                </a:tc>
                <a:tc>
                  <a:txBody>
                    <a:bodyPr/>
                    <a:lstStyle/>
                    <a:p>
                      <a:pPr indent="0" marL="0">
                        <a:lnSpc>
                          <a:spcPts val="1820"/>
                        </a:lnSpc>
                        <a:buNone/>
                      </a:pPr>
                      <a:r>
                        <a:rPr lang="en-US" sz="1300" dirty="0">
                          <a:solidFill>
                            <a:srgbClr val="475866"/>
                          </a:solidFill>
                          <a:latin typeface="Arial" pitchFamily="34" charset="0"/>
                          <a:ea typeface="Arial" pitchFamily="34" charset="-122"/>
                          <a:cs typeface="Arial" pitchFamily="34" charset="-120"/>
                        </a:rPr>
                        <a:t>Reloads your plugin without restarting QGIS</a:t>
                      </a:r>
                      <a:endParaRPr lang="en-US" sz="1300" dirty="0">
                        <a:latin typeface="Arial" charset="0"/>
                        <a:ea typeface="Arial" charset="0"/>
                        <a:cs typeface="Arial" charset="0"/>
                      </a:endParaRPr>
                    </a:p>
                  </a:txBody>
                  <a:tcPr marL="57785" marR="57785" marT="57785" marB="57785" anchor="t">
                    <a:lnL w="12700" cap="flat" cmpd="sng" algn="ctr">
                      <a:solidFill>
                        <a:srgbClr val="CACBCA"/>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BEC2C3"/>
                      </a:solidFill>
                      <a:prstDash val="solid"/>
                      <a:round/>
                      <a:headEnd type="none" w="med" len="med"/>
                      <a:tailEnd type="none" w="med" len="med"/>
                    </a:lnT>
                    <a:lnB w="12700" cap="flat" cmpd="sng" algn="ctr">
                      <a:solidFill>
                        <a:srgbClr val="CACBCA"/>
                      </a:solidFill>
                      <a:prstDash val="solid"/>
                      <a:round/>
                      <a:headEnd type="none" w="med" len="med"/>
                      <a:tailEnd type="none" w="med" len="med"/>
                    </a:lnB>
                    <a:solidFill>
                      <a:srgbClr val="FDFEFD"/>
                    </a:solidFill>
                  </a:tcPr>
                </a:tc>
              </a:tr>
              <a:tr h="359271">
                <a:tc>
                  <a:txBody>
                    <a:bodyPr/>
                    <a:lstStyle/>
                    <a:p>
                      <a:pPr indent="0" marL="0">
                        <a:lnSpc>
                          <a:spcPts val="1820"/>
                        </a:lnSpc>
                        <a:buNone/>
                      </a:pPr>
                      <a:r>
                        <a:rPr lang="en-US" sz="1300" dirty="0">
                          <a:solidFill>
                            <a:srgbClr val="14293A"/>
                          </a:solidFill>
                          <a:latin typeface="Arial" pitchFamily="34" charset="0"/>
                          <a:ea typeface="Arial" pitchFamily="34" charset="-122"/>
                          <a:cs typeface="Arial" pitchFamily="34" charset="-120"/>
                        </a:rPr>
                        <a:t>First Aid</a:t>
                      </a:r>
                      <a:endParaRPr lang="en-US" sz="1300" dirty="0">
                        <a:latin typeface="Arial" charset="0"/>
                        <a:ea typeface="Arial" charset="0"/>
                        <a:cs typeface="Arial" charset="0"/>
                      </a:endParaRPr>
                    </a:p>
                  </a:txBody>
                  <a:tcPr marL="57785" marR="57785" marT="57785" marB="57785" anchor="t">
                    <a:lnL w="12700" cap="flat" cmpd="sng" algn="ctr">
                      <a:solidFill>
                        <a:srgbClr val="C4C5C4"/>
                      </a:solidFill>
                      <a:prstDash val="solid"/>
                      <a:round/>
                      <a:headEnd type="none" w="med" len="med"/>
                      <a:tailEnd type="none" w="med" len="med"/>
                    </a:lnL>
                    <a:lnR w="12700" cap="flat" cmpd="sng" algn="ctr">
                      <a:solidFill>
                        <a:srgbClr val="BEC2C3"/>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BEC2C3"/>
                      </a:solidFill>
                      <a:prstDash val="solid"/>
                      <a:round/>
                      <a:headEnd type="none" w="med" len="med"/>
                      <a:tailEnd type="none" w="med" len="med"/>
                    </a:lnB>
                    <a:solidFill>
                      <a:srgbClr val="EEF3F5"/>
                    </a:solidFill>
                  </a:tcPr>
                </a:tc>
                <a:tc>
                  <a:txBody>
                    <a:bodyPr/>
                    <a:lstStyle/>
                    <a:p>
                      <a:pPr indent="0" marL="0">
                        <a:lnSpc>
                          <a:spcPts val="1820"/>
                        </a:lnSpc>
                        <a:buNone/>
                      </a:pPr>
                      <a:r>
                        <a:rPr lang="en-US" sz="1300" dirty="0">
                          <a:solidFill>
                            <a:srgbClr val="475866"/>
                          </a:solidFill>
                          <a:latin typeface="Arial" pitchFamily="34" charset="0"/>
                          <a:ea typeface="Arial" pitchFamily="34" charset="-122"/>
                          <a:cs typeface="Arial" pitchFamily="34" charset="-120"/>
                        </a:rPr>
                        <a:t>Readable error tracebacks and a Python debugger</a:t>
                      </a:r>
                      <a:endParaRPr lang="en-US" sz="1300" dirty="0">
                        <a:latin typeface="Arial" charset="0"/>
                        <a:ea typeface="Arial" charset="0"/>
                        <a:cs typeface="Arial" charset="0"/>
                      </a:endParaRPr>
                    </a:p>
                  </a:txBody>
                  <a:tcPr marL="57785" marR="57785" marT="57785" marB="57785" anchor="t">
                    <a:lnL w="12700" cap="flat" cmpd="sng" algn="ctr">
                      <a:solidFill>
                        <a:srgbClr val="BEC2C3"/>
                      </a:solidFill>
                      <a:prstDash val="solid"/>
                      <a:round/>
                      <a:headEnd type="none" w="med" len="med"/>
                      <a:tailEnd type="none" w="med" len="med"/>
                    </a:lnL>
                    <a:lnR w="12700" cap="flat" cmpd="sng" algn="ctr">
                      <a:solidFill>
                        <a:srgbClr val="BEC2C3"/>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BEC2C3"/>
                      </a:solidFill>
                      <a:prstDash val="solid"/>
                      <a:round/>
                      <a:headEnd type="none" w="med" len="med"/>
                      <a:tailEnd type="none" w="med" len="med"/>
                    </a:lnB>
                    <a:solidFill>
                      <a:srgbClr val="EEF3F5"/>
                    </a:solidFill>
                  </a:tcPr>
                </a:tc>
              </a:tr>
              <a:tr h="359271">
                <a:tc>
                  <a:txBody>
                    <a:bodyPr/>
                    <a:lstStyle/>
                    <a:p>
                      <a:pPr indent="0" marL="0">
                        <a:lnSpc>
                          <a:spcPts val="1820"/>
                        </a:lnSpc>
                        <a:buNone/>
                      </a:pPr>
                      <a:r>
                        <a:rPr lang="en-US" sz="1300" dirty="0">
                          <a:solidFill>
                            <a:srgbClr val="14293A"/>
                          </a:solidFill>
                          <a:latin typeface="Arial" pitchFamily="34" charset="0"/>
                          <a:ea typeface="Arial" pitchFamily="34" charset="-122"/>
                          <a:cs typeface="Arial" pitchFamily="34" charset="-120"/>
                        </a:rPr>
                        <a:t>Qt Designer</a:t>
                      </a:r>
                      <a:endParaRPr lang="en-US" sz="1300" dirty="0">
                        <a:latin typeface="Arial" charset="0"/>
                        <a:ea typeface="Arial" charset="0"/>
                        <a:cs typeface="Arial" charset="0"/>
                      </a:endParaRPr>
                    </a:p>
                  </a:txBody>
                  <a:tcPr marL="57785" marR="57785" marT="57785" marB="57785" anchor="t">
                    <a:lnL w="12700" cap="flat" cmpd="sng" algn="ctr">
                      <a:solidFill>
                        <a:srgbClr val="C4C5C4"/>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BEC2C3"/>
                      </a:solidFill>
                      <a:prstDash val="solid"/>
                      <a:round/>
                      <a:headEnd type="none" w="med" len="med"/>
                      <a:tailEnd type="none" w="med" len="med"/>
                    </a:lnT>
                    <a:lnB w="12700" cap="flat" cmpd="sng" algn="ctr">
                      <a:solidFill>
                        <a:srgbClr val="CACBCA"/>
                      </a:solidFill>
                      <a:prstDash val="solid"/>
                      <a:round/>
                      <a:headEnd type="none" w="med" len="med"/>
                      <a:tailEnd type="none" w="med" len="med"/>
                    </a:lnB>
                    <a:solidFill>
                      <a:srgbClr val="FDFEFD"/>
                    </a:solidFill>
                  </a:tcPr>
                </a:tc>
                <a:tc>
                  <a:txBody>
                    <a:bodyPr/>
                    <a:lstStyle/>
                    <a:p>
                      <a:pPr indent="0" marL="0">
                        <a:lnSpc>
                          <a:spcPts val="1820"/>
                        </a:lnSpc>
                        <a:buNone/>
                      </a:pPr>
                      <a:r>
                        <a:rPr lang="en-US" sz="1300" dirty="0">
                          <a:solidFill>
                            <a:srgbClr val="475866"/>
                          </a:solidFill>
                          <a:latin typeface="Arial" pitchFamily="34" charset="0"/>
                          <a:ea typeface="Arial" pitchFamily="34" charset="-122"/>
                          <a:cs typeface="Arial" pitchFamily="34" charset="-120"/>
                        </a:rPr>
                        <a:t>Lays out dialogs; installed with QGIS</a:t>
                      </a:r>
                      <a:endParaRPr lang="en-US" sz="1300" dirty="0">
                        <a:latin typeface="Arial" charset="0"/>
                        <a:ea typeface="Arial" charset="0"/>
                        <a:cs typeface="Arial" charset="0"/>
                      </a:endParaRPr>
                    </a:p>
                  </a:txBody>
                  <a:tcPr marL="57785" marR="57785" marT="57785" marB="57785" anchor="t">
                    <a:lnL w="12700" cap="flat" cmpd="sng" algn="ctr">
                      <a:solidFill>
                        <a:srgbClr val="CACBCA"/>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BEC2C3"/>
                      </a:solidFill>
                      <a:prstDash val="solid"/>
                      <a:round/>
                      <a:headEnd type="none" w="med" len="med"/>
                      <a:tailEnd type="none" w="med" len="med"/>
                    </a:lnT>
                    <a:lnB w="12700" cap="flat" cmpd="sng" algn="ctr">
                      <a:solidFill>
                        <a:srgbClr val="CACBCA"/>
                      </a:solidFill>
                      <a:prstDash val="solid"/>
                      <a:round/>
                      <a:headEnd type="none" w="med" len="med"/>
                      <a:tailEnd type="none" w="med" len="med"/>
                    </a:lnB>
                    <a:solidFill>
                      <a:srgbClr val="FDFEFD"/>
                    </a:solidFill>
                  </a:tcPr>
                </a:tc>
              </a:tr>
              <a:tr h="359271">
                <a:tc>
                  <a:txBody>
                    <a:bodyPr/>
                    <a:lstStyle/>
                    <a:p>
                      <a:pPr indent="0" marL="0">
                        <a:lnSpc>
                          <a:spcPts val="1820"/>
                        </a:lnSpc>
                        <a:buNone/>
                      </a:pPr>
                      <a:r>
                        <a:rPr lang="en-US" sz="1300" dirty="0">
                          <a:solidFill>
                            <a:srgbClr val="14293A"/>
                          </a:solidFill>
                          <a:latin typeface="Arial" pitchFamily="34" charset="0"/>
                          <a:ea typeface="Arial" pitchFamily="34" charset="-122"/>
                          <a:cs typeface="Arial" pitchFamily="34" charset="-120"/>
                        </a:rPr>
                        <a:t>Git and GitHub</a:t>
                      </a:r>
                      <a:endParaRPr lang="en-US" sz="1300" dirty="0">
                        <a:latin typeface="Arial" charset="0"/>
                        <a:ea typeface="Arial" charset="0"/>
                        <a:cs typeface="Arial" charset="0"/>
                      </a:endParaRPr>
                    </a:p>
                  </a:txBody>
                  <a:tcPr marL="57785" marR="57785" marT="57785" marB="57785" anchor="t">
                    <a:lnL w="12700" cap="flat" cmpd="sng" algn="ctr">
                      <a:solidFill>
                        <a:srgbClr val="C4C5C4"/>
                      </a:solidFill>
                      <a:prstDash val="solid"/>
                      <a:round/>
                      <a:headEnd type="none" w="med" len="med"/>
                      <a:tailEnd type="none" w="med" len="med"/>
                    </a:lnL>
                    <a:lnR w="12700" cap="flat" cmpd="sng" algn="ctr">
                      <a:solidFill>
                        <a:srgbClr val="BEC2C3"/>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BEC2C3"/>
                      </a:solidFill>
                      <a:prstDash val="solid"/>
                      <a:round/>
                      <a:headEnd type="none" w="med" len="med"/>
                      <a:tailEnd type="none" w="med" len="med"/>
                    </a:lnB>
                    <a:solidFill>
                      <a:srgbClr val="EEF3F5"/>
                    </a:solidFill>
                  </a:tcPr>
                </a:tc>
                <a:tc>
                  <a:txBody>
                    <a:bodyPr/>
                    <a:lstStyle/>
                    <a:p>
                      <a:pPr indent="0" marL="0">
                        <a:lnSpc>
                          <a:spcPts val="1820"/>
                        </a:lnSpc>
                        <a:buNone/>
                      </a:pPr>
                      <a:r>
                        <a:rPr lang="en-US" sz="1300" dirty="0">
                          <a:solidFill>
                            <a:srgbClr val="475866"/>
                          </a:solidFill>
                          <a:latin typeface="Arial" pitchFamily="34" charset="0"/>
                          <a:ea typeface="Arial" pitchFamily="34" charset="-122"/>
                          <a:cs typeface="Arial" pitchFamily="34" charset="-120"/>
                        </a:rPr>
                        <a:t>Version history and backup from day one</a:t>
                      </a:r>
                      <a:endParaRPr lang="en-US" sz="1300" dirty="0">
                        <a:latin typeface="Arial" charset="0"/>
                        <a:ea typeface="Arial" charset="0"/>
                        <a:cs typeface="Arial" charset="0"/>
                      </a:endParaRPr>
                    </a:p>
                  </a:txBody>
                  <a:tcPr marL="57785" marR="57785" marT="57785" marB="57785" anchor="t">
                    <a:lnL w="12700" cap="flat" cmpd="sng" algn="ctr">
                      <a:solidFill>
                        <a:srgbClr val="BEC2C3"/>
                      </a:solidFill>
                      <a:prstDash val="solid"/>
                      <a:round/>
                      <a:headEnd type="none" w="med" len="med"/>
                      <a:tailEnd type="none" w="med" len="med"/>
                    </a:lnL>
                    <a:lnR w="12700" cap="flat" cmpd="sng" algn="ctr">
                      <a:solidFill>
                        <a:srgbClr val="BEC2C3"/>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BEC2C3"/>
                      </a:solidFill>
                      <a:prstDash val="solid"/>
                      <a:round/>
                      <a:headEnd type="none" w="med" len="med"/>
                      <a:tailEnd type="none" w="med" len="med"/>
                    </a:lnB>
                    <a:solidFill>
                      <a:srgbClr val="EEF3F5"/>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6F99"/>
                </a:solidFill>
                <a:latin typeface="Arial" pitchFamily="34" charset="0"/>
                <a:ea typeface="Arial" pitchFamily="34" charset="-122"/>
                <a:cs typeface="Arial" pitchFamily="34" charset="-120"/>
              </a:rPr>
              <a:t>STAGE 3 · SCAFFOLD</a:t>
            </a:r>
            <a:endParaRPr lang="en-US" sz="1200" dirty="0"/>
          </a:p>
        </p:txBody>
      </p:sp>
      <p:sp>
        <p:nvSpPr>
          <p:cNvPr id="3" name="Text 1"/>
          <p:cNvSpPr/>
          <p:nvPr>
            <p:ph type="title"/>
          </p:nvPr>
        </p:nvSpPr>
        <p:spPr>
          <a:xfrm>
            <a:off x="812800" y="1127720"/>
            <a:ext cx="10883392" cy="480516"/>
          </a:xfrm>
          <a:prstGeom prst="rect">
            <a:avLst/>
          </a:prstGeom>
          <a:noFill/>
          <a:ln/>
        </p:spPr>
        <p:txBody>
          <a:bodyPr wrap="square" lIns="0" tIns="0" rIns="0" bIns="0" rtlCol="0" anchor="t">
            <a:normAutofit/>
          </a:bodyPr>
          <a:lstStyle/>
          <a:p>
            <a:pPr algn="l" indent="0" marL="0">
              <a:lnSpc>
                <a:spcPts val="3584"/>
              </a:lnSpc>
              <a:buNone/>
            </a:pPr>
            <a:r>
              <a:rPr lang="en-US" sz="3200" b="1" i="0" dirty="0">
                <a:solidFill>
                  <a:srgbClr val="14293A"/>
                </a:solidFill>
                <a:latin typeface="Arial" pitchFamily="34" charset="0"/>
                <a:ea typeface="Arial" pitchFamily="34" charset="-122"/>
                <a:cs typeface="Arial" pitchFamily="34" charset="-120"/>
              </a:rPr>
              <a:t>Let Plugin Builder write the boilerplate</a:t>
            </a:r>
            <a:endParaRPr lang="en-US" sz="3200" dirty="0"/>
          </a:p>
        </p:txBody>
      </p:sp>
      <p:sp>
        <p:nvSpPr>
          <p:cNvPr id="4" name="Text 2"/>
          <p:cNvSpPr/>
          <p:nvPr/>
        </p:nvSpPr>
        <p:spPr>
          <a:xfrm>
            <a:off x="812800" y="2277269"/>
            <a:ext cx="4064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6F99"/>
                </a:solidFill>
                <a:latin typeface="Arial" pitchFamily="34" charset="0"/>
                <a:ea typeface="Arial" pitchFamily="34" charset="-122"/>
                <a:cs typeface="Arial" pitchFamily="34" charset="-120"/>
              </a:rPr>
              <a:t>1</a:t>
            </a:r>
            <a:endParaRPr lang="en-US" sz="1500" dirty="0"/>
          </a:p>
        </p:txBody>
      </p:sp>
      <p:sp>
        <p:nvSpPr>
          <p:cNvPr id="5" name="Text 3"/>
          <p:cNvSpPr/>
          <p:nvPr/>
        </p:nvSpPr>
        <p:spPr>
          <a:xfrm>
            <a:off x="1320800" y="2293838"/>
            <a:ext cx="444754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4293A"/>
                </a:solidFill>
                <a:latin typeface="Arial" pitchFamily="34" charset="0"/>
                <a:ea typeface="Arial" pitchFamily="34" charset="-122"/>
                <a:cs typeface="Arial" pitchFamily="34" charset="-120"/>
              </a:rPr>
              <a:t>Install Plugin Builder 3 from the Plugin Manager</a:t>
            </a:r>
            <a:endParaRPr lang="en-US" sz="1400" dirty="0"/>
          </a:p>
        </p:txBody>
      </p:sp>
      <p:sp>
        <p:nvSpPr>
          <p:cNvPr id="6" name="Text 4"/>
          <p:cNvSpPr/>
          <p:nvPr/>
        </p:nvSpPr>
        <p:spPr>
          <a:xfrm>
            <a:off x="812800" y="2721769"/>
            <a:ext cx="4064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6F99"/>
                </a:solidFill>
                <a:latin typeface="Arial" pitchFamily="34" charset="0"/>
                <a:ea typeface="Arial" pitchFamily="34" charset="-122"/>
                <a:cs typeface="Arial" pitchFamily="34" charset="-120"/>
              </a:rPr>
              <a:t>2</a:t>
            </a:r>
            <a:endParaRPr lang="en-US" sz="1500" dirty="0"/>
          </a:p>
        </p:txBody>
      </p:sp>
      <p:sp>
        <p:nvSpPr>
          <p:cNvPr id="7" name="Text 5"/>
          <p:cNvSpPr/>
          <p:nvPr/>
        </p:nvSpPr>
        <p:spPr>
          <a:xfrm>
            <a:off x="1320800" y="2738338"/>
            <a:ext cx="4447540"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4293A"/>
                </a:solidFill>
                <a:latin typeface="Arial" pitchFamily="34" charset="0"/>
                <a:ea typeface="Arial" pitchFamily="34" charset="-122"/>
                <a:cs typeface="Arial" pitchFamily="34" charset="-120"/>
              </a:rPr>
              <a:t>Fill in names, description, author and minimum QGIS version</a:t>
            </a:r>
            <a:endParaRPr lang="en-US" sz="1400" dirty="0"/>
          </a:p>
        </p:txBody>
      </p:sp>
      <p:sp>
        <p:nvSpPr>
          <p:cNvPr id="8" name="Text 6"/>
          <p:cNvSpPr/>
          <p:nvPr/>
        </p:nvSpPr>
        <p:spPr>
          <a:xfrm>
            <a:off x="812800" y="3396159"/>
            <a:ext cx="4064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6F99"/>
                </a:solidFill>
                <a:latin typeface="Arial" pitchFamily="34" charset="0"/>
                <a:ea typeface="Arial" pitchFamily="34" charset="-122"/>
                <a:cs typeface="Arial" pitchFamily="34" charset="-120"/>
              </a:rPr>
              <a:t>3</a:t>
            </a:r>
            <a:endParaRPr lang="en-US" sz="1500" dirty="0"/>
          </a:p>
        </p:txBody>
      </p:sp>
      <p:sp>
        <p:nvSpPr>
          <p:cNvPr id="9" name="Text 7"/>
          <p:cNvSpPr/>
          <p:nvPr/>
        </p:nvSpPr>
        <p:spPr>
          <a:xfrm>
            <a:off x="1320800" y="3412728"/>
            <a:ext cx="4447540"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4293A"/>
                </a:solidFill>
                <a:latin typeface="Arial" pitchFamily="34" charset="0"/>
                <a:ea typeface="Arial" pitchFamily="34" charset="-122"/>
                <a:cs typeface="Arial" pitchFamily="34" charset="-120"/>
              </a:rPr>
              <a:t>Pick a template: dialog, dock widget or Processing provider</a:t>
            </a:r>
            <a:endParaRPr lang="en-US" sz="1400" dirty="0"/>
          </a:p>
        </p:txBody>
      </p:sp>
      <p:sp>
        <p:nvSpPr>
          <p:cNvPr id="10" name="Text 8"/>
          <p:cNvSpPr/>
          <p:nvPr/>
        </p:nvSpPr>
        <p:spPr>
          <a:xfrm>
            <a:off x="812800" y="4070548"/>
            <a:ext cx="4064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6F99"/>
                </a:solidFill>
                <a:latin typeface="Arial" pitchFamily="34" charset="0"/>
                <a:ea typeface="Arial" pitchFamily="34" charset="-122"/>
                <a:cs typeface="Arial" pitchFamily="34" charset="-120"/>
              </a:rPr>
              <a:t>4</a:t>
            </a:r>
            <a:endParaRPr lang="en-US" sz="1500" dirty="0"/>
          </a:p>
        </p:txBody>
      </p:sp>
      <p:sp>
        <p:nvSpPr>
          <p:cNvPr id="11" name="Text 9"/>
          <p:cNvSpPr/>
          <p:nvPr/>
        </p:nvSpPr>
        <p:spPr>
          <a:xfrm>
            <a:off x="1320800" y="4087118"/>
            <a:ext cx="444754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4293A"/>
                </a:solidFill>
                <a:latin typeface="Arial" pitchFamily="34" charset="0"/>
                <a:ea typeface="Arial" pitchFamily="34" charset="-122"/>
                <a:cs typeface="Arial" pitchFamily="34" charset="-120"/>
              </a:rPr>
              <a:t>Save it into your QGIS plugins folder</a:t>
            </a:r>
            <a:endParaRPr lang="en-US" sz="1400" dirty="0"/>
          </a:p>
        </p:txBody>
      </p:sp>
      <p:sp>
        <p:nvSpPr>
          <p:cNvPr id="12" name="Text 10"/>
          <p:cNvSpPr/>
          <p:nvPr/>
        </p:nvSpPr>
        <p:spPr>
          <a:xfrm>
            <a:off x="812800" y="4515048"/>
            <a:ext cx="4064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6F99"/>
                </a:solidFill>
                <a:latin typeface="Arial" pitchFamily="34" charset="0"/>
                <a:ea typeface="Arial" pitchFamily="34" charset="-122"/>
                <a:cs typeface="Arial" pitchFamily="34" charset="-120"/>
              </a:rPr>
              <a:t>5</a:t>
            </a:r>
            <a:endParaRPr lang="en-US" sz="1500" dirty="0"/>
          </a:p>
        </p:txBody>
      </p:sp>
      <p:sp>
        <p:nvSpPr>
          <p:cNvPr id="13" name="Text 11"/>
          <p:cNvSpPr/>
          <p:nvPr/>
        </p:nvSpPr>
        <p:spPr>
          <a:xfrm>
            <a:off x="1320800" y="4531618"/>
            <a:ext cx="444754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4293A"/>
                </a:solidFill>
                <a:latin typeface="Arial" pitchFamily="34" charset="0"/>
                <a:ea typeface="Arial" pitchFamily="34" charset="-122"/>
                <a:cs typeface="Arial" pitchFamily="34" charset="-120"/>
              </a:rPr>
              <a:t>Enable it in the Plugin Manager and click its button</a:t>
            </a:r>
            <a:endParaRPr lang="en-US" sz="1400" dirty="0"/>
          </a:p>
        </p:txBody>
      </p:sp>
      <p:sp>
        <p:nvSpPr>
          <p:cNvPr id="14" name="Text 12"/>
          <p:cNvSpPr/>
          <p:nvPr/>
        </p:nvSpPr>
        <p:spPr>
          <a:xfrm>
            <a:off x="812800" y="4959548"/>
            <a:ext cx="4826000" cy="695920"/>
          </a:xfrm>
          <a:prstGeom prst="roundRect">
            <a:avLst>
              <a:gd name="adj" fmla="val 10950"/>
            </a:avLst>
          </a:prstGeom>
          <a:solidFill>
            <a:srgbClr val="E8EEF1"/>
          </a:solidFill>
          <a:ln/>
        </p:spPr>
        <p:txBody>
          <a:bodyPr wrap="square" lIns="130082" tIns="104682" rIns="0" bIns="79282" rtlCol="0" anchor="t">
            <a:normAutofit/>
          </a:bodyPr>
          <a:lstStyle/>
          <a:p>
            <a:pPr algn="l" indent="0" marL="0">
              <a:lnSpc>
                <a:spcPts val="1740"/>
              </a:lnSpc>
              <a:buNone/>
            </a:pPr>
            <a:r>
              <a:rPr lang="en-US" sz="1200" dirty="0">
                <a:solidFill>
                  <a:srgbClr val="475866"/>
                </a:solidFill>
                <a:latin typeface="Arial" pitchFamily="34" charset="0"/>
                <a:ea typeface="Arial" pitchFamily="34" charset="-122"/>
                <a:cs typeface="Arial" pitchFamily="34" charset="-120"/>
              </a:rPr>
              <a:t>No resources.py? Compile it with pyrcc5 in the OSGeo4W Shell, or load the icon straight from its file path.</a:t>
            </a:r>
            <a:endParaRPr lang="en-US" sz="1200" dirty="0"/>
          </a:p>
        </p:txBody>
      </p:sp>
      <p:sp>
        <p:nvSpPr>
          <p:cNvPr id="15" name="Shape 13"/>
          <p:cNvSpPr/>
          <p:nvPr/>
        </p:nvSpPr>
        <p:spPr>
          <a:xfrm>
            <a:off x="6054725" y="1897162"/>
            <a:ext cx="5314950" cy="4138513"/>
          </a:xfrm>
          <a:prstGeom prst="roundRect">
            <a:avLst>
              <a:gd name="adj" fmla="val 2225"/>
            </a:avLst>
          </a:prstGeom>
          <a:solidFill>
            <a:srgbClr val="E8EEF1"/>
          </a:solidFill>
          <a:ln w="19050">
            <a:solidFill>
              <a:srgbClr val="8FA6B4"/>
            </a:solidFill>
            <a:prstDash val="dash"/>
          </a:ln>
        </p:spPr>
      </p:sp>
      <p:sp>
        <p:nvSpPr>
          <p:cNvPr id="16" name="Text 14"/>
          <p:cNvSpPr/>
          <p:nvPr/>
        </p:nvSpPr>
        <p:spPr>
          <a:xfrm>
            <a:off x="7962821" y="3518098"/>
            <a:ext cx="1498759" cy="238720"/>
          </a:xfrm>
          <a:prstGeom prst="rect">
            <a:avLst/>
          </a:prstGeom>
          <a:noFill/>
          <a:ln/>
        </p:spPr>
        <p:txBody>
          <a:bodyPr wrap="square" lIns="0" tIns="0" rIns="0" bIns="0" rtlCol="0" anchor="t">
            <a:normAutofit/>
          </a:bodyPr>
          <a:lstStyle/>
          <a:p>
            <a:pPr algn="ctr" indent="0" marL="0">
              <a:lnSpc>
                <a:spcPts val="1680"/>
              </a:lnSpc>
              <a:buNone/>
            </a:pPr>
            <a:r>
              <a:rPr lang="en-US" sz="1200" b="1" spc="150" kern="0" dirty="0">
                <a:solidFill>
                  <a:srgbClr val="1F6F99"/>
                </a:solidFill>
                <a:latin typeface="Arial" pitchFamily="34" charset="0"/>
                <a:ea typeface="Arial" pitchFamily="34" charset="-122"/>
                <a:cs typeface="Arial" pitchFamily="34" charset="-120"/>
              </a:rPr>
              <a:t>SCREENSHOT</a:t>
            </a:r>
            <a:endParaRPr lang="en-US" sz="1200" dirty="0"/>
          </a:p>
        </p:txBody>
      </p:sp>
      <p:sp>
        <p:nvSpPr>
          <p:cNvPr id="17" name="Text 15"/>
          <p:cNvSpPr/>
          <p:nvPr/>
        </p:nvSpPr>
        <p:spPr>
          <a:xfrm>
            <a:off x="7556351" y="3833019"/>
            <a:ext cx="2311598"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14293A"/>
                </a:solidFill>
                <a:latin typeface="Arial" pitchFamily="34" charset="0"/>
                <a:ea typeface="Arial" pitchFamily="34" charset="-122"/>
                <a:cs typeface="Arial" pitchFamily="34" charset="-120"/>
              </a:rPr>
              <a:t>Plugin Builder 3 form</a:t>
            </a:r>
            <a:endParaRPr lang="en-US" sz="1500" dirty="0"/>
          </a:p>
        </p:txBody>
      </p:sp>
      <p:sp>
        <p:nvSpPr>
          <p:cNvPr id="18" name="Text 16"/>
          <p:cNvSpPr/>
          <p:nvPr/>
        </p:nvSpPr>
        <p:spPr>
          <a:xfrm>
            <a:off x="7365256" y="4201319"/>
            <a:ext cx="2693789"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75866"/>
                </a:solidFill>
                <a:latin typeface="Arial" pitchFamily="34" charset="0"/>
                <a:ea typeface="Arial" pitchFamily="34" charset="-122"/>
                <a:cs typeface="Arial" pitchFamily="34" charset="-120"/>
              </a:rPr>
              <a:t>The form filled in for a new plugin</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243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07A2E"/>
                </a:solidFill>
                <a:latin typeface="Arial" pitchFamily="34" charset="0"/>
                <a:ea typeface="Arial" pitchFamily="34" charset="-122"/>
                <a:cs typeface="Arial" pitchFamily="34" charset="-120"/>
              </a:rPr>
              <a:t>STAGE 3 · WHAT YOU GET</a:t>
            </a:r>
            <a:endParaRPr lang="en-US" sz="1200" dirty="0"/>
          </a:p>
        </p:txBody>
      </p:sp>
      <p:sp>
        <p:nvSpPr>
          <p:cNvPr id="3" name="Text 1"/>
          <p:cNvSpPr/>
          <p:nvPr>
            <p:ph type="title"/>
          </p:nvPr>
        </p:nvSpPr>
        <p:spPr>
          <a:xfrm>
            <a:off x="812800" y="1127720"/>
            <a:ext cx="10883392" cy="480516"/>
          </a:xfrm>
          <a:prstGeom prst="rect">
            <a:avLst/>
          </a:prstGeom>
          <a:noFill/>
          <a:ln/>
        </p:spPr>
        <p:txBody>
          <a:bodyPr wrap="square" lIns="0" tIns="0" rIns="0" bIns="0" rtlCol="0" anchor="t">
            <a:normAutofit/>
          </a:bodyPr>
          <a:lstStyle/>
          <a:p>
            <a:pPr algn="l" indent="0" marL="0">
              <a:lnSpc>
                <a:spcPts val="3584"/>
              </a:lnSpc>
              <a:buNone/>
            </a:pPr>
            <a:r>
              <a:rPr lang="en-US" sz="3200" b="1" i="0" dirty="0">
                <a:solidFill>
                  <a:srgbClr val="F5F7F6"/>
                </a:solidFill>
                <a:latin typeface="Arial" pitchFamily="34" charset="0"/>
                <a:ea typeface="Arial" pitchFamily="34" charset="-122"/>
                <a:cs typeface="Arial" pitchFamily="34" charset="-120"/>
              </a:rPr>
              <a:t>A QGIS plugin is just a folder of Python files</a:t>
            </a:r>
            <a:endParaRPr lang="en-US" sz="3200" dirty="0"/>
          </a:p>
        </p:txBody>
      </p:sp>
      <p:sp>
        <p:nvSpPr>
          <p:cNvPr id="4" name="Shape 2"/>
          <p:cNvSpPr/>
          <p:nvPr/>
        </p:nvSpPr>
        <p:spPr>
          <a:xfrm>
            <a:off x="815975" y="1890812"/>
            <a:ext cx="10560050" cy="3633093"/>
          </a:xfrm>
          <a:prstGeom prst="roundRect">
            <a:avLst>
              <a:gd name="adj" fmla="val 2709"/>
            </a:avLst>
          </a:prstGeom>
          <a:solidFill>
            <a:srgbClr val="163650"/>
          </a:solidFill>
          <a:ln w="6350">
            <a:solidFill>
              <a:srgbClr val="24506E"/>
            </a:solidFill>
            <a:prstDash val="solid"/>
          </a:ln>
        </p:spPr>
      </p:sp>
      <p:sp>
        <p:nvSpPr>
          <p:cNvPr id="5" name="Text 3"/>
          <p:cNvSpPr/>
          <p:nvPr/>
        </p:nvSpPr>
        <p:spPr>
          <a:xfrm>
            <a:off x="1123950" y="2424609"/>
            <a:ext cx="2877820" cy="292100"/>
          </a:xfrm>
          <a:prstGeom prst="rect">
            <a:avLst/>
          </a:prstGeom>
          <a:noFill/>
          <a:ln/>
        </p:spPr>
        <p:txBody>
          <a:bodyPr wrap="none" lIns="0" tIns="0" rIns="0" bIns="0" rtlCol="0" anchor="t">
            <a:normAutofit/>
          </a:bodyPr>
          <a:lstStyle/>
          <a:p>
            <a:pPr algn="l" indent="0" marL="0">
              <a:lnSpc>
                <a:spcPts val="2100"/>
              </a:lnSpc>
              <a:buNone/>
            </a:pPr>
            <a:r>
              <a:rPr lang="en-US" sz="1500" dirty="0">
                <a:solidFill>
                  <a:srgbClr val="5DB7E0"/>
                </a:solidFill>
                <a:latin typeface="Courier New" pitchFamily="49" charset="0"/>
                <a:ea typeface="Courier New" pitchFamily="49" charset="-122"/>
                <a:cs typeface="Courier New" pitchFamily="49" charset="-120"/>
              </a:rPr>
              <a:t>my_plugin/</a:t>
            </a:r>
            <a:endParaRPr lang="en-US" sz="1500" dirty="0"/>
          </a:p>
        </p:txBody>
      </p:sp>
      <p:sp>
        <p:nvSpPr>
          <p:cNvPr id="6" name="Text 4"/>
          <p:cNvSpPr/>
          <p:nvPr/>
        </p:nvSpPr>
        <p:spPr>
          <a:xfrm>
            <a:off x="4121150" y="2405559"/>
            <a:ext cx="715530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9CCD6"/>
                </a:solidFill>
                <a:latin typeface="Arial" pitchFamily="34" charset="0"/>
                <a:ea typeface="Arial" pitchFamily="34" charset="-122"/>
                <a:cs typeface="Arial" pitchFamily="34" charset="-120"/>
              </a:rPr>
              <a:t>Goes in your QGIS profile's plugins folder</a:t>
            </a:r>
            <a:endParaRPr lang="en-US" sz="1500" dirty="0"/>
          </a:p>
        </p:txBody>
      </p:sp>
      <p:sp>
        <p:nvSpPr>
          <p:cNvPr id="7" name="Text 5"/>
          <p:cNvSpPr/>
          <p:nvPr/>
        </p:nvSpPr>
        <p:spPr>
          <a:xfrm>
            <a:off x="1123950" y="2888159"/>
            <a:ext cx="2877820" cy="292100"/>
          </a:xfrm>
          <a:prstGeom prst="rect">
            <a:avLst/>
          </a:prstGeom>
          <a:noFill/>
          <a:ln/>
        </p:spPr>
        <p:txBody>
          <a:bodyPr wrap="none" lIns="0" tIns="0" rIns="0" bIns="0" rtlCol="0" anchor="t">
            <a:normAutofit/>
          </a:bodyPr>
          <a:lstStyle/>
          <a:p>
            <a:pPr algn="l" indent="0" marL="0">
              <a:lnSpc>
                <a:spcPts val="2100"/>
              </a:lnSpc>
              <a:buNone/>
            </a:pPr>
            <a:r>
              <a:rPr lang="en-US" sz="1500" dirty="0">
                <a:solidFill>
                  <a:srgbClr val="F5F7F6"/>
                </a:solidFill>
                <a:latin typeface="Courier New" pitchFamily="49" charset="0"/>
                <a:ea typeface="Courier New" pitchFamily="49" charset="-122"/>
                <a:cs typeface="Courier New" pitchFamily="49" charset="-120"/>
              </a:rPr>
              <a:t>├── metadata.txt</a:t>
            </a:r>
            <a:endParaRPr lang="en-US" sz="1500" dirty="0"/>
          </a:p>
        </p:txBody>
      </p:sp>
      <p:sp>
        <p:nvSpPr>
          <p:cNvPr id="8" name="Text 6"/>
          <p:cNvSpPr/>
          <p:nvPr/>
        </p:nvSpPr>
        <p:spPr>
          <a:xfrm>
            <a:off x="4121150" y="2869109"/>
            <a:ext cx="715530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9CCD6"/>
                </a:solidFill>
                <a:latin typeface="Arial" pitchFamily="34" charset="0"/>
                <a:ea typeface="Arial" pitchFamily="34" charset="-122"/>
                <a:cs typeface="Arial" pitchFamily="34" charset="-120"/>
              </a:rPr>
              <a:t>Name, version, author, minimum QGIS version</a:t>
            </a:r>
            <a:endParaRPr lang="en-US" sz="1500" dirty="0"/>
          </a:p>
        </p:txBody>
      </p:sp>
      <p:sp>
        <p:nvSpPr>
          <p:cNvPr id="9" name="Text 7"/>
          <p:cNvSpPr/>
          <p:nvPr/>
        </p:nvSpPr>
        <p:spPr>
          <a:xfrm>
            <a:off x="1123950" y="3351709"/>
            <a:ext cx="2877820" cy="292100"/>
          </a:xfrm>
          <a:prstGeom prst="rect">
            <a:avLst/>
          </a:prstGeom>
          <a:noFill/>
          <a:ln/>
        </p:spPr>
        <p:txBody>
          <a:bodyPr wrap="none" lIns="0" tIns="0" rIns="0" bIns="0" rtlCol="0" anchor="t">
            <a:normAutofit/>
          </a:bodyPr>
          <a:lstStyle/>
          <a:p>
            <a:pPr algn="l" indent="0" marL="0">
              <a:lnSpc>
                <a:spcPts val="2100"/>
              </a:lnSpc>
              <a:buNone/>
            </a:pPr>
            <a:r>
              <a:rPr lang="en-US" sz="1500" dirty="0">
                <a:solidFill>
                  <a:srgbClr val="F5F7F6"/>
                </a:solidFill>
                <a:latin typeface="Courier New" pitchFamily="49" charset="0"/>
                <a:ea typeface="Courier New" pitchFamily="49" charset="-122"/>
                <a:cs typeface="Courier New" pitchFamily="49" charset="-120"/>
              </a:rPr>
              <a:t>├── __init__.py</a:t>
            </a:r>
            <a:endParaRPr lang="en-US" sz="1500" dirty="0"/>
          </a:p>
        </p:txBody>
      </p:sp>
      <p:sp>
        <p:nvSpPr>
          <p:cNvPr id="10" name="Text 8"/>
          <p:cNvSpPr/>
          <p:nvPr/>
        </p:nvSpPr>
        <p:spPr>
          <a:xfrm>
            <a:off x="4121150" y="3332659"/>
            <a:ext cx="715530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9CCD6"/>
                </a:solidFill>
                <a:latin typeface="Arial" pitchFamily="34" charset="0"/>
                <a:ea typeface="Arial" pitchFamily="34" charset="-122"/>
                <a:cs typeface="Arial" pitchFamily="34" charset="-120"/>
              </a:rPr>
              <a:t>classFactory(iface): QGIS calls this to load the plugin</a:t>
            </a:r>
            <a:endParaRPr lang="en-US" sz="1500" dirty="0"/>
          </a:p>
        </p:txBody>
      </p:sp>
      <p:sp>
        <p:nvSpPr>
          <p:cNvPr id="11" name="Text 9"/>
          <p:cNvSpPr/>
          <p:nvPr/>
        </p:nvSpPr>
        <p:spPr>
          <a:xfrm>
            <a:off x="1123950" y="3815259"/>
            <a:ext cx="2877820" cy="292100"/>
          </a:xfrm>
          <a:prstGeom prst="rect">
            <a:avLst/>
          </a:prstGeom>
          <a:noFill/>
          <a:ln/>
        </p:spPr>
        <p:txBody>
          <a:bodyPr wrap="none" lIns="0" tIns="0" rIns="0" bIns="0" rtlCol="0" anchor="t">
            <a:normAutofit/>
          </a:bodyPr>
          <a:lstStyle/>
          <a:p>
            <a:pPr algn="l" indent="0" marL="0">
              <a:lnSpc>
                <a:spcPts val="2100"/>
              </a:lnSpc>
              <a:buNone/>
            </a:pPr>
            <a:r>
              <a:rPr lang="en-US" sz="1500" dirty="0">
                <a:solidFill>
                  <a:srgbClr val="F5F7F6"/>
                </a:solidFill>
                <a:latin typeface="Courier New" pitchFamily="49" charset="0"/>
                <a:ea typeface="Courier New" pitchFamily="49" charset="-122"/>
                <a:cs typeface="Courier New" pitchFamily="49" charset="-120"/>
              </a:rPr>
              <a:t>├── my_plugin.py</a:t>
            </a:r>
            <a:endParaRPr lang="en-US" sz="1500" dirty="0"/>
          </a:p>
        </p:txBody>
      </p:sp>
      <p:sp>
        <p:nvSpPr>
          <p:cNvPr id="12" name="Text 10"/>
          <p:cNvSpPr/>
          <p:nvPr/>
        </p:nvSpPr>
        <p:spPr>
          <a:xfrm>
            <a:off x="4121150" y="3796209"/>
            <a:ext cx="715530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9CCD6"/>
                </a:solidFill>
                <a:latin typeface="Arial" pitchFamily="34" charset="0"/>
                <a:ea typeface="Arial" pitchFamily="34" charset="-122"/>
                <a:cs typeface="Arial" pitchFamily="34" charset="-120"/>
              </a:rPr>
              <a:t>initGui() adds buttons, unload() removes them, run() does the work</a:t>
            </a:r>
            <a:endParaRPr lang="en-US" sz="1500" dirty="0"/>
          </a:p>
        </p:txBody>
      </p:sp>
      <p:sp>
        <p:nvSpPr>
          <p:cNvPr id="13" name="Text 11"/>
          <p:cNvSpPr/>
          <p:nvPr/>
        </p:nvSpPr>
        <p:spPr>
          <a:xfrm>
            <a:off x="1123950" y="4278809"/>
            <a:ext cx="2877820" cy="292100"/>
          </a:xfrm>
          <a:prstGeom prst="rect">
            <a:avLst/>
          </a:prstGeom>
          <a:noFill/>
          <a:ln/>
        </p:spPr>
        <p:txBody>
          <a:bodyPr wrap="none" lIns="0" tIns="0" rIns="0" bIns="0" rtlCol="0" anchor="t">
            <a:normAutofit/>
          </a:bodyPr>
          <a:lstStyle/>
          <a:p>
            <a:pPr algn="l" indent="0" marL="0">
              <a:lnSpc>
                <a:spcPts val="2100"/>
              </a:lnSpc>
              <a:buNone/>
            </a:pPr>
            <a:r>
              <a:rPr lang="en-US" sz="1500" dirty="0">
                <a:solidFill>
                  <a:srgbClr val="F5F7F6"/>
                </a:solidFill>
                <a:latin typeface="Courier New" pitchFamily="49" charset="0"/>
                <a:ea typeface="Courier New" pitchFamily="49" charset="-122"/>
                <a:cs typeface="Courier New" pitchFamily="49" charset="-120"/>
              </a:rPr>
              <a:t>├── my_dialog.ui</a:t>
            </a:r>
            <a:endParaRPr lang="en-US" sz="1500" dirty="0"/>
          </a:p>
        </p:txBody>
      </p:sp>
      <p:sp>
        <p:nvSpPr>
          <p:cNvPr id="14" name="Text 12"/>
          <p:cNvSpPr/>
          <p:nvPr/>
        </p:nvSpPr>
        <p:spPr>
          <a:xfrm>
            <a:off x="4121150" y="4259759"/>
            <a:ext cx="715530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9CCD6"/>
                </a:solidFill>
                <a:latin typeface="Arial" pitchFamily="34" charset="0"/>
                <a:ea typeface="Arial" pitchFamily="34" charset="-122"/>
                <a:cs typeface="Arial" pitchFamily="34" charset="-120"/>
              </a:rPr>
              <a:t>The window, laid out in Qt Designer</a:t>
            </a:r>
            <a:endParaRPr lang="en-US" sz="1500" dirty="0"/>
          </a:p>
        </p:txBody>
      </p:sp>
      <p:sp>
        <p:nvSpPr>
          <p:cNvPr id="15" name="Text 13"/>
          <p:cNvSpPr/>
          <p:nvPr/>
        </p:nvSpPr>
        <p:spPr>
          <a:xfrm>
            <a:off x="1123950" y="4742359"/>
            <a:ext cx="2877820" cy="292100"/>
          </a:xfrm>
          <a:prstGeom prst="rect">
            <a:avLst/>
          </a:prstGeom>
          <a:noFill/>
          <a:ln/>
        </p:spPr>
        <p:txBody>
          <a:bodyPr wrap="none" lIns="0" tIns="0" rIns="0" bIns="0" rtlCol="0" anchor="t">
            <a:normAutofit/>
          </a:bodyPr>
          <a:lstStyle/>
          <a:p>
            <a:pPr algn="l" indent="0" marL="0">
              <a:lnSpc>
                <a:spcPts val="2100"/>
              </a:lnSpc>
              <a:buNone/>
            </a:pPr>
            <a:r>
              <a:rPr lang="en-US" sz="1500" dirty="0">
                <a:solidFill>
                  <a:srgbClr val="F5F7F6"/>
                </a:solidFill>
                <a:latin typeface="Courier New" pitchFamily="49" charset="0"/>
                <a:ea typeface="Courier New" pitchFamily="49" charset="-122"/>
                <a:cs typeface="Courier New" pitchFamily="49" charset="-120"/>
              </a:rPr>
              <a:t>└── icon.png</a:t>
            </a:r>
            <a:endParaRPr lang="en-US" sz="1500" dirty="0"/>
          </a:p>
        </p:txBody>
      </p:sp>
      <p:sp>
        <p:nvSpPr>
          <p:cNvPr id="16" name="Text 14"/>
          <p:cNvSpPr/>
          <p:nvPr/>
        </p:nvSpPr>
        <p:spPr>
          <a:xfrm>
            <a:off x="4121150" y="4723309"/>
            <a:ext cx="715530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9CCD6"/>
                </a:solidFill>
                <a:latin typeface="Arial" pitchFamily="34" charset="0"/>
                <a:ea typeface="Arial" pitchFamily="34" charset="-122"/>
                <a:cs typeface="Arial" pitchFamily="34" charset="-120"/>
              </a:rPr>
              <a:t>The toolbar icon</a:t>
            </a:r>
            <a:endParaRPr lang="en-US" sz="1500" dirty="0"/>
          </a:p>
        </p:txBody>
      </p:sp>
      <p:sp>
        <p:nvSpPr>
          <p:cNvPr id="17" name="Text 15"/>
          <p:cNvSpPr/>
          <p:nvPr/>
        </p:nvSpPr>
        <p:spPr>
          <a:xfrm>
            <a:off x="812800" y="58318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CD6"/>
                </a:solidFill>
                <a:latin typeface="Courier New" pitchFamily="49" charset="0"/>
                <a:ea typeface="Courier New" pitchFamily="49" charset="-122"/>
                <a:cs typeface="Courier New" pitchFamily="49" charset="-120"/>
              </a:rPr>
              <a:t>Windows: %APPDATA%\QGIS\QGIS3\profiles\default\python\plugins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6F99"/>
                </a:solidFill>
                <a:latin typeface="Arial" pitchFamily="34" charset="0"/>
                <a:ea typeface="Arial" pitchFamily="34" charset="-122"/>
                <a:cs typeface="Arial" pitchFamily="34" charset="-120"/>
              </a:rPr>
              <a:t>STAGE 3 · OR WRITE IT BY HAND</a:t>
            </a:r>
            <a:endParaRPr lang="en-US" sz="1200" dirty="0"/>
          </a:p>
        </p:txBody>
      </p:sp>
      <p:sp>
        <p:nvSpPr>
          <p:cNvPr id="3" name="Text 1"/>
          <p:cNvSpPr/>
          <p:nvPr>
            <p:ph type="title"/>
          </p:nvPr>
        </p:nvSpPr>
        <p:spPr>
          <a:xfrm>
            <a:off x="812800" y="1127720"/>
            <a:ext cx="10883392" cy="480516"/>
          </a:xfrm>
          <a:prstGeom prst="rect">
            <a:avLst/>
          </a:prstGeom>
          <a:noFill/>
          <a:ln/>
        </p:spPr>
        <p:txBody>
          <a:bodyPr wrap="square" lIns="0" tIns="0" rIns="0" bIns="0" rtlCol="0" anchor="t">
            <a:normAutofit/>
          </a:bodyPr>
          <a:lstStyle/>
          <a:p>
            <a:pPr algn="l" indent="0" marL="0">
              <a:lnSpc>
                <a:spcPts val="3584"/>
              </a:lnSpc>
              <a:buNone/>
            </a:pPr>
            <a:r>
              <a:rPr lang="en-US" sz="3200" b="1" i="0" dirty="0">
                <a:solidFill>
                  <a:srgbClr val="14293A"/>
                </a:solidFill>
                <a:latin typeface="Arial" pitchFamily="34" charset="0"/>
                <a:ea typeface="Arial" pitchFamily="34" charset="-122"/>
                <a:cs typeface="Arial" pitchFamily="34" charset="-120"/>
              </a:rPr>
              <a:t>A working plugin in three small files</a:t>
            </a:r>
            <a:endParaRPr lang="en-US" sz="3200" dirty="0"/>
          </a:p>
        </p:txBody>
      </p:sp>
      <p:sp>
        <p:nvSpPr>
          <p:cNvPr id="4" name="Shape 2"/>
          <p:cNvSpPr/>
          <p:nvPr/>
        </p:nvSpPr>
        <p:spPr>
          <a:xfrm>
            <a:off x="812800" y="1836837"/>
            <a:ext cx="3810000" cy="1290042"/>
          </a:xfrm>
          <a:prstGeom prst="roundRect">
            <a:avLst>
              <a:gd name="adj" fmla="val 7876"/>
            </a:avLst>
          </a:prstGeom>
          <a:solidFill>
            <a:srgbClr val="0F2433"/>
          </a:solidFill>
          <a:ln/>
        </p:spPr>
      </p:sp>
      <p:sp>
        <p:nvSpPr>
          <p:cNvPr id="5" name="Text 3"/>
          <p:cNvSpPr/>
          <p:nvPr/>
        </p:nvSpPr>
        <p:spPr>
          <a:xfrm>
            <a:off x="1016000" y="2040037"/>
            <a:ext cx="350570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DB7E0"/>
                </a:solidFill>
                <a:latin typeface="Courier New" pitchFamily="49" charset="0"/>
                <a:ea typeface="Courier New" pitchFamily="49" charset="-122"/>
                <a:cs typeface="Courier New" pitchFamily="49" charset="-120"/>
              </a:rPr>
              <a:t>__init__.py</a:t>
            </a:r>
            <a:endParaRPr lang="en-US" sz="1200" dirty="0"/>
          </a:p>
        </p:txBody>
      </p:sp>
      <p:sp>
        <p:nvSpPr>
          <p:cNvPr id="6" name="Text 4"/>
          <p:cNvSpPr/>
          <p:nvPr/>
        </p:nvSpPr>
        <p:spPr>
          <a:xfrm>
            <a:off x="1016000" y="2329557"/>
            <a:ext cx="3505708" cy="223441"/>
          </a:xfrm>
          <a:prstGeom prst="rect">
            <a:avLst/>
          </a:prstGeom>
          <a:noFill/>
          <a:ln/>
        </p:spPr>
        <p:txBody>
          <a:bodyPr wrap="none" lIns="0" tIns="0" rIns="0" bIns="0" rtlCol="0" anchor="t">
            <a:normAutofit/>
          </a:bodyPr>
          <a:lstStyle/>
          <a:p>
            <a:pPr algn="l" indent="0" marL="0">
              <a:lnSpc>
                <a:spcPts val="1560"/>
              </a:lnSpc>
              <a:buNone/>
            </a:pPr>
            <a:r>
              <a:rPr lang="en-US" sz="1200" dirty="0">
                <a:solidFill>
                  <a:srgbClr val="5DB7E0"/>
                </a:solidFill>
                <a:latin typeface="Courier New" pitchFamily="49" charset="0"/>
                <a:ea typeface="Courier New" pitchFamily="49" charset="-122"/>
                <a:cs typeface="Courier New" pitchFamily="49" charset="-120"/>
              </a:rPr>
              <a:t>def</a:t>
            </a:r>
            <a:r>
              <a:rPr lang="en-US" sz="1200" dirty="0">
                <a:solidFill>
                  <a:srgbClr val="E6EEF2"/>
                </a:solidFill>
                <a:latin typeface="Courier New" pitchFamily="49" charset="0"/>
                <a:ea typeface="Courier New" pitchFamily="49" charset="-122"/>
                <a:cs typeface="Courier New" pitchFamily="49" charset="-120"/>
              </a:rPr>
              <a:t> classFactory(iface):</a:t>
            </a:r>
            <a:endParaRPr lang="en-US" sz="1200" dirty="0"/>
          </a:p>
        </p:txBody>
      </p:sp>
      <p:sp>
        <p:nvSpPr>
          <p:cNvPr id="7" name="Text 5"/>
          <p:cNvSpPr/>
          <p:nvPr/>
        </p:nvSpPr>
        <p:spPr>
          <a:xfrm>
            <a:off x="1384300" y="2527598"/>
            <a:ext cx="3126359" cy="223441"/>
          </a:xfrm>
          <a:prstGeom prst="rect">
            <a:avLst/>
          </a:prstGeom>
          <a:noFill/>
          <a:ln/>
        </p:spPr>
        <p:txBody>
          <a:bodyPr wrap="none" lIns="0" tIns="0" rIns="0" bIns="0" rtlCol="0" anchor="t">
            <a:normAutofit/>
          </a:bodyPr>
          <a:lstStyle/>
          <a:p>
            <a:pPr algn="l" indent="0" marL="0">
              <a:lnSpc>
                <a:spcPts val="1560"/>
              </a:lnSpc>
              <a:buNone/>
            </a:pPr>
            <a:r>
              <a:rPr lang="en-US" sz="1200" dirty="0">
                <a:solidFill>
                  <a:srgbClr val="5DB7E0"/>
                </a:solidFill>
                <a:latin typeface="Courier New" pitchFamily="49" charset="0"/>
                <a:ea typeface="Courier New" pitchFamily="49" charset="-122"/>
                <a:cs typeface="Courier New" pitchFamily="49" charset="-120"/>
              </a:rPr>
              <a:t>from</a:t>
            </a:r>
            <a:r>
              <a:rPr lang="en-US" sz="1200" dirty="0">
                <a:solidFill>
                  <a:srgbClr val="E6EEF2"/>
                </a:solidFill>
                <a:latin typeface="Courier New" pitchFamily="49" charset="0"/>
                <a:ea typeface="Courier New" pitchFamily="49" charset="-122"/>
                <a:cs typeface="Courier New" pitchFamily="49" charset="-120"/>
              </a:rPr>
              <a:t> .hello </a:t>
            </a:r>
            <a:r>
              <a:rPr lang="en-US" sz="1200" dirty="0">
                <a:solidFill>
                  <a:srgbClr val="5DB7E0"/>
                </a:solidFill>
                <a:latin typeface="Courier New" pitchFamily="49" charset="0"/>
                <a:ea typeface="Courier New" pitchFamily="49" charset="-122"/>
                <a:cs typeface="Courier New" pitchFamily="49" charset="-120"/>
              </a:rPr>
              <a:t>import</a:t>
            </a:r>
            <a:r>
              <a:rPr lang="en-US" sz="1200" dirty="0">
                <a:solidFill>
                  <a:srgbClr val="E6EEF2"/>
                </a:solidFill>
                <a:latin typeface="Courier New" pitchFamily="49" charset="0"/>
                <a:ea typeface="Courier New" pitchFamily="49" charset="-122"/>
                <a:cs typeface="Courier New" pitchFamily="49" charset="-120"/>
              </a:rPr>
              <a:t> HelloPlugin</a:t>
            </a:r>
            <a:endParaRPr lang="en-US" sz="1200" dirty="0"/>
          </a:p>
        </p:txBody>
      </p:sp>
      <p:sp>
        <p:nvSpPr>
          <p:cNvPr id="8" name="Text 6"/>
          <p:cNvSpPr/>
          <p:nvPr/>
        </p:nvSpPr>
        <p:spPr>
          <a:xfrm>
            <a:off x="1384300" y="2725638"/>
            <a:ext cx="3126359" cy="223441"/>
          </a:xfrm>
          <a:prstGeom prst="rect">
            <a:avLst/>
          </a:prstGeom>
          <a:noFill/>
          <a:ln/>
        </p:spPr>
        <p:txBody>
          <a:bodyPr wrap="none" lIns="0" tIns="0" rIns="0" bIns="0" rtlCol="0" anchor="t">
            <a:normAutofit/>
          </a:bodyPr>
          <a:lstStyle/>
          <a:p>
            <a:pPr algn="l" indent="0" marL="0">
              <a:lnSpc>
                <a:spcPts val="1560"/>
              </a:lnSpc>
              <a:buNone/>
            </a:pPr>
            <a:r>
              <a:rPr lang="en-US" sz="1200" dirty="0">
                <a:solidFill>
                  <a:srgbClr val="5DB7E0"/>
                </a:solidFill>
                <a:latin typeface="Courier New" pitchFamily="49" charset="0"/>
                <a:ea typeface="Courier New" pitchFamily="49" charset="-122"/>
                <a:cs typeface="Courier New" pitchFamily="49" charset="-120"/>
              </a:rPr>
              <a:t>return</a:t>
            </a:r>
            <a:r>
              <a:rPr lang="en-US" sz="1200" dirty="0">
                <a:solidFill>
                  <a:srgbClr val="E6EEF2"/>
                </a:solidFill>
                <a:latin typeface="Courier New" pitchFamily="49" charset="0"/>
                <a:ea typeface="Courier New" pitchFamily="49" charset="-122"/>
                <a:cs typeface="Courier New" pitchFamily="49" charset="-120"/>
              </a:rPr>
              <a:t> HelloPlugin(iface)</a:t>
            </a:r>
            <a:endParaRPr lang="en-US" sz="1200" dirty="0"/>
          </a:p>
        </p:txBody>
      </p:sp>
      <p:sp>
        <p:nvSpPr>
          <p:cNvPr id="9" name="Shape 7"/>
          <p:cNvSpPr/>
          <p:nvPr/>
        </p:nvSpPr>
        <p:spPr>
          <a:xfrm>
            <a:off x="812800" y="3330079"/>
            <a:ext cx="3810000" cy="2715121"/>
          </a:xfrm>
          <a:prstGeom prst="roundRect">
            <a:avLst>
              <a:gd name="adj" fmla="val 3742"/>
            </a:avLst>
          </a:prstGeom>
          <a:solidFill>
            <a:srgbClr val="0F2433"/>
          </a:solidFill>
          <a:ln/>
        </p:spPr>
      </p:sp>
      <p:sp>
        <p:nvSpPr>
          <p:cNvPr id="10" name="Text 8"/>
          <p:cNvSpPr/>
          <p:nvPr/>
        </p:nvSpPr>
        <p:spPr>
          <a:xfrm>
            <a:off x="1016000" y="3533279"/>
            <a:ext cx="350570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DB7E0"/>
                </a:solidFill>
                <a:latin typeface="Courier New" pitchFamily="49" charset="0"/>
                <a:ea typeface="Courier New" pitchFamily="49" charset="-122"/>
                <a:cs typeface="Courier New" pitchFamily="49" charset="-120"/>
              </a:rPr>
              <a:t>metadata.txt</a:t>
            </a:r>
            <a:endParaRPr lang="en-US" sz="1200" dirty="0"/>
          </a:p>
        </p:txBody>
      </p:sp>
      <p:sp>
        <p:nvSpPr>
          <p:cNvPr id="11" name="Text 9"/>
          <p:cNvSpPr/>
          <p:nvPr/>
        </p:nvSpPr>
        <p:spPr>
          <a:xfrm>
            <a:off x="1016000" y="3822799"/>
            <a:ext cx="3505708" cy="223441"/>
          </a:xfrm>
          <a:prstGeom prst="rect">
            <a:avLst/>
          </a:prstGeom>
          <a:noFill/>
          <a:ln/>
        </p:spPr>
        <p:txBody>
          <a:bodyPr wrap="none" lIns="0" tIns="0" rIns="0" bIns="0" rtlCol="0" anchor="t">
            <a:normAutofit/>
          </a:bodyPr>
          <a:lstStyle/>
          <a:p>
            <a:pPr algn="l" indent="0" marL="0">
              <a:lnSpc>
                <a:spcPts val="1560"/>
              </a:lnSpc>
              <a:buNone/>
            </a:pPr>
            <a:r>
              <a:rPr lang="en-US" sz="1200" dirty="0">
                <a:solidFill>
                  <a:srgbClr val="F2A35E"/>
                </a:solidFill>
                <a:latin typeface="Courier New" pitchFamily="49" charset="0"/>
                <a:ea typeface="Courier New" pitchFamily="49" charset="-122"/>
                <a:cs typeface="Courier New" pitchFamily="49" charset="-120"/>
              </a:rPr>
              <a:t>[general]</a:t>
            </a:r>
            <a:endParaRPr lang="en-US" sz="1200" dirty="0"/>
          </a:p>
        </p:txBody>
      </p:sp>
      <p:sp>
        <p:nvSpPr>
          <p:cNvPr id="12" name="Text 10"/>
          <p:cNvSpPr/>
          <p:nvPr/>
        </p:nvSpPr>
        <p:spPr>
          <a:xfrm>
            <a:off x="1016000" y="4020840"/>
            <a:ext cx="3505708" cy="223441"/>
          </a:xfrm>
          <a:prstGeom prst="rect">
            <a:avLst/>
          </a:prstGeom>
          <a:noFill/>
          <a:ln/>
        </p:spPr>
        <p:txBody>
          <a:bodyPr wrap="none" lIns="0" tIns="0" rIns="0" bIns="0" rtlCol="0" anchor="t">
            <a:normAutofit/>
          </a:bodyPr>
          <a:lstStyle/>
          <a:p>
            <a:pPr algn="l" indent="0" marL="0">
              <a:lnSpc>
                <a:spcPts val="1560"/>
              </a:lnSpc>
              <a:buNone/>
            </a:pPr>
            <a:r>
              <a:rPr lang="en-US" sz="1200" dirty="0">
                <a:solidFill>
                  <a:srgbClr val="E6EEF2"/>
                </a:solidFill>
                <a:latin typeface="Courier New" pitchFamily="49" charset="0"/>
                <a:ea typeface="Courier New" pitchFamily="49" charset="-122"/>
                <a:cs typeface="Courier New" pitchFamily="49" charset="-120"/>
              </a:rPr>
              <a:t>name=Hello Flood Team</a:t>
            </a:r>
            <a:endParaRPr lang="en-US" sz="1200" dirty="0"/>
          </a:p>
        </p:txBody>
      </p:sp>
      <p:sp>
        <p:nvSpPr>
          <p:cNvPr id="13" name="Text 11"/>
          <p:cNvSpPr/>
          <p:nvPr/>
        </p:nvSpPr>
        <p:spPr>
          <a:xfrm>
            <a:off x="1016000" y="4218880"/>
            <a:ext cx="3505708" cy="223441"/>
          </a:xfrm>
          <a:prstGeom prst="rect">
            <a:avLst/>
          </a:prstGeom>
          <a:noFill/>
          <a:ln/>
        </p:spPr>
        <p:txBody>
          <a:bodyPr wrap="none" lIns="0" tIns="0" rIns="0" bIns="0" rtlCol="0" anchor="t">
            <a:normAutofit/>
          </a:bodyPr>
          <a:lstStyle/>
          <a:p>
            <a:pPr algn="l" indent="0" marL="0">
              <a:lnSpc>
                <a:spcPts val="1560"/>
              </a:lnSpc>
              <a:buNone/>
            </a:pPr>
            <a:r>
              <a:rPr lang="en-US" sz="1200" dirty="0">
                <a:solidFill>
                  <a:srgbClr val="E6EEF2"/>
                </a:solidFill>
                <a:latin typeface="Courier New" pitchFamily="49" charset="0"/>
                <a:ea typeface="Courier New" pitchFamily="49" charset="-122"/>
                <a:cs typeface="Courier New" pitchFamily="49" charset="-120"/>
              </a:rPr>
              <a:t>qgisMinimumVersion=3.22</a:t>
            </a:r>
            <a:endParaRPr lang="en-US" sz="1200" dirty="0"/>
          </a:p>
        </p:txBody>
      </p:sp>
      <p:sp>
        <p:nvSpPr>
          <p:cNvPr id="14" name="Text 12"/>
          <p:cNvSpPr/>
          <p:nvPr/>
        </p:nvSpPr>
        <p:spPr>
          <a:xfrm>
            <a:off x="1016000" y="4416921"/>
            <a:ext cx="3505708" cy="223441"/>
          </a:xfrm>
          <a:prstGeom prst="rect">
            <a:avLst/>
          </a:prstGeom>
          <a:noFill/>
          <a:ln/>
        </p:spPr>
        <p:txBody>
          <a:bodyPr wrap="none" lIns="0" tIns="0" rIns="0" bIns="0" rtlCol="0" anchor="t">
            <a:normAutofit/>
          </a:bodyPr>
          <a:lstStyle/>
          <a:p>
            <a:pPr algn="l" indent="0" marL="0">
              <a:lnSpc>
                <a:spcPts val="1560"/>
              </a:lnSpc>
              <a:buNone/>
            </a:pPr>
            <a:r>
              <a:rPr lang="en-US" sz="1200" dirty="0">
                <a:solidFill>
                  <a:srgbClr val="E6EEF2"/>
                </a:solidFill>
                <a:latin typeface="Courier New" pitchFamily="49" charset="0"/>
                <a:ea typeface="Courier New" pitchFamily="49" charset="-122"/>
                <a:cs typeface="Courier New" pitchFamily="49" charset="-120"/>
              </a:rPr>
              <a:t>description=My first plugin</a:t>
            </a:r>
            <a:endParaRPr lang="en-US" sz="1200" dirty="0"/>
          </a:p>
        </p:txBody>
      </p:sp>
      <p:sp>
        <p:nvSpPr>
          <p:cNvPr id="15" name="Text 13"/>
          <p:cNvSpPr/>
          <p:nvPr/>
        </p:nvSpPr>
        <p:spPr>
          <a:xfrm>
            <a:off x="1016000" y="4614962"/>
            <a:ext cx="3505708" cy="223441"/>
          </a:xfrm>
          <a:prstGeom prst="rect">
            <a:avLst/>
          </a:prstGeom>
          <a:noFill/>
          <a:ln/>
        </p:spPr>
        <p:txBody>
          <a:bodyPr wrap="none" lIns="0" tIns="0" rIns="0" bIns="0" rtlCol="0" anchor="t">
            <a:normAutofit/>
          </a:bodyPr>
          <a:lstStyle/>
          <a:p>
            <a:pPr algn="l" indent="0" marL="0">
              <a:lnSpc>
                <a:spcPts val="1560"/>
              </a:lnSpc>
              <a:buNone/>
            </a:pPr>
            <a:r>
              <a:rPr lang="en-US" sz="1200" dirty="0">
                <a:solidFill>
                  <a:srgbClr val="E6EEF2"/>
                </a:solidFill>
                <a:latin typeface="Courier New" pitchFamily="49" charset="0"/>
                <a:ea typeface="Courier New" pitchFamily="49" charset="-122"/>
                <a:cs typeface="Courier New" pitchFamily="49" charset="-120"/>
              </a:rPr>
              <a:t>version=0.1</a:t>
            </a:r>
            <a:endParaRPr lang="en-US" sz="1200" dirty="0"/>
          </a:p>
        </p:txBody>
      </p:sp>
      <p:sp>
        <p:nvSpPr>
          <p:cNvPr id="16" name="Text 14"/>
          <p:cNvSpPr/>
          <p:nvPr/>
        </p:nvSpPr>
        <p:spPr>
          <a:xfrm>
            <a:off x="1016000" y="4813002"/>
            <a:ext cx="3505708" cy="223441"/>
          </a:xfrm>
          <a:prstGeom prst="rect">
            <a:avLst/>
          </a:prstGeom>
          <a:noFill/>
          <a:ln/>
        </p:spPr>
        <p:txBody>
          <a:bodyPr wrap="none" lIns="0" tIns="0" rIns="0" bIns="0" rtlCol="0" anchor="t">
            <a:normAutofit/>
          </a:bodyPr>
          <a:lstStyle/>
          <a:p>
            <a:pPr algn="l" indent="0" marL="0">
              <a:lnSpc>
                <a:spcPts val="1560"/>
              </a:lnSpc>
              <a:buNone/>
            </a:pPr>
            <a:r>
              <a:rPr lang="en-US" sz="1200" dirty="0">
                <a:solidFill>
                  <a:srgbClr val="E6EEF2"/>
                </a:solidFill>
                <a:latin typeface="Courier New" pitchFamily="49" charset="0"/>
                <a:ea typeface="Courier New" pitchFamily="49" charset="-122"/>
                <a:cs typeface="Courier New" pitchFamily="49" charset="-120"/>
              </a:rPr>
              <a:t>author=Your Name</a:t>
            </a:r>
            <a:endParaRPr lang="en-US" sz="1200" dirty="0"/>
          </a:p>
        </p:txBody>
      </p:sp>
      <p:sp>
        <p:nvSpPr>
          <p:cNvPr id="17" name="Text 15"/>
          <p:cNvSpPr/>
          <p:nvPr/>
        </p:nvSpPr>
        <p:spPr>
          <a:xfrm>
            <a:off x="1016000" y="5011043"/>
            <a:ext cx="3505708" cy="223441"/>
          </a:xfrm>
          <a:prstGeom prst="rect">
            <a:avLst/>
          </a:prstGeom>
          <a:noFill/>
          <a:ln/>
        </p:spPr>
        <p:txBody>
          <a:bodyPr wrap="none" lIns="0" tIns="0" rIns="0" bIns="0" rtlCol="0" anchor="t">
            <a:normAutofit/>
          </a:bodyPr>
          <a:lstStyle/>
          <a:p>
            <a:pPr algn="l" indent="0" marL="0">
              <a:lnSpc>
                <a:spcPts val="1560"/>
              </a:lnSpc>
              <a:buNone/>
            </a:pPr>
            <a:r>
              <a:rPr lang="en-US" sz="1200" dirty="0">
                <a:solidFill>
                  <a:srgbClr val="E6EEF2"/>
                </a:solidFill>
                <a:latin typeface="Courier New" pitchFamily="49" charset="0"/>
                <a:ea typeface="Courier New" pitchFamily="49" charset="-122"/>
                <a:cs typeface="Courier New" pitchFamily="49" charset="-120"/>
              </a:rPr>
              <a:t>email=you@example.com</a:t>
            </a:r>
            <a:endParaRPr lang="en-US" sz="1200" dirty="0"/>
          </a:p>
        </p:txBody>
      </p:sp>
      <p:sp>
        <p:nvSpPr>
          <p:cNvPr id="18" name="Shape 16"/>
          <p:cNvSpPr/>
          <p:nvPr/>
        </p:nvSpPr>
        <p:spPr>
          <a:xfrm>
            <a:off x="4826000" y="1836837"/>
            <a:ext cx="6553200" cy="4208363"/>
          </a:xfrm>
          <a:prstGeom prst="roundRect">
            <a:avLst>
              <a:gd name="adj" fmla="val 2414"/>
            </a:avLst>
          </a:prstGeom>
          <a:solidFill>
            <a:srgbClr val="0F2433"/>
          </a:solidFill>
          <a:ln/>
        </p:spPr>
      </p:sp>
      <p:sp>
        <p:nvSpPr>
          <p:cNvPr id="19" name="Text 17"/>
          <p:cNvSpPr/>
          <p:nvPr/>
        </p:nvSpPr>
        <p:spPr>
          <a:xfrm>
            <a:off x="5029200" y="2040037"/>
            <a:ext cx="633120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DB7E0"/>
                </a:solidFill>
                <a:latin typeface="Courier New" pitchFamily="49" charset="0"/>
                <a:ea typeface="Courier New" pitchFamily="49" charset="-122"/>
                <a:cs typeface="Courier New" pitchFamily="49" charset="-120"/>
              </a:rPr>
              <a:t>hello.py</a:t>
            </a:r>
            <a:endParaRPr lang="en-US" sz="1200" dirty="0"/>
          </a:p>
        </p:txBody>
      </p:sp>
      <p:sp>
        <p:nvSpPr>
          <p:cNvPr id="20" name="Text 18"/>
          <p:cNvSpPr/>
          <p:nvPr/>
        </p:nvSpPr>
        <p:spPr>
          <a:xfrm>
            <a:off x="5029200" y="2329557"/>
            <a:ext cx="6331204" cy="223441"/>
          </a:xfrm>
          <a:prstGeom prst="rect">
            <a:avLst/>
          </a:prstGeom>
          <a:noFill/>
          <a:ln/>
        </p:spPr>
        <p:txBody>
          <a:bodyPr wrap="none" lIns="0" tIns="0" rIns="0" bIns="0" rtlCol="0" anchor="t">
            <a:normAutofit/>
          </a:bodyPr>
          <a:lstStyle/>
          <a:p>
            <a:pPr algn="l" indent="0" marL="0">
              <a:lnSpc>
                <a:spcPts val="1560"/>
              </a:lnSpc>
              <a:buNone/>
            </a:pPr>
            <a:r>
              <a:rPr lang="en-US" sz="1200" dirty="0">
                <a:solidFill>
                  <a:srgbClr val="5DB7E0"/>
                </a:solidFill>
                <a:latin typeface="Courier New" pitchFamily="49" charset="0"/>
                <a:ea typeface="Courier New" pitchFamily="49" charset="-122"/>
                <a:cs typeface="Courier New" pitchFamily="49" charset="-120"/>
              </a:rPr>
              <a:t>from</a:t>
            </a:r>
            <a:r>
              <a:rPr lang="en-US" sz="1200" dirty="0">
                <a:solidFill>
                  <a:srgbClr val="E6EEF2"/>
                </a:solidFill>
                <a:latin typeface="Courier New" pitchFamily="49" charset="0"/>
                <a:ea typeface="Courier New" pitchFamily="49" charset="-122"/>
                <a:cs typeface="Courier New" pitchFamily="49" charset="-120"/>
              </a:rPr>
              <a:t> qgis.PyQt.QtWidgets </a:t>
            </a:r>
            <a:r>
              <a:rPr lang="en-US" sz="1200" dirty="0">
                <a:solidFill>
                  <a:srgbClr val="5DB7E0"/>
                </a:solidFill>
                <a:latin typeface="Courier New" pitchFamily="49" charset="0"/>
                <a:ea typeface="Courier New" pitchFamily="49" charset="-122"/>
                <a:cs typeface="Courier New" pitchFamily="49" charset="-120"/>
              </a:rPr>
              <a:t>import</a:t>
            </a:r>
            <a:r>
              <a:rPr lang="en-US" sz="1200" dirty="0">
                <a:solidFill>
                  <a:srgbClr val="E6EEF2"/>
                </a:solidFill>
                <a:latin typeface="Courier New" pitchFamily="49" charset="0"/>
                <a:ea typeface="Courier New" pitchFamily="49" charset="-122"/>
                <a:cs typeface="Courier New" pitchFamily="49" charset="-120"/>
              </a:rPr>
              <a:t> QAction, QMessageBox</a:t>
            </a:r>
            <a:endParaRPr lang="en-US" sz="1200" dirty="0"/>
          </a:p>
        </p:txBody>
      </p:sp>
      <p:sp>
        <p:nvSpPr>
          <p:cNvPr id="21" name="Text 19"/>
          <p:cNvSpPr/>
          <p:nvPr/>
        </p:nvSpPr>
        <p:spPr>
          <a:xfrm>
            <a:off x="5029200" y="2629198"/>
            <a:ext cx="6331204" cy="223441"/>
          </a:xfrm>
          <a:prstGeom prst="rect">
            <a:avLst/>
          </a:prstGeom>
          <a:noFill/>
          <a:ln/>
        </p:spPr>
        <p:txBody>
          <a:bodyPr wrap="none" lIns="0" tIns="0" rIns="0" bIns="0" rtlCol="0" anchor="t">
            <a:normAutofit/>
          </a:bodyPr>
          <a:lstStyle/>
          <a:p>
            <a:pPr algn="l" indent="0" marL="0">
              <a:lnSpc>
                <a:spcPts val="1560"/>
              </a:lnSpc>
              <a:buNone/>
            </a:pPr>
            <a:r>
              <a:rPr lang="en-US" sz="1200" dirty="0">
                <a:solidFill>
                  <a:srgbClr val="5DB7E0"/>
                </a:solidFill>
                <a:latin typeface="Courier New" pitchFamily="49" charset="0"/>
                <a:ea typeface="Courier New" pitchFamily="49" charset="-122"/>
                <a:cs typeface="Courier New" pitchFamily="49" charset="-120"/>
              </a:rPr>
              <a:t>class</a:t>
            </a:r>
            <a:r>
              <a:rPr lang="en-US" sz="1200" dirty="0">
                <a:solidFill>
                  <a:srgbClr val="E6EEF2"/>
                </a:solidFill>
                <a:latin typeface="Courier New" pitchFamily="49" charset="0"/>
                <a:ea typeface="Courier New" pitchFamily="49" charset="-122"/>
                <a:cs typeface="Courier New" pitchFamily="49" charset="-120"/>
              </a:rPr>
              <a:t> HelloPlugin:</a:t>
            </a:r>
            <a:endParaRPr lang="en-US" sz="1200" dirty="0"/>
          </a:p>
        </p:txBody>
      </p:sp>
      <p:sp>
        <p:nvSpPr>
          <p:cNvPr id="22" name="Text 20"/>
          <p:cNvSpPr/>
          <p:nvPr/>
        </p:nvSpPr>
        <p:spPr>
          <a:xfrm>
            <a:off x="5397500" y="2827238"/>
            <a:ext cx="5951855" cy="223441"/>
          </a:xfrm>
          <a:prstGeom prst="rect">
            <a:avLst/>
          </a:prstGeom>
          <a:noFill/>
          <a:ln/>
        </p:spPr>
        <p:txBody>
          <a:bodyPr wrap="none" lIns="0" tIns="0" rIns="0" bIns="0" rtlCol="0" anchor="t">
            <a:normAutofit/>
          </a:bodyPr>
          <a:lstStyle/>
          <a:p>
            <a:pPr algn="l" indent="0" marL="0">
              <a:lnSpc>
                <a:spcPts val="1560"/>
              </a:lnSpc>
              <a:buNone/>
            </a:pPr>
            <a:r>
              <a:rPr lang="en-US" sz="1200" dirty="0">
                <a:solidFill>
                  <a:srgbClr val="5DB7E0"/>
                </a:solidFill>
                <a:latin typeface="Courier New" pitchFamily="49" charset="0"/>
                <a:ea typeface="Courier New" pitchFamily="49" charset="-122"/>
                <a:cs typeface="Courier New" pitchFamily="49" charset="-120"/>
              </a:rPr>
              <a:t>def</a:t>
            </a:r>
            <a:r>
              <a:rPr lang="en-US" sz="1200" dirty="0">
                <a:solidFill>
                  <a:srgbClr val="E6EEF2"/>
                </a:solidFill>
                <a:latin typeface="Courier New" pitchFamily="49" charset="0"/>
                <a:ea typeface="Courier New" pitchFamily="49" charset="-122"/>
                <a:cs typeface="Courier New" pitchFamily="49" charset="-120"/>
              </a:rPr>
              <a:t> __init__(self, iface):</a:t>
            </a:r>
            <a:endParaRPr lang="en-US" sz="1200" dirty="0"/>
          </a:p>
        </p:txBody>
      </p:sp>
      <p:sp>
        <p:nvSpPr>
          <p:cNvPr id="23" name="Text 21"/>
          <p:cNvSpPr/>
          <p:nvPr/>
        </p:nvSpPr>
        <p:spPr>
          <a:xfrm>
            <a:off x="5759450" y="3025279"/>
            <a:ext cx="5579047" cy="223441"/>
          </a:xfrm>
          <a:prstGeom prst="rect">
            <a:avLst/>
          </a:prstGeom>
          <a:noFill/>
          <a:ln/>
        </p:spPr>
        <p:txBody>
          <a:bodyPr wrap="none" lIns="0" tIns="0" rIns="0" bIns="0" rtlCol="0" anchor="t">
            <a:normAutofit/>
          </a:bodyPr>
          <a:lstStyle/>
          <a:p>
            <a:pPr algn="l" indent="0" marL="0">
              <a:lnSpc>
                <a:spcPts val="1560"/>
              </a:lnSpc>
              <a:buNone/>
            </a:pPr>
            <a:r>
              <a:rPr lang="en-US" sz="1200" dirty="0">
                <a:solidFill>
                  <a:srgbClr val="E6EEF2"/>
                </a:solidFill>
                <a:latin typeface="Courier New" pitchFamily="49" charset="0"/>
                <a:ea typeface="Courier New" pitchFamily="49" charset="-122"/>
                <a:cs typeface="Courier New" pitchFamily="49" charset="-120"/>
              </a:rPr>
              <a:t>self.iface = iface</a:t>
            </a:r>
            <a:endParaRPr lang="en-US" sz="1200" dirty="0"/>
          </a:p>
        </p:txBody>
      </p:sp>
      <p:sp>
        <p:nvSpPr>
          <p:cNvPr id="24" name="Text 22"/>
          <p:cNvSpPr/>
          <p:nvPr/>
        </p:nvSpPr>
        <p:spPr>
          <a:xfrm>
            <a:off x="5397500" y="3324920"/>
            <a:ext cx="5951855" cy="223441"/>
          </a:xfrm>
          <a:prstGeom prst="rect">
            <a:avLst/>
          </a:prstGeom>
          <a:noFill/>
          <a:ln/>
        </p:spPr>
        <p:txBody>
          <a:bodyPr wrap="none" lIns="0" tIns="0" rIns="0" bIns="0" rtlCol="0" anchor="t">
            <a:normAutofit/>
          </a:bodyPr>
          <a:lstStyle/>
          <a:p>
            <a:pPr algn="l" indent="0" marL="0">
              <a:lnSpc>
                <a:spcPts val="1560"/>
              </a:lnSpc>
              <a:buNone/>
            </a:pPr>
            <a:r>
              <a:rPr lang="en-US" sz="1200" dirty="0">
                <a:solidFill>
                  <a:srgbClr val="5DB7E0"/>
                </a:solidFill>
                <a:latin typeface="Courier New" pitchFamily="49" charset="0"/>
                <a:ea typeface="Courier New" pitchFamily="49" charset="-122"/>
                <a:cs typeface="Courier New" pitchFamily="49" charset="-120"/>
              </a:rPr>
              <a:t>def</a:t>
            </a:r>
            <a:r>
              <a:rPr lang="en-US" sz="1200" dirty="0">
                <a:solidFill>
                  <a:srgbClr val="E6EEF2"/>
                </a:solidFill>
                <a:latin typeface="Courier New" pitchFamily="49" charset="0"/>
                <a:ea typeface="Courier New" pitchFamily="49" charset="-122"/>
                <a:cs typeface="Courier New" pitchFamily="49" charset="-120"/>
              </a:rPr>
              <a:t> initGui(self):</a:t>
            </a:r>
            <a:endParaRPr lang="en-US" sz="1200" dirty="0"/>
          </a:p>
        </p:txBody>
      </p:sp>
      <p:sp>
        <p:nvSpPr>
          <p:cNvPr id="25" name="Text 23"/>
          <p:cNvSpPr/>
          <p:nvPr/>
        </p:nvSpPr>
        <p:spPr>
          <a:xfrm>
            <a:off x="5759450" y="3522960"/>
            <a:ext cx="5579047" cy="223441"/>
          </a:xfrm>
          <a:prstGeom prst="rect">
            <a:avLst/>
          </a:prstGeom>
          <a:noFill/>
          <a:ln/>
        </p:spPr>
        <p:txBody>
          <a:bodyPr wrap="none" lIns="0" tIns="0" rIns="0" bIns="0" rtlCol="0" anchor="t">
            <a:normAutofit/>
          </a:bodyPr>
          <a:lstStyle/>
          <a:p>
            <a:pPr algn="l" indent="0" marL="0">
              <a:lnSpc>
                <a:spcPts val="1560"/>
              </a:lnSpc>
              <a:buNone/>
            </a:pPr>
            <a:r>
              <a:rPr lang="en-US" sz="1200" dirty="0">
                <a:solidFill>
                  <a:srgbClr val="E6EEF2"/>
                </a:solidFill>
                <a:latin typeface="Courier New" pitchFamily="49" charset="0"/>
                <a:ea typeface="Courier New" pitchFamily="49" charset="-122"/>
                <a:cs typeface="Courier New" pitchFamily="49" charset="-120"/>
              </a:rPr>
              <a:t>self.action = QAction(</a:t>
            </a:r>
            <a:r>
              <a:rPr lang="en-US" sz="1200" dirty="0">
                <a:solidFill>
                  <a:srgbClr val="F2A35E"/>
                </a:solidFill>
                <a:latin typeface="Courier New" pitchFamily="49" charset="0"/>
                <a:ea typeface="Courier New" pitchFamily="49" charset="-122"/>
                <a:cs typeface="Courier New" pitchFamily="49" charset="-120"/>
              </a:rPr>
              <a:t>"Hello"</a:t>
            </a:r>
            <a:r>
              <a:rPr lang="en-US" sz="1200" dirty="0">
                <a:solidFill>
                  <a:srgbClr val="E6EEF2"/>
                </a:solidFill>
                <a:latin typeface="Courier New" pitchFamily="49" charset="0"/>
                <a:ea typeface="Courier New" pitchFamily="49" charset="-122"/>
                <a:cs typeface="Courier New" pitchFamily="49" charset="-120"/>
              </a:rPr>
              <a:t>, self.iface.mainWindow())</a:t>
            </a:r>
            <a:endParaRPr lang="en-US" sz="1200" dirty="0"/>
          </a:p>
        </p:txBody>
      </p:sp>
      <p:sp>
        <p:nvSpPr>
          <p:cNvPr id="26" name="Text 24"/>
          <p:cNvSpPr/>
          <p:nvPr/>
        </p:nvSpPr>
        <p:spPr>
          <a:xfrm>
            <a:off x="5759450" y="3721001"/>
            <a:ext cx="5579047" cy="223441"/>
          </a:xfrm>
          <a:prstGeom prst="rect">
            <a:avLst/>
          </a:prstGeom>
          <a:noFill/>
          <a:ln/>
        </p:spPr>
        <p:txBody>
          <a:bodyPr wrap="none" lIns="0" tIns="0" rIns="0" bIns="0" rtlCol="0" anchor="t">
            <a:normAutofit/>
          </a:bodyPr>
          <a:lstStyle/>
          <a:p>
            <a:pPr algn="l" indent="0" marL="0">
              <a:lnSpc>
                <a:spcPts val="1560"/>
              </a:lnSpc>
              <a:buNone/>
            </a:pPr>
            <a:r>
              <a:rPr lang="en-US" sz="1200" dirty="0">
                <a:solidFill>
                  <a:srgbClr val="E6EEF2"/>
                </a:solidFill>
                <a:latin typeface="Courier New" pitchFamily="49" charset="0"/>
                <a:ea typeface="Courier New" pitchFamily="49" charset="-122"/>
                <a:cs typeface="Courier New" pitchFamily="49" charset="-120"/>
              </a:rPr>
              <a:t>self.action.triggered.connect(self.run)</a:t>
            </a:r>
            <a:endParaRPr lang="en-US" sz="1200" dirty="0"/>
          </a:p>
        </p:txBody>
      </p:sp>
      <p:sp>
        <p:nvSpPr>
          <p:cNvPr id="27" name="Text 25"/>
          <p:cNvSpPr/>
          <p:nvPr/>
        </p:nvSpPr>
        <p:spPr>
          <a:xfrm>
            <a:off x="5759450" y="3919041"/>
            <a:ext cx="5579047" cy="223441"/>
          </a:xfrm>
          <a:prstGeom prst="rect">
            <a:avLst/>
          </a:prstGeom>
          <a:noFill/>
          <a:ln/>
        </p:spPr>
        <p:txBody>
          <a:bodyPr wrap="none" lIns="0" tIns="0" rIns="0" bIns="0" rtlCol="0" anchor="t">
            <a:normAutofit/>
          </a:bodyPr>
          <a:lstStyle/>
          <a:p>
            <a:pPr algn="l" indent="0" marL="0">
              <a:lnSpc>
                <a:spcPts val="1560"/>
              </a:lnSpc>
              <a:buNone/>
            </a:pPr>
            <a:r>
              <a:rPr lang="en-US" sz="1200" dirty="0">
                <a:solidFill>
                  <a:srgbClr val="E6EEF2"/>
                </a:solidFill>
                <a:latin typeface="Courier New" pitchFamily="49" charset="0"/>
                <a:ea typeface="Courier New" pitchFamily="49" charset="-122"/>
                <a:cs typeface="Courier New" pitchFamily="49" charset="-120"/>
              </a:rPr>
              <a:t>self.iface.addToolBarIcon(self.action)</a:t>
            </a:r>
            <a:endParaRPr lang="en-US" sz="1200" dirty="0"/>
          </a:p>
        </p:txBody>
      </p:sp>
      <p:sp>
        <p:nvSpPr>
          <p:cNvPr id="28" name="Text 26"/>
          <p:cNvSpPr/>
          <p:nvPr/>
        </p:nvSpPr>
        <p:spPr>
          <a:xfrm>
            <a:off x="5397500" y="4218682"/>
            <a:ext cx="5951855" cy="223441"/>
          </a:xfrm>
          <a:prstGeom prst="rect">
            <a:avLst/>
          </a:prstGeom>
          <a:noFill/>
          <a:ln/>
        </p:spPr>
        <p:txBody>
          <a:bodyPr wrap="none" lIns="0" tIns="0" rIns="0" bIns="0" rtlCol="0" anchor="t">
            <a:normAutofit/>
          </a:bodyPr>
          <a:lstStyle/>
          <a:p>
            <a:pPr algn="l" indent="0" marL="0">
              <a:lnSpc>
                <a:spcPts val="1560"/>
              </a:lnSpc>
              <a:buNone/>
            </a:pPr>
            <a:r>
              <a:rPr lang="en-US" sz="1200" dirty="0">
                <a:solidFill>
                  <a:srgbClr val="5DB7E0"/>
                </a:solidFill>
                <a:latin typeface="Courier New" pitchFamily="49" charset="0"/>
                <a:ea typeface="Courier New" pitchFamily="49" charset="-122"/>
                <a:cs typeface="Courier New" pitchFamily="49" charset="-120"/>
              </a:rPr>
              <a:t>def</a:t>
            </a:r>
            <a:r>
              <a:rPr lang="en-US" sz="1200" dirty="0">
                <a:solidFill>
                  <a:srgbClr val="E6EEF2"/>
                </a:solidFill>
                <a:latin typeface="Courier New" pitchFamily="49" charset="0"/>
                <a:ea typeface="Courier New" pitchFamily="49" charset="-122"/>
                <a:cs typeface="Courier New" pitchFamily="49" charset="-120"/>
              </a:rPr>
              <a:t> unload(self):</a:t>
            </a:r>
            <a:endParaRPr lang="en-US" sz="1200" dirty="0"/>
          </a:p>
        </p:txBody>
      </p:sp>
      <p:sp>
        <p:nvSpPr>
          <p:cNvPr id="29" name="Text 27"/>
          <p:cNvSpPr/>
          <p:nvPr/>
        </p:nvSpPr>
        <p:spPr>
          <a:xfrm>
            <a:off x="5759450" y="4416723"/>
            <a:ext cx="5579047" cy="223441"/>
          </a:xfrm>
          <a:prstGeom prst="rect">
            <a:avLst/>
          </a:prstGeom>
          <a:noFill/>
          <a:ln/>
        </p:spPr>
        <p:txBody>
          <a:bodyPr wrap="none" lIns="0" tIns="0" rIns="0" bIns="0" rtlCol="0" anchor="t">
            <a:normAutofit/>
          </a:bodyPr>
          <a:lstStyle/>
          <a:p>
            <a:pPr algn="l" indent="0" marL="0">
              <a:lnSpc>
                <a:spcPts val="1560"/>
              </a:lnSpc>
              <a:buNone/>
            </a:pPr>
            <a:r>
              <a:rPr lang="en-US" sz="1200" dirty="0">
                <a:solidFill>
                  <a:srgbClr val="E6EEF2"/>
                </a:solidFill>
                <a:latin typeface="Courier New" pitchFamily="49" charset="0"/>
                <a:ea typeface="Courier New" pitchFamily="49" charset="-122"/>
                <a:cs typeface="Courier New" pitchFamily="49" charset="-120"/>
              </a:rPr>
              <a:t>self.iface.removeToolBarIcon(self.action)</a:t>
            </a:r>
            <a:endParaRPr lang="en-US" sz="1200" dirty="0"/>
          </a:p>
        </p:txBody>
      </p:sp>
      <p:sp>
        <p:nvSpPr>
          <p:cNvPr id="30" name="Text 28"/>
          <p:cNvSpPr/>
          <p:nvPr/>
        </p:nvSpPr>
        <p:spPr>
          <a:xfrm>
            <a:off x="5397500" y="4716363"/>
            <a:ext cx="5951855" cy="223441"/>
          </a:xfrm>
          <a:prstGeom prst="rect">
            <a:avLst/>
          </a:prstGeom>
          <a:noFill/>
          <a:ln/>
        </p:spPr>
        <p:txBody>
          <a:bodyPr wrap="none" lIns="0" tIns="0" rIns="0" bIns="0" rtlCol="0" anchor="t">
            <a:normAutofit/>
          </a:bodyPr>
          <a:lstStyle/>
          <a:p>
            <a:pPr algn="l" indent="0" marL="0">
              <a:lnSpc>
                <a:spcPts val="1560"/>
              </a:lnSpc>
              <a:buNone/>
            </a:pPr>
            <a:r>
              <a:rPr lang="en-US" sz="1200" dirty="0">
                <a:solidFill>
                  <a:srgbClr val="5DB7E0"/>
                </a:solidFill>
                <a:latin typeface="Courier New" pitchFamily="49" charset="0"/>
                <a:ea typeface="Courier New" pitchFamily="49" charset="-122"/>
                <a:cs typeface="Courier New" pitchFamily="49" charset="-120"/>
              </a:rPr>
              <a:t>def</a:t>
            </a:r>
            <a:r>
              <a:rPr lang="en-US" sz="1200" dirty="0">
                <a:solidFill>
                  <a:srgbClr val="E6EEF2"/>
                </a:solidFill>
                <a:latin typeface="Courier New" pitchFamily="49" charset="0"/>
                <a:ea typeface="Courier New" pitchFamily="49" charset="-122"/>
                <a:cs typeface="Courier New" pitchFamily="49" charset="-120"/>
              </a:rPr>
              <a:t> run(self):</a:t>
            </a:r>
            <a:endParaRPr lang="en-US" sz="1200" dirty="0"/>
          </a:p>
        </p:txBody>
      </p:sp>
      <p:sp>
        <p:nvSpPr>
          <p:cNvPr id="31" name="Text 29"/>
          <p:cNvSpPr/>
          <p:nvPr/>
        </p:nvSpPr>
        <p:spPr>
          <a:xfrm>
            <a:off x="5759450" y="4914404"/>
            <a:ext cx="5579047" cy="223441"/>
          </a:xfrm>
          <a:prstGeom prst="rect">
            <a:avLst/>
          </a:prstGeom>
          <a:noFill/>
          <a:ln/>
        </p:spPr>
        <p:txBody>
          <a:bodyPr wrap="none" lIns="0" tIns="0" rIns="0" bIns="0" rtlCol="0" anchor="t">
            <a:normAutofit/>
          </a:bodyPr>
          <a:lstStyle/>
          <a:p>
            <a:pPr algn="l" indent="0" marL="0">
              <a:lnSpc>
                <a:spcPts val="1560"/>
              </a:lnSpc>
              <a:buNone/>
            </a:pPr>
            <a:r>
              <a:rPr lang="en-US" sz="1200" dirty="0">
                <a:solidFill>
                  <a:srgbClr val="E6EEF2"/>
                </a:solidFill>
                <a:latin typeface="Courier New" pitchFamily="49" charset="0"/>
                <a:ea typeface="Courier New" pitchFamily="49" charset="-122"/>
                <a:cs typeface="Courier New" pitchFamily="49" charset="-120"/>
              </a:rPr>
              <a:t>layer = self.iface.activeLayer()</a:t>
            </a:r>
            <a:endParaRPr lang="en-US" sz="1200" dirty="0"/>
          </a:p>
        </p:txBody>
      </p:sp>
      <p:sp>
        <p:nvSpPr>
          <p:cNvPr id="32" name="Text 30"/>
          <p:cNvSpPr/>
          <p:nvPr/>
        </p:nvSpPr>
        <p:spPr>
          <a:xfrm>
            <a:off x="5759450" y="5112445"/>
            <a:ext cx="5579047" cy="223441"/>
          </a:xfrm>
          <a:prstGeom prst="rect">
            <a:avLst/>
          </a:prstGeom>
          <a:noFill/>
          <a:ln/>
        </p:spPr>
        <p:txBody>
          <a:bodyPr wrap="none" lIns="0" tIns="0" rIns="0" bIns="0" rtlCol="0" anchor="t">
            <a:normAutofit/>
          </a:bodyPr>
          <a:lstStyle/>
          <a:p>
            <a:pPr algn="l" indent="0" marL="0">
              <a:lnSpc>
                <a:spcPts val="1560"/>
              </a:lnSpc>
              <a:buNone/>
            </a:pPr>
            <a:r>
              <a:rPr lang="en-US" sz="1200" dirty="0">
                <a:solidFill>
                  <a:srgbClr val="E6EEF2"/>
                </a:solidFill>
                <a:latin typeface="Courier New" pitchFamily="49" charset="0"/>
                <a:ea typeface="Courier New" pitchFamily="49" charset="-122"/>
                <a:cs typeface="Courier New" pitchFamily="49" charset="-120"/>
              </a:rPr>
              <a:t>name = layer.name() </a:t>
            </a:r>
            <a:r>
              <a:rPr lang="en-US" sz="1200" dirty="0">
                <a:solidFill>
                  <a:srgbClr val="5DB7E0"/>
                </a:solidFill>
                <a:latin typeface="Courier New" pitchFamily="49" charset="0"/>
                <a:ea typeface="Courier New" pitchFamily="49" charset="-122"/>
                <a:cs typeface="Courier New" pitchFamily="49" charset="-120"/>
              </a:rPr>
              <a:t>if</a:t>
            </a:r>
            <a:r>
              <a:rPr lang="en-US" sz="1200" dirty="0">
                <a:solidFill>
                  <a:srgbClr val="E6EEF2"/>
                </a:solidFill>
                <a:latin typeface="Courier New" pitchFamily="49" charset="0"/>
                <a:ea typeface="Courier New" pitchFamily="49" charset="-122"/>
                <a:cs typeface="Courier New" pitchFamily="49" charset="-120"/>
              </a:rPr>
              <a:t> layer </a:t>
            </a:r>
            <a:r>
              <a:rPr lang="en-US" sz="1200" dirty="0">
                <a:solidFill>
                  <a:srgbClr val="5DB7E0"/>
                </a:solidFill>
                <a:latin typeface="Courier New" pitchFamily="49" charset="0"/>
                <a:ea typeface="Courier New" pitchFamily="49" charset="-122"/>
                <a:cs typeface="Courier New" pitchFamily="49" charset="-120"/>
              </a:rPr>
              <a:t>else</a:t>
            </a:r>
            <a:r>
              <a:rPr lang="en-US" sz="1200" dirty="0">
                <a:solidFill>
                  <a:srgbClr val="E6EEF2"/>
                </a:solidFill>
                <a:latin typeface="Courier New" pitchFamily="49" charset="0"/>
                <a:ea typeface="Courier New" pitchFamily="49" charset="-122"/>
                <a:cs typeface="Courier New" pitchFamily="49" charset="-120"/>
              </a:rPr>
              <a:t> </a:t>
            </a:r>
            <a:r>
              <a:rPr lang="en-US" sz="1200" dirty="0">
                <a:solidFill>
                  <a:srgbClr val="F2A35E"/>
                </a:solidFill>
                <a:latin typeface="Courier New" pitchFamily="49" charset="0"/>
                <a:ea typeface="Courier New" pitchFamily="49" charset="-122"/>
                <a:cs typeface="Courier New" pitchFamily="49" charset="-120"/>
              </a:rPr>
              <a:t>"none"</a:t>
            </a:r>
            <a:endParaRPr lang="en-US" sz="1200" dirty="0"/>
          </a:p>
        </p:txBody>
      </p:sp>
      <p:sp>
        <p:nvSpPr>
          <p:cNvPr id="33" name="Text 31"/>
          <p:cNvSpPr/>
          <p:nvPr/>
        </p:nvSpPr>
        <p:spPr>
          <a:xfrm>
            <a:off x="5759450" y="5310485"/>
            <a:ext cx="5579047" cy="223441"/>
          </a:xfrm>
          <a:prstGeom prst="rect">
            <a:avLst/>
          </a:prstGeom>
          <a:noFill/>
          <a:ln/>
        </p:spPr>
        <p:txBody>
          <a:bodyPr wrap="none" lIns="0" tIns="0" rIns="0" bIns="0" rtlCol="0" anchor="t">
            <a:normAutofit/>
          </a:bodyPr>
          <a:lstStyle/>
          <a:p>
            <a:pPr algn="l" indent="0" marL="0">
              <a:lnSpc>
                <a:spcPts val="1560"/>
              </a:lnSpc>
              <a:buNone/>
            </a:pPr>
            <a:r>
              <a:rPr lang="en-US" sz="1200" dirty="0">
                <a:solidFill>
                  <a:srgbClr val="E6EEF2"/>
                </a:solidFill>
                <a:latin typeface="Courier New" pitchFamily="49" charset="0"/>
                <a:ea typeface="Courier New" pitchFamily="49" charset="-122"/>
                <a:cs typeface="Courier New" pitchFamily="49" charset="-120"/>
              </a:rPr>
              <a:t>QMessageBox.information(None, </a:t>
            </a:r>
            <a:r>
              <a:rPr lang="en-US" sz="1200" dirty="0">
                <a:solidFill>
                  <a:srgbClr val="F2A35E"/>
                </a:solidFill>
                <a:latin typeface="Courier New" pitchFamily="49" charset="0"/>
                <a:ea typeface="Courier New" pitchFamily="49" charset="-122"/>
                <a:cs typeface="Courier New" pitchFamily="49" charset="-120"/>
              </a:rPr>
              <a:t>"Hi"</a:t>
            </a:r>
            <a:r>
              <a:rPr lang="en-US" sz="1200" dirty="0">
                <a:solidFill>
                  <a:srgbClr val="E6EEF2"/>
                </a:solidFill>
                <a:latin typeface="Courier New" pitchFamily="49" charset="0"/>
                <a:ea typeface="Courier New" pitchFamily="49" charset="-122"/>
                <a:cs typeface="Courier New" pitchFamily="49" charset="-120"/>
              </a:rPr>
              <a:t>, </a:t>
            </a:r>
            <a:r>
              <a:rPr lang="en-US" sz="1200" dirty="0">
                <a:solidFill>
                  <a:srgbClr val="F2A35E"/>
                </a:solidFill>
                <a:latin typeface="Courier New" pitchFamily="49" charset="0"/>
                <a:ea typeface="Courier New" pitchFamily="49" charset="-122"/>
                <a:cs typeface="Courier New" pitchFamily="49" charset="-120"/>
              </a:rPr>
              <a:t>f"Layer: {name}"</a:t>
            </a:r>
            <a:r>
              <a:rPr lang="en-US" sz="1200" dirty="0">
                <a:solidFill>
                  <a:srgbClr val="E6EEF2"/>
                </a:solidFill>
                <a:latin typeface="Courier New" pitchFamily="49" charset="0"/>
                <a:ea typeface="Courier New" pitchFamily="49" charset="-122"/>
                <a:cs typeface="Courier New" pitchFamily="49" charset="-120"/>
              </a:rPr>
              <a:t>)</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6F99"/>
                </a:solidFill>
                <a:latin typeface="Arial" pitchFamily="34" charset="0"/>
                <a:ea typeface="Arial" pitchFamily="34" charset="-122"/>
                <a:cs typeface="Arial" pitchFamily="34" charset="-120"/>
              </a:rPr>
              <a:t>STAGE 4 · DESIGN THE UI</a:t>
            </a:r>
            <a:endParaRPr lang="en-US" sz="1200" dirty="0"/>
          </a:p>
        </p:txBody>
      </p:sp>
      <p:sp>
        <p:nvSpPr>
          <p:cNvPr id="3" name="Text 1"/>
          <p:cNvSpPr/>
          <p:nvPr>
            <p:ph type="title"/>
          </p:nvPr>
        </p:nvSpPr>
        <p:spPr>
          <a:xfrm>
            <a:off x="812800" y="1127720"/>
            <a:ext cx="10883392" cy="480516"/>
          </a:xfrm>
          <a:prstGeom prst="rect">
            <a:avLst/>
          </a:prstGeom>
          <a:noFill/>
          <a:ln/>
        </p:spPr>
        <p:txBody>
          <a:bodyPr wrap="square" lIns="0" tIns="0" rIns="0" bIns="0" rtlCol="0" anchor="t">
            <a:normAutofit/>
          </a:bodyPr>
          <a:lstStyle/>
          <a:p>
            <a:pPr algn="l" indent="0" marL="0">
              <a:lnSpc>
                <a:spcPts val="3584"/>
              </a:lnSpc>
              <a:buNone/>
            </a:pPr>
            <a:r>
              <a:rPr lang="en-US" sz="3200" b="1" i="0" dirty="0">
                <a:solidFill>
                  <a:srgbClr val="14293A"/>
                </a:solidFill>
                <a:latin typeface="Arial" pitchFamily="34" charset="0"/>
                <a:ea typeface="Arial" pitchFamily="34" charset="-122"/>
                <a:cs typeface="Arial" pitchFamily="34" charset="-120"/>
              </a:rPr>
              <a:t>Draw the window, then load it in Python</a:t>
            </a:r>
            <a:endParaRPr lang="en-US" sz="3200" dirty="0"/>
          </a:p>
        </p:txBody>
      </p:sp>
      <p:sp>
        <p:nvSpPr>
          <p:cNvPr id="4" name="Text 2"/>
          <p:cNvSpPr/>
          <p:nvPr/>
        </p:nvSpPr>
        <p:spPr>
          <a:xfrm>
            <a:off x="812800" y="1887637"/>
            <a:ext cx="497078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93A"/>
                </a:solidFill>
                <a:latin typeface="Arial" pitchFamily="34" charset="0"/>
                <a:ea typeface="Arial" pitchFamily="34" charset="-122"/>
                <a:cs typeface="Arial" pitchFamily="34" charset="-120"/>
              </a:rPr>
              <a:t>QGIS widgets worth knowing</a:t>
            </a:r>
            <a:endParaRPr lang="en-US" sz="1500" dirty="0"/>
          </a:p>
        </p:txBody>
      </p:sp>
      <p:sp>
        <p:nvSpPr>
          <p:cNvPr id="5" name="Shape 3"/>
          <p:cNvSpPr/>
          <p:nvPr/>
        </p:nvSpPr>
        <p:spPr>
          <a:xfrm>
            <a:off x="815975" y="2271812"/>
            <a:ext cx="4819650" cy="725091"/>
          </a:xfrm>
          <a:prstGeom prst="roundRect">
            <a:avLst>
              <a:gd name="adj" fmla="val 10071"/>
            </a:avLst>
          </a:prstGeom>
          <a:solidFill>
            <a:srgbClr val="FDFEFD"/>
          </a:solidFill>
          <a:ln w="6350">
            <a:solidFill>
              <a:srgbClr val="DCE4E8"/>
            </a:solidFill>
            <a:prstDash val="solid"/>
          </a:ln>
        </p:spPr>
      </p:sp>
      <p:sp>
        <p:nvSpPr>
          <p:cNvPr id="6" name="Text 4"/>
          <p:cNvSpPr/>
          <p:nvPr/>
        </p:nvSpPr>
        <p:spPr>
          <a:xfrm>
            <a:off x="996950" y="2401987"/>
            <a:ext cx="459143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6F99"/>
                </a:solidFill>
                <a:latin typeface="Courier New" pitchFamily="49" charset="0"/>
                <a:ea typeface="Courier New" pitchFamily="49" charset="-122"/>
                <a:cs typeface="Courier New" pitchFamily="49" charset="-120"/>
              </a:rPr>
              <a:t>QgsMapLayerComboBox</a:t>
            </a:r>
            <a:endParaRPr lang="en-US" sz="1200" dirty="0"/>
          </a:p>
        </p:txBody>
      </p:sp>
      <p:sp>
        <p:nvSpPr>
          <p:cNvPr id="7" name="Text 5"/>
          <p:cNvSpPr/>
          <p:nvPr/>
        </p:nvSpPr>
        <p:spPr>
          <a:xfrm>
            <a:off x="996950" y="2653407"/>
            <a:ext cx="459143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866"/>
                </a:solidFill>
                <a:latin typeface="Arial" pitchFamily="34" charset="0"/>
                <a:ea typeface="Arial" pitchFamily="34" charset="-122"/>
                <a:cs typeface="Arial" pitchFamily="34" charset="-120"/>
              </a:rPr>
              <a:t>Pick a layer from the project</a:t>
            </a:r>
            <a:endParaRPr lang="en-US" sz="1200" dirty="0"/>
          </a:p>
        </p:txBody>
      </p:sp>
      <p:sp>
        <p:nvSpPr>
          <p:cNvPr id="8" name="Shape 6"/>
          <p:cNvSpPr/>
          <p:nvPr/>
        </p:nvSpPr>
        <p:spPr>
          <a:xfrm>
            <a:off x="815975" y="3155652"/>
            <a:ext cx="4819650" cy="725091"/>
          </a:xfrm>
          <a:prstGeom prst="roundRect">
            <a:avLst>
              <a:gd name="adj" fmla="val 10071"/>
            </a:avLst>
          </a:prstGeom>
          <a:solidFill>
            <a:srgbClr val="FDFEFD"/>
          </a:solidFill>
          <a:ln w="6350">
            <a:solidFill>
              <a:srgbClr val="DCE4E8"/>
            </a:solidFill>
            <a:prstDash val="solid"/>
          </a:ln>
        </p:spPr>
      </p:sp>
      <p:sp>
        <p:nvSpPr>
          <p:cNvPr id="9" name="Text 7"/>
          <p:cNvSpPr/>
          <p:nvPr/>
        </p:nvSpPr>
        <p:spPr>
          <a:xfrm>
            <a:off x="996950" y="3285827"/>
            <a:ext cx="459143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6F99"/>
                </a:solidFill>
                <a:latin typeface="Courier New" pitchFamily="49" charset="0"/>
                <a:ea typeface="Courier New" pitchFamily="49" charset="-122"/>
                <a:cs typeface="Courier New" pitchFamily="49" charset="-120"/>
              </a:rPr>
              <a:t>QgsFieldComboBox</a:t>
            </a:r>
            <a:endParaRPr lang="en-US" sz="1200" dirty="0"/>
          </a:p>
        </p:txBody>
      </p:sp>
      <p:sp>
        <p:nvSpPr>
          <p:cNvPr id="10" name="Text 8"/>
          <p:cNvSpPr/>
          <p:nvPr/>
        </p:nvSpPr>
        <p:spPr>
          <a:xfrm>
            <a:off x="996950" y="3537248"/>
            <a:ext cx="459143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866"/>
                </a:solidFill>
                <a:latin typeface="Arial" pitchFamily="34" charset="0"/>
                <a:ea typeface="Arial" pitchFamily="34" charset="-122"/>
                <a:cs typeface="Arial" pitchFamily="34" charset="-120"/>
              </a:rPr>
              <a:t>Pick a field from that layer</a:t>
            </a:r>
            <a:endParaRPr lang="en-US" sz="1200" dirty="0"/>
          </a:p>
        </p:txBody>
      </p:sp>
      <p:sp>
        <p:nvSpPr>
          <p:cNvPr id="11" name="Shape 9"/>
          <p:cNvSpPr/>
          <p:nvPr/>
        </p:nvSpPr>
        <p:spPr>
          <a:xfrm>
            <a:off x="815975" y="4039493"/>
            <a:ext cx="4819650" cy="725091"/>
          </a:xfrm>
          <a:prstGeom prst="roundRect">
            <a:avLst>
              <a:gd name="adj" fmla="val 10071"/>
            </a:avLst>
          </a:prstGeom>
          <a:solidFill>
            <a:srgbClr val="FDFEFD"/>
          </a:solidFill>
          <a:ln w="6350">
            <a:solidFill>
              <a:srgbClr val="DCE4E8"/>
            </a:solidFill>
            <a:prstDash val="solid"/>
          </a:ln>
        </p:spPr>
      </p:sp>
      <p:sp>
        <p:nvSpPr>
          <p:cNvPr id="12" name="Text 10"/>
          <p:cNvSpPr/>
          <p:nvPr/>
        </p:nvSpPr>
        <p:spPr>
          <a:xfrm>
            <a:off x="996950" y="4169668"/>
            <a:ext cx="459143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6F99"/>
                </a:solidFill>
                <a:latin typeface="Courier New" pitchFamily="49" charset="0"/>
                <a:ea typeface="Courier New" pitchFamily="49" charset="-122"/>
                <a:cs typeface="Courier New" pitchFamily="49" charset="-120"/>
              </a:rPr>
              <a:t>QgsFileWidget</a:t>
            </a:r>
            <a:endParaRPr lang="en-US" sz="1200" dirty="0"/>
          </a:p>
        </p:txBody>
      </p:sp>
      <p:sp>
        <p:nvSpPr>
          <p:cNvPr id="13" name="Text 11"/>
          <p:cNvSpPr/>
          <p:nvPr/>
        </p:nvSpPr>
        <p:spPr>
          <a:xfrm>
            <a:off x="996950" y="4421088"/>
            <a:ext cx="459143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866"/>
                </a:solidFill>
                <a:latin typeface="Arial" pitchFamily="34" charset="0"/>
                <a:ea typeface="Arial" pitchFamily="34" charset="-122"/>
                <a:cs typeface="Arial" pitchFamily="34" charset="-120"/>
              </a:rPr>
              <a:t>Browse for a file or folder</a:t>
            </a:r>
            <a:endParaRPr lang="en-US" sz="1200" dirty="0"/>
          </a:p>
        </p:txBody>
      </p:sp>
      <p:sp>
        <p:nvSpPr>
          <p:cNvPr id="14" name="Shape 12"/>
          <p:cNvSpPr/>
          <p:nvPr/>
        </p:nvSpPr>
        <p:spPr>
          <a:xfrm>
            <a:off x="815975" y="4923334"/>
            <a:ext cx="4819650" cy="725091"/>
          </a:xfrm>
          <a:prstGeom prst="roundRect">
            <a:avLst>
              <a:gd name="adj" fmla="val 10071"/>
            </a:avLst>
          </a:prstGeom>
          <a:solidFill>
            <a:srgbClr val="FDFEFD"/>
          </a:solidFill>
          <a:ln w="6350">
            <a:solidFill>
              <a:srgbClr val="DCE4E8"/>
            </a:solidFill>
            <a:prstDash val="solid"/>
          </a:ln>
        </p:spPr>
      </p:sp>
      <p:sp>
        <p:nvSpPr>
          <p:cNvPr id="15" name="Text 13"/>
          <p:cNvSpPr/>
          <p:nvPr/>
        </p:nvSpPr>
        <p:spPr>
          <a:xfrm>
            <a:off x="996950" y="5053509"/>
            <a:ext cx="459143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6F99"/>
                </a:solidFill>
                <a:latin typeface="Courier New" pitchFamily="49" charset="0"/>
                <a:ea typeface="Courier New" pitchFamily="49" charset="-122"/>
                <a:cs typeface="Courier New" pitchFamily="49" charset="-120"/>
              </a:rPr>
              <a:t>QgsProjectionSelectionWidget</a:t>
            </a:r>
            <a:endParaRPr lang="en-US" sz="1200" dirty="0"/>
          </a:p>
        </p:txBody>
      </p:sp>
      <p:sp>
        <p:nvSpPr>
          <p:cNvPr id="16" name="Text 14"/>
          <p:cNvSpPr/>
          <p:nvPr/>
        </p:nvSpPr>
        <p:spPr>
          <a:xfrm>
            <a:off x="996950" y="5304929"/>
            <a:ext cx="459143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866"/>
                </a:solidFill>
                <a:latin typeface="Arial" pitchFamily="34" charset="0"/>
                <a:ea typeface="Arial" pitchFamily="34" charset="-122"/>
                <a:cs typeface="Arial" pitchFamily="34" charset="-120"/>
              </a:rPr>
              <a:t>Choose a coordinate system</a:t>
            </a:r>
            <a:endParaRPr lang="en-US" sz="1200" dirty="0"/>
          </a:p>
        </p:txBody>
      </p:sp>
      <p:sp>
        <p:nvSpPr>
          <p:cNvPr id="17" name="Shape 15"/>
          <p:cNvSpPr/>
          <p:nvPr/>
        </p:nvSpPr>
        <p:spPr>
          <a:xfrm>
            <a:off x="5943600" y="1887637"/>
            <a:ext cx="5435600" cy="3563243"/>
          </a:xfrm>
          <a:prstGeom prst="roundRect">
            <a:avLst>
              <a:gd name="adj" fmla="val 2851"/>
            </a:avLst>
          </a:prstGeom>
          <a:solidFill>
            <a:srgbClr val="0F2433"/>
          </a:solidFill>
          <a:ln/>
        </p:spPr>
      </p:sp>
      <p:sp>
        <p:nvSpPr>
          <p:cNvPr id="18" name="Text 16"/>
          <p:cNvSpPr/>
          <p:nvPr/>
        </p:nvSpPr>
        <p:spPr>
          <a:xfrm>
            <a:off x="6146800" y="2090837"/>
            <a:ext cx="518007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DB7E0"/>
                </a:solidFill>
                <a:latin typeface="Courier New" pitchFamily="49" charset="0"/>
                <a:ea typeface="Courier New" pitchFamily="49" charset="-122"/>
                <a:cs typeface="Courier New" pitchFamily="49" charset="-120"/>
              </a:rPr>
              <a:t>my_dialog.py</a:t>
            </a:r>
            <a:endParaRPr lang="en-US" sz="1200" dirty="0"/>
          </a:p>
        </p:txBody>
      </p:sp>
      <p:sp>
        <p:nvSpPr>
          <p:cNvPr id="19" name="Text 17"/>
          <p:cNvSpPr/>
          <p:nvPr/>
        </p:nvSpPr>
        <p:spPr>
          <a:xfrm>
            <a:off x="6146800" y="2380357"/>
            <a:ext cx="5180076" cy="231080"/>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5DB7E0"/>
                </a:solidFill>
                <a:latin typeface="Courier New" pitchFamily="49" charset="0"/>
                <a:ea typeface="Courier New" pitchFamily="49" charset="-122"/>
                <a:cs typeface="Courier New" pitchFamily="49" charset="-120"/>
              </a:rPr>
              <a:t>import</a:t>
            </a:r>
            <a:r>
              <a:rPr lang="en-US" sz="1200" dirty="0">
                <a:solidFill>
                  <a:srgbClr val="E6EEF2"/>
                </a:solidFill>
                <a:latin typeface="Courier New" pitchFamily="49" charset="0"/>
                <a:ea typeface="Courier New" pitchFamily="49" charset="-122"/>
                <a:cs typeface="Courier New" pitchFamily="49" charset="-120"/>
              </a:rPr>
              <a:t> os</a:t>
            </a:r>
            <a:endParaRPr lang="en-US" sz="1200" dirty="0"/>
          </a:p>
        </p:txBody>
      </p:sp>
      <p:sp>
        <p:nvSpPr>
          <p:cNvPr id="20" name="Text 18"/>
          <p:cNvSpPr/>
          <p:nvPr/>
        </p:nvSpPr>
        <p:spPr>
          <a:xfrm>
            <a:off x="6146800" y="2586038"/>
            <a:ext cx="5180076" cy="231080"/>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5DB7E0"/>
                </a:solidFill>
                <a:latin typeface="Courier New" pitchFamily="49" charset="0"/>
                <a:ea typeface="Courier New" pitchFamily="49" charset="-122"/>
                <a:cs typeface="Courier New" pitchFamily="49" charset="-120"/>
              </a:rPr>
              <a:t>from</a:t>
            </a:r>
            <a:r>
              <a:rPr lang="en-US" sz="1200" dirty="0">
                <a:solidFill>
                  <a:srgbClr val="E6EEF2"/>
                </a:solidFill>
                <a:latin typeface="Courier New" pitchFamily="49" charset="0"/>
                <a:ea typeface="Courier New" pitchFamily="49" charset="-122"/>
                <a:cs typeface="Courier New" pitchFamily="49" charset="-120"/>
              </a:rPr>
              <a:t> qgis.PyQt </a:t>
            </a:r>
            <a:r>
              <a:rPr lang="en-US" sz="1200" dirty="0">
                <a:solidFill>
                  <a:srgbClr val="5DB7E0"/>
                </a:solidFill>
                <a:latin typeface="Courier New" pitchFamily="49" charset="0"/>
                <a:ea typeface="Courier New" pitchFamily="49" charset="-122"/>
                <a:cs typeface="Courier New" pitchFamily="49" charset="-120"/>
              </a:rPr>
              <a:t>import</a:t>
            </a:r>
            <a:r>
              <a:rPr lang="en-US" sz="1200" dirty="0">
                <a:solidFill>
                  <a:srgbClr val="E6EEF2"/>
                </a:solidFill>
                <a:latin typeface="Courier New" pitchFamily="49" charset="0"/>
                <a:ea typeface="Courier New" pitchFamily="49" charset="-122"/>
                <a:cs typeface="Courier New" pitchFamily="49" charset="-120"/>
              </a:rPr>
              <a:t> uic</a:t>
            </a:r>
            <a:endParaRPr lang="en-US" sz="1200" dirty="0"/>
          </a:p>
        </p:txBody>
      </p:sp>
      <p:sp>
        <p:nvSpPr>
          <p:cNvPr id="21" name="Text 19"/>
          <p:cNvSpPr/>
          <p:nvPr/>
        </p:nvSpPr>
        <p:spPr>
          <a:xfrm>
            <a:off x="6146800" y="2791718"/>
            <a:ext cx="5180076" cy="231080"/>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5DB7E0"/>
                </a:solidFill>
                <a:latin typeface="Courier New" pitchFamily="49" charset="0"/>
                <a:ea typeface="Courier New" pitchFamily="49" charset="-122"/>
                <a:cs typeface="Courier New" pitchFamily="49" charset="-120"/>
              </a:rPr>
              <a:t>from</a:t>
            </a:r>
            <a:r>
              <a:rPr lang="en-US" sz="1200" dirty="0">
                <a:solidFill>
                  <a:srgbClr val="E6EEF2"/>
                </a:solidFill>
                <a:latin typeface="Courier New" pitchFamily="49" charset="0"/>
                <a:ea typeface="Courier New" pitchFamily="49" charset="-122"/>
                <a:cs typeface="Courier New" pitchFamily="49" charset="-120"/>
              </a:rPr>
              <a:t> qgis.PyQt.QtWidgets </a:t>
            </a:r>
            <a:r>
              <a:rPr lang="en-US" sz="1200" dirty="0">
                <a:solidFill>
                  <a:srgbClr val="5DB7E0"/>
                </a:solidFill>
                <a:latin typeface="Courier New" pitchFamily="49" charset="0"/>
                <a:ea typeface="Courier New" pitchFamily="49" charset="-122"/>
                <a:cs typeface="Courier New" pitchFamily="49" charset="-120"/>
              </a:rPr>
              <a:t>import</a:t>
            </a:r>
            <a:r>
              <a:rPr lang="en-US" sz="1200" dirty="0">
                <a:solidFill>
                  <a:srgbClr val="E6EEF2"/>
                </a:solidFill>
                <a:latin typeface="Courier New" pitchFamily="49" charset="0"/>
                <a:ea typeface="Courier New" pitchFamily="49" charset="-122"/>
                <a:cs typeface="Courier New" pitchFamily="49" charset="-120"/>
              </a:rPr>
              <a:t> QDialog</a:t>
            </a:r>
            <a:endParaRPr lang="en-US" sz="1200" dirty="0"/>
          </a:p>
        </p:txBody>
      </p:sp>
      <p:sp>
        <p:nvSpPr>
          <p:cNvPr id="22" name="Text 20"/>
          <p:cNvSpPr/>
          <p:nvPr/>
        </p:nvSpPr>
        <p:spPr>
          <a:xfrm>
            <a:off x="6146800" y="3098998"/>
            <a:ext cx="5180076" cy="231080"/>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E6EEF2"/>
                </a:solidFill>
                <a:latin typeface="Courier New" pitchFamily="49" charset="0"/>
                <a:ea typeface="Courier New" pitchFamily="49" charset="-122"/>
                <a:cs typeface="Courier New" pitchFamily="49" charset="-120"/>
              </a:rPr>
              <a:t>FORM, _ = uic.loadUiType(os.path.join(</a:t>
            </a:r>
            <a:endParaRPr lang="en-US" sz="1200" dirty="0"/>
          </a:p>
        </p:txBody>
      </p:sp>
      <p:sp>
        <p:nvSpPr>
          <p:cNvPr id="23" name="Text 21"/>
          <p:cNvSpPr/>
          <p:nvPr/>
        </p:nvSpPr>
        <p:spPr>
          <a:xfrm>
            <a:off x="6515100" y="3304679"/>
            <a:ext cx="4800727" cy="231080"/>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E6EEF2"/>
                </a:solidFill>
                <a:latin typeface="Courier New" pitchFamily="49" charset="0"/>
                <a:ea typeface="Courier New" pitchFamily="49" charset="-122"/>
                <a:cs typeface="Courier New" pitchFamily="49" charset="-120"/>
              </a:rPr>
              <a:t>os.path.dirname(__file__), </a:t>
            </a:r>
            <a:r>
              <a:rPr lang="en-US" sz="1200" dirty="0">
                <a:solidFill>
                  <a:srgbClr val="F2A35E"/>
                </a:solidFill>
                <a:latin typeface="Courier New" pitchFamily="49" charset="0"/>
                <a:ea typeface="Courier New" pitchFamily="49" charset="-122"/>
                <a:cs typeface="Courier New" pitchFamily="49" charset="-120"/>
              </a:rPr>
              <a:t>"my_dialog.ui"</a:t>
            </a:r>
            <a:r>
              <a:rPr lang="en-US" sz="1200" dirty="0">
                <a:solidFill>
                  <a:srgbClr val="E6EEF2"/>
                </a:solidFill>
                <a:latin typeface="Courier New" pitchFamily="49" charset="0"/>
                <a:ea typeface="Courier New" pitchFamily="49" charset="-122"/>
                <a:cs typeface="Courier New" pitchFamily="49" charset="-120"/>
              </a:rPr>
              <a:t>))</a:t>
            </a:r>
            <a:endParaRPr lang="en-US" sz="1200" dirty="0"/>
          </a:p>
        </p:txBody>
      </p:sp>
      <p:sp>
        <p:nvSpPr>
          <p:cNvPr id="24" name="Text 22"/>
          <p:cNvSpPr/>
          <p:nvPr/>
        </p:nvSpPr>
        <p:spPr>
          <a:xfrm>
            <a:off x="6146800" y="3611959"/>
            <a:ext cx="5180076" cy="231080"/>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5DB7E0"/>
                </a:solidFill>
                <a:latin typeface="Courier New" pitchFamily="49" charset="0"/>
                <a:ea typeface="Courier New" pitchFamily="49" charset="-122"/>
                <a:cs typeface="Courier New" pitchFamily="49" charset="-120"/>
              </a:rPr>
              <a:t>class</a:t>
            </a:r>
            <a:r>
              <a:rPr lang="en-US" sz="1200" dirty="0">
                <a:solidFill>
                  <a:srgbClr val="E6EEF2"/>
                </a:solidFill>
                <a:latin typeface="Courier New" pitchFamily="49" charset="0"/>
                <a:ea typeface="Courier New" pitchFamily="49" charset="-122"/>
                <a:cs typeface="Courier New" pitchFamily="49" charset="-120"/>
              </a:rPr>
              <a:t> MyDialog(QDialog, FORM):</a:t>
            </a:r>
            <a:endParaRPr lang="en-US" sz="1200" dirty="0"/>
          </a:p>
        </p:txBody>
      </p:sp>
      <p:sp>
        <p:nvSpPr>
          <p:cNvPr id="25" name="Text 23"/>
          <p:cNvSpPr/>
          <p:nvPr/>
        </p:nvSpPr>
        <p:spPr>
          <a:xfrm>
            <a:off x="6515100" y="3817640"/>
            <a:ext cx="4800727" cy="231080"/>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5DB7E0"/>
                </a:solidFill>
                <a:latin typeface="Courier New" pitchFamily="49" charset="0"/>
                <a:ea typeface="Courier New" pitchFamily="49" charset="-122"/>
                <a:cs typeface="Courier New" pitchFamily="49" charset="-120"/>
              </a:rPr>
              <a:t>def</a:t>
            </a:r>
            <a:r>
              <a:rPr lang="en-US" sz="1200" dirty="0">
                <a:solidFill>
                  <a:srgbClr val="E6EEF2"/>
                </a:solidFill>
                <a:latin typeface="Courier New" pitchFamily="49" charset="0"/>
                <a:ea typeface="Courier New" pitchFamily="49" charset="-122"/>
                <a:cs typeface="Courier New" pitchFamily="49" charset="-120"/>
              </a:rPr>
              <a:t> __init__(self, parent=None):</a:t>
            </a:r>
            <a:endParaRPr lang="en-US" sz="1200" dirty="0"/>
          </a:p>
        </p:txBody>
      </p:sp>
      <p:sp>
        <p:nvSpPr>
          <p:cNvPr id="26" name="Text 24"/>
          <p:cNvSpPr/>
          <p:nvPr/>
        </p:nvSpPr>
        <p:spPr>
          <a:xfrm>
            <a:off x="6877050" y="4023320"/>
            <a:ext cx="4427919" cy="231080"/>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E6EEF2"/>
                </a:solidFill>
                <a:latin typeface="Courier New" pitchFamily="49" charset="0"/>
                <a:ea typeface="Courier New" pitchFamily="49" charset="-122"/>
                <a:cs typeface="Courier New" pitchFamily="49" charset="-120"/>
              </a:rPr>
              <a:t>super().__init__(parent)</a:t>
            </a:r>
            <a:endParaRPr lang="en-US" sz="1200" dirty="0"/>
          </a:p>
        </p:txBody>
      </p:sp>
      <p:sp>
        <p:nvSpPr>
          <p:cNvPr id="27" name="Text 25"/>
          <p:cNvSpPr/>
          <p:nvPr/>
        </p:nvSpPr>
        <p:spPr>
          <a:xfrm>
            <a:off x="6877050" y="4229001"/>
            <a:ext cx="4427919" cy="231080"/>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E6EEF2"/>
                </a:solidFill>
                <a:latin typeface="Courier New" pitchFamily="49" charset="0"/>
                <a:ea typeface="Courier New" pitchFamily="49" charset="-122"/>
                <a:cs typeface="Courier New" pitchFamily="49" charset="-120"/>
              </a:rPr>
              <a:t>self.setupUi(self)</a:t>
            </a:r>
            <a:endParaRPr lang="en-US" sz="1200" dirty="0"/>
          </a:p>
        </p:txBody>
      </p:sp>
      <p:sp>
        <p:nvSpPr>
          <p:cNvPr id="28" name="Text 26"/>
          <p:cNvSpPr/>
          <p:nvPr/>
        </p:nvSpPr>
        <p:spPr>
          <a:xfrm>
            <a:off x="5943600" y="5603280"/>
            <a:ext cx="5598668"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75866"/>
                </a:solidFill>
                <a:latin typeface="Arial" pitchFamily="34" charset="0"/>
                <a:ea typeface="Arial" pitchFamily="34" charset="-122"/>
                <a:cs typeface="Arial" pitchFamily="34" charset="-120"/>
              </a:rPr>
              <a:t>Use the Qt Designer that comes with QGIS, so these widgets appear in its widget list.</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6F99"/>
                </a:solidFill>
                <a:latin typeface="Arial" pitchFamily="34" charset="0"/>
                <a:ea typeface="Arial" pitchFamily="34" charset="-122"/>
                <a:cs typeface="Arial" pitchFamily="34" charset="-120"/>
              </a:rPr>
              <a:t>STAGE 5 · WRITE THE LOGIC</a:t>
            </a:r>
            <a:endParaRPr lang="en-US" sz="1200" dirty="0"/>
          </a:p>
        </p:txBody>
      </p:sp>
      <p:sp>
        <p:nvSpPr>
          <p:cNvPr id="3" name="Text 1"/>
          <p:cNvSpPr/>
          <p:nvPr>
            <p:ph type="title"/>
          </p:nvPr>
        </p:nvSpPr>
        <p:spPr>
          <a:xfrm>
            <a:off x="812800" y="1127720"/>
            <a:ext cx="10883392" cy="480516"/>
          </a:xfrm>
          <a:prstGeom prst="rect">
            <a:avLst/>
          </a:prstGeom>
          <a:noFill/>
          <a:ln/>
        </p:spPr>
        <p:txBody>
          <a:bodyPr wrap="square" lIns="0" tIns="0" rIns="0" bIns="0" rtlCol="0" anchor="t">
            <a:normAutofit/>
          </a:bodyPr>
          <a:lstStyle/>
          <a:p>
            <a:pPr algn="l" indent="0" marL="0">
              <a:lnSpc>
                <a:spcPts val="3584"/>
              </a:lnSpc>
              <a:buNone/>
            </a:pPr>
            <a:r>
              <a:rPr lang="en-US" sz="3200" b="1" i="0" dirty="0">
                <a:solidFill>
                  <a:srgbClr val="14293A"/>
                </a:solidFill>
                <a:latin typeface="Arial" pitchFamily="34" charset="0"/>
                <a:ea typeface="Arial" pitchFamily="34" charset="-122"/>
                <a:cs typeface="Arial" pitchFamily="34" charset="-120"/>
              </a:rPr>
              <a:t>Five PyQGIS pieces do most of the work</a:t>
            </a:r>
            <a:endParaRPr lang="en-US" sz="3200" dirty="0"/>
          </a:p>
        </p:txBody>
      </p:sp>
      <p:sp>
        <p:nvSpPr>
          <p:cNvPr id="4" name="Text 2"/>
          <p:cNvSpPr/>
          <p:nvPr/>
        </p:nvSpPr>
        <p:spPr>
          <a:xfrm>
            <a:off x="812800" y="1887637"/>
            <a:ext cx="45783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6F99"/>
                </a:solidFill>
                <a:latin typeface="Courier New" pitchFamily="49" charset="0"/>
                <a:ea typeface="Courier New" pitchFamily="49" charset="-122"/>
                <a:cs typeface="Courier New" pitchFamily="49" charset="-120"/>
              </a:rPr>
              <a:t>iface</a:t>
            </a:r>
            <a:endParaRPr lang="en-US" sz="1200" dirty="0"/>
          </a:p>
        </p:txBody>
      </p:sp>
      <p:sp>
        <p:nvSpPr>
          <p:cNvPr id="5" name="Text 3"/>
          <p:cNvSpPr/>
          <p:nvPr/>
        </p:nvSpPr>
        <p:spPr>
          <a:xfrm>
            <a:off x="812800" y="2126357"/>
            <a:ext cx="45783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866"/>
                </a:solidFill>
                <a:latin typeface="Arial" pitchFamily="34" charset="0"/>
                <a:ea typeface="Arial" pitchFamily="34" charset="-122"/>
                <a:cs typeface="Arial" pitchFamily="34" charset="-120"/>
              </a:rPr>
              <a:t>The QGIS window: map, toolbars, message bar</a:t>
            </a:r>
            <a:endParaRPr lang="en-US" sz="1200" dirty="0"/>
          </a:p>
        </p:txBody>
      </p:sp>
      <p:sp>
        <p:nvSpPr>
          <p:cNvPr id="6" name="Text 4"/>
          <p:cNvSpPr/>
          <p:nvPr/>
        </p:nvSpPr>
        <p:spPr>
          <a:xfrm>
            <a:off x="812800" y="2813943"/>
            <a:ext cx="45783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6F99"/>
                </a:solidFill>
                <a:latin typeface="Courier New" pitchFamily="49" charset="0"/>
                <a:ea typeface="Courier New" pitchFamily="49" charset="-122"/>
                <a:cs typeface="Courier New" pitchFamily="49" charset="-120"/>
              </a:rPr>
              <a:t>QgsProject.instance()</a:t>
            </a:r>
            <a:endParaRPr lang="en-US" sz="1200" dirty="0"/>
          </a:p>
        </p:txBody>
      </p:sp>
      <p:sp>
        <p:nvSpPr>
          <p:cNvPr id="7" name="Text 5"/>
          <p:cNvSpPr/>
          <p:nvPr/>
        </p:nvSpPr>
        <p:spPr>
          <a:xfrm>
            <a:off x="812800" y="3052663"/>
            <a:ext cx="45783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866"/>
                </a:solidFill>
                <a:latin typeface="Arial" pitchFamily="34" charset="0"/>
                <a:ea typeface="Arial" pitchFamily="34" charset="-122"/>
                <a:cs typeface="Arial" pitchFamily="34" charset="-120"/>
              </a:rPr>
              <a:t>The open project and its layers</a:t>
            </a:r>
            <a:endParaRPr lang="en-US" sz="1200" dirty="0"/>
          </a:p>
        </p:txBody>
      </p:sp>
      <p:sp>
        <p:nvSpPr>
          <p:cNvPr id="8" name="Text 6"/>
          <p:cNvSpPr/>
          <p:nvPr/>
        </p:nvSpPr>
        <p:spPr>
          <a:xfrm>
            <a:off x="812800" y="3740249"/>
            <a:ext cx="45783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6F99"/>
                </a:solidFill>
                <a:latin typeface="Courier New" pitchFamily="49" charset="0"/>
                <a:ea typeface="Courier New" pitchFamily="49" charset="-122"/>
                <a:cs typeface="Courier New" pitchFamily="49" charset="-120"/>
              </a:rPr>
              <a:t>QgsVectorLayer · QgsRasterLayer</a:t>
            </a:r>
            <a:endParaRPr lang="en-US" sz="1200" dirty="0"/>
          </a:p>
        </p:txBody>
      </p:sp>
      <p:sp>
        <p:nvSpPr>
          <p:cNvPr id="9" name="Text 7"/>
          <p:cNvSpPr/>
          <p:nvPr/>
        </p:nvSpPr>
        <p:spPr>
          <a:xfrm>
            <a:off x="812800" y="3978970"/>
            <a:ext cx="45783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866"/>
                </a:solidFill>
                <a:latin typeface="Arial" pitchFamily="34" charset="0"/>
                <a:ea typeface="Arial" pitchFamily="34" charset="-122"/>
                <a:cs typeface="Arial" pitchFamily="34" charset="-120"/>
              </a:rPr>
              <a:t>Read, edit and create data</a:t>
            </a:r>
            <a:endParaRPr lang="en-US" sz="1200" dirty="0"/>
          </a:p>
        </p:txBody>
      </p:sp>
      <p:sp>
        <p:nvSpPr>
          <p:cNvPr id="10" name="Text 8"/>
          <p:cNvSpPr/>
          <p:nvPr/>
        </p:nvSpPr>
        <p:spPr>
          <a:xfrm>
            <a:off x="812800" y="4666555"/>
            <a:ext cx="45783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6F99"/>
                </a:solidFill>
                <a:latin typeface="Courier New" pitchFamily="49" charset="0"/>
                <a:ea typeface="Courier New" pitchFamily="49" charset="-122"/>
                <a:cs typeface="Courier New" pitchFamily="49" charset="-120"/>
              </a:rPr>
              <a:t>processing</a:t>
            </a:r>
            <a:endParaRPr lang="en-US" sz="1200" dirty="0"/>
          </a:p>
        </p:txBody>
      </p:sp>
      <p:sp>
        <p:nvSpPr>
          <p:cNvPr id="11" name="Text 9"/>
          <p:cNvSpPr/>
          <p:nvPr/>
        </p:nvSpPr>
        <p:spPr>
          <a:xfrm>
            <a:off x="812800" y="4905276"/>
            <a:ext cx="45783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866"/>
                </a:solidFill>
                <a:latin typeface="Arial" pitchFamily="34" charset="0"/>
                <a:ea typeface="Arial" pitchFamily="34" charset="-122"/>
                <a:cs typeface="Arial" pitchFamily="34" charset="-120"/>
              </a:rPr>
              <a:t>Call any Processing Toolbox tool from code</a:t>
            </a:r>
            <a:endParaRPr lang="en-US" sz="1200" dirty="0"/>
          </a:p>
        </p:txBody>
      </p:sp>
      <p:sp>
        <p:nvSpPr>
          <p:cNvPr id="12" name="Text 10"/>
          <p:cNvSpPr/>
          <p:nvPr/>
        </p:nvSpPr>
        <p:spPr>
          <a:xfrm>
            <a:off x="812800" y="5592862"/>
            <a:ext cx="45783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6F99"/>
                </a:solidFill>
                <a:latin typeface="Courier New" pitchFamily="49" charset="0"/>
                <a:ea typeface="Courier New" pitchFamily="49" charset="-122"/>
                <a:cs typeface="Courier New" pitchFamily="49" charset="-120"/>
              </a:rPr>
              <a:t>QgsTask</a:t>
            </a:r>
            <a:endParaRPr lang="en-US" sz="1200" dirty="0"/>
          </a:p>
        </p:txBody>
      </p:sp>
      <p:sp>
        <p:nvSpPr>
          <p:cNvPr id="13" name="Text 11"/>
          <p:cNvSpPr/>
          <p:nvPr/>
        </p:nvSpPr>
        <p:spPr>
          <a:xfrm>
            <a:off x="812800" y="5831582"/>
            <a:ext cx="45783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866"/>
                </a:solidFill>
                <a:latin typeface="Arial" pitchFamily="34" charset="0"/>
                <a:ea typeface="Arial" pitchFamily="34" charset="-122"/>
                <a:cs typeface="Arial" pitchFamily="34" charset="-120"/>
              </a:rPr>
              <a:t>Run long jobs without freezing QGIS</a:t>
            </a:r>
            <a:endParaRPr lang="en-US" sz="1200" dirty="0"/>
          </a:p>
        </p:txBody>
      </p:sp>
      <p:sp>
        <p:nvSpPr>
          <p:cNvPr id="14" name="Shape 12"/>
          <p:cNvSpPr/>
          <p:nvPr/>
        </p:nvSpPr>
        <p:spPr>
          <a:xfrm>
            <a:off x="5562600" y="1887637"/>
            <a:ext cx="5816600" cy="3309243"/>
          </a:xfrm>
          <a:prstGeom prst="roundRect">
            <a:avLst>
              <a:gd name="adj" fmla="val 3070"/>
            </a:avLst>
          </a:prstGeom>
          <a:solidFill>
            <a:srgbClr val="0F2433"/>
          </a:solidFill>
          <a:ln/>
        </p:spPr>
      </p:sp>
      <p:sp>
        <p:nvSpPr>
          <p:cNvPr id="15" name="Text 13"/>
          <p:cNvSpPr/>
          <p:nvPr/>
        </p:nvSpPr>
        <p:spPr>
          <a:xfrm>
            <a:off x="5765800" y="2090837"/>
            <a:ext cx="557250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DB7E0"/>
                </a:solidFill>
                <a:latin typeface="Courier New" pitchFamily="49" charset="0"/>
                <a:ea typeface="Courier New" pitchFamily="49" charset="-122"/>
                <a:cs typeface="Courier New" pitchFamily="49" charset="-120"/>
              </a:rPr>
              <a:t>run() in my_plugin.py</a:t>
            </a:r>
            <a:endParaRPr lang="en-US" sz="1200" dirty="0"/>
          </a:p>
        </p:txBody>
      </p:sp>
      <p:sp>
        <p:nvSpPr>
          <p:cNvPr id="16" name="Text 14"/>
          <p:cNvSpPr/>
          <p:nvPr/>
        </p:nvSpPr>
        <p:spPr>
          <a:xfrm>
            <a:off x="5765800" y="2380357"/>
            <a:ext cx="5572506" cy="231080"/>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5DB7E0"/>
                </a:solidFill>
                <a:latin typeface="Courier New" pitchFamily="49" charset="0"/>
                <a:ea typeface="Courier New" pitchFamily="49" charset="-122"/>
                <a:cs typeface="Courier New" pitchFamily="49" charset="-120"/>
              </a:rPr>
              <a:t>import</a:t>
            </a:r>
            <a:r>
              <a:rPr lang="en-US" sz="1200" dirty="0">
                <a:solidFill>
                  <a:srgbClr val="E6EEF2"/>
                </a:solidFill>
                <a:latin typeface="Courier New" pitchFamily="49" charset="0"/>
                <a:ea typeface="Courier New" pitchFamily="49" charset="-122"/>
                <a:cs typeface="Courier New" pitchFamily="49" charset="-120"/>
              </a:rPr>
              <a:t> processing</a:t>
            </a:r>
            <a:endParaRPr lang="en-US" sz="1200" dirty="0"/>
          </a:p>
        </p:txBody>
      </p:sp>
      <p:sp>
        <p:nvSpPr>
          <p:cNvPr id="17" name="Text 15"/>
          <p:cNvSpPr/>
          <p:nvPr/>
        </p:nvSpPr>
        <p:spPr>
          <a:xfrm>
            <a:off x="5765800" y="2687638"/>
            <a:ext cx="5572506" cy="231080"/>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E6EEF2"/>
                </a:solidFill>
                <a:latin typeface="Courier New" pitchFamily="49" charset="0"/>
                <a:ea typeface="Courier New" pitchFamily="49" charset="-122"/>
                <a:cs typeface="Courier New" pitchFamily="49" charset="-120"/>
              </a:rPr>
              <a:t>layer = self.dlg.layerCombo.currentLayer()</a:t>
            </a:r>
            <a:endParaRPr lang="en-US" sz="1200" dirty="0"/>
          </a:p>
        </p:txBody>
      </p:sp>
      <p:sp>
        <p:nvSpPr>
          <p:cNvPr id="18" name="Text 16"/>
          <p:cNvSpPr/>
          <p:nvPr/>
        </p:nvSpPr>
        <p:spPr>
          <a:xfrm>
            <a:off x="5765800" y="2893318"/>
            <a:ext cx="5572506" cy="231080"/>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E6EEF2"/>
                </a:solidFill>
                <a:latin typeface="Courier New" pitchFamily="49" charset="0"/>
                <a:ea typeface="Courier New" pitchFamily="49" charset="-122"/>
                <a:cs typeface="Courier New" pitchFamily="49" charset="-120"/>
              </a:rPr>
              <a:t>processing.runAndLoadResults(</a:t>
            </a:r>
            <a:r>
              <a:rPr lang="en-US" sz="1200" dirty="0">
                <a:solidFill>
                  <a:srgbClr val="F2A35E"/>
                </a:solidFill>
                <a:latin typeface="Courier New" pitchFamily="49" charset="0"/>
                <a:ea typeface="Courier New" pitchFamily="49" charset="-122"/>
                <a:cs typeface="Courier New" pitchFamily="49" charset="-120"/>
              </a:rPr>
              <a:t>"native:buffer"</a:t>
            </a:r>
            <a:r>
              <a:rPr lang="en-US" sz="1200" dirty="0">
                <a:solidFill>
                  <a:srgbClr val="E6EEF2"/>
                </a:solidFill>
                <a:latin typeface="Courier New" pitchFamily="49" charset="0"/>
                <a:ea typeface="Courier New" pitchFamily="49" charset="-122"/>
                <a:cs typeface="Courier New" pitchFamily="49" charset="-120"/>
              </a:rPr>
              <a:t>, {</a:t>
            </a:r>
            <a:endParaRPr lang="en-US" sz="1200" dirty="0"/>
          </a:p>
        </p:txBody>
      </p:sp>
      <p:sp>
        <p:nvSpPr>
          <p:cNvPr id="19" name="Text 17"/>
          <p:cNvSpPr/>
          <p:nvPr/>
        </p:nvSpPr>
        <p:spPr>
          <a:xfrm>
            <a:off x="6134100" y="3098998"/>
            <a:ext cx="5193157" cy="231080"/>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F2A35E"/>
                </a:solidFill>
                <a:latin typeface="Courier New" pitchFamily="49" charset="0"/>
                <a:ea typeface="Courier New" pitchFamily="49" charset="-122"/>
                <a:cs typeface="Courier New" pitchFamily="49" charset="-120"/>
              </a:rPr>
              <a:t>"INPUT"</a:t>
            </a:r>
            <a:r>
              <a:rPr lang="en-US" sz="1200" dirty="0">
                <a:solidFill>
                  <a:srgbClr val="E6EEF2"/>
                </a:solidFill>
                <a:latin typeface="Courier New" pitchFamily="49" charset="0"/>
                <a:ea typeface="Courier New" pitchFamily="49" charset="-122"/>
                <a:cs typeface="Courier New" pitchFamily="49" charset="-120"/>
              </a:rPr>
              <a:t>: layer,</a:t>
            </a:r>
            <a:endParaRPr lang="en-US" sz="1200" dirty="0"/>
          </a:p>
        </p:txBody>
      </p:sp>
      <p:sp>
        <p:nvSpPr>
          <p:cNvPr id="20" name="Text 18"/>
          <p:cNvSpPr/>
          <p:nvPr/>
        </p:nvSpPr>
        <p:spPr>
          <a:xfrm>
            <a:off x="6134100" y="3304679"/>
            <a:ext cx="5193157" cy="231080"/>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F2A35E"/>
                </a:solidFill>
                <a:latin typeface="Courier New" pitchFamily="49" charset="0"/>
                <a:ea typeface="Courier New" pitchFamily="49" charset="-122"/>
                <a:cs typeface="Courier New" pitchFamily="49" charset="-120"/>
              </a:rPr>
              <a:t>"DISTANCE"</a:t>
            </a:r>
            <a:r>
              <a:rPr lang="en-US" sz="1200" dirty="0">
                <a:solidFill>
                  <a:srgbClr val="E6EEF2"/>
                </a:solidFill>
                <a:latin typeface="Courier New" pitchFamily="49" charset="0"/>
                <a:ea typeface="Courier New" pitchFamily="49" charset="-122"/>
                <a:cs typeface="Courier New" pitchFamily="49" charset="-120"/>
              </a:rPr>
              <a:t>: 10,</a:t>
            </a:r>
            <a:endParaRPr lang="en-US" sz="1200" dirty="0"/>
          </a:p>
        </p:txBody>
      </p:sp>
      <p:sp>
        <p:nvSpPr>
          <p:cNvPr id="21" name="Text 19"/>
          <p:cNvSpPr/>
          <p:nvPr/>
        </p:nvSpPr>
        <p:spPr>
          <a:xfrm>
            <a:off x="6134100" y="3510359"/>
            <a:ext cx="5193157" cy="231080"/>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F2A35E"/>
                </a:solidFill>
                <a:latin typeface="Courier New" pitchFamily="49" charset="0"/>
                <a:ea typeface="Courier New" pitchFamily="49" charset="-122"/>
                <a:cs typeface="Courier New" pitchFamily="49" charset="-120"/>
              </a:rPr>
              <a:t>"OUTPUT"</a:t>
            </a:r>
            <a:r>
              <a:rPr lang="en-US" sz="1200" dirty="0">
                <a:solidFill>
                  <a:srgbClr val="E6EEF2"/>
                </a:solidFill>
                <a:latin typeface="Courier New" pitchFamily="49" charset="0"/>
                <a:ea typeface="Courier New" pitchFamily="49" charset="-122"/>
                <a:cs typeface="Courier New" pitchFamily="49" charset="-120"/>
              </a:rPr>
              <a:t>: </a:t>
            </a:r>
            <a:r>
              <a:rPr lang="en-US" sz="1200" dirty="0">
                <a:solidFill>
                  <a:srgbClr val="F2A35E"/>
                </a:solidFill>
                <a:latin typeface="Courier New" pitchFamily="49" charset="0"/>
                <a:ea typeface="Courier New" pitchFamily="49" charset="-122"/>
                <a:cs typeface="Courier New" pitchFamily="49" charset="-120"/>
              </a:rPr>
              <a:t>"TEMPORARY_OUTPUT"</a:t>
            </a:r>
            <a:r>
              <a:rPr lang="en-US" sz="1200" dirty="0">
                <a:solidFill>
                  <a:srgbClr val="E6EEF2"/>
                </a:solidFill>
                <a:latin typeface="Courier New" pitchFamily="49" charset="0"/>
                <a:ea typeface="Courier New" pitchFamily="49" charset="-122"/>
                <a:cs typeface="Courier New" pitchFamily="49" charset="-120"/>
              </a:rPr>
              <a:t>,</a:t>
            </a:r>
            <a:endParaRPr lang="en-US" sz="1200" dirty="0"/>
          </a:p>
        </p:txBody>
      </p:sp>
      <p:sp>
        <p:nvSpPr>
          <p:cNvPr id="22" name="Text 20"/>
          <p:cNvSpPr/>
          <p:nvPr/>
        </p:nvSpPr>
        <p:spPr>
          <a:xfrm>
            <a:off x="5765800" y="3716040"/>
            <a:ext cx="5572506" cy="231080"/>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E6EEF2"/>
                </a:solidFill>
                <a:latin typeface="Courier New" pitchFamily="49" charset="0"/>
                <a:ea typeface="Courier New" pitchFamily="49" charset="-122"/>
                <a:cs typeface="Courier New" pitchFamily="49" charset="-120"/>
              </a:rPr>
              <a:t>})</a:t>
            </a:r>
            <a:endParaRPr lang="en-US" sz="1200" dirty="0"/>
          </a:p>
        </p:txBody>
      </p:sp>
      <p:sp>
        <p:nvSpPr>
          <p:cNvPr id="23" name="Text 21"/>
          <p:cNvSpPr/>
          <p:nvPr/>
        </p:nvSpPr>
        <p:spPr>
          <a:xfrm>
            <a:off x="5765800" y="4023320"/>
            <a:ext cx="5572506" cy="231080"/>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E6EEF2"/>
                </a:solidFill>
                <a:latin typeface="Courier New" pitchFamily="49" charset="0"/>
                <a:ea typeface="Courier New" pitchFamily="49" charset="-122"/>
                <a:cs typeface="Courier New" pitchFamily="49" charset="-120"/>
              </a:rPr>
              <a:t>self.iface.messageBar().pushSuccess(</a:t>
            </a:r>
            <a:endParaRPr lang="en-US" sz="1200" dirty="0"/>
          </a:p>
        </p:txBody>
      </p:sp>
      <p:sp>
        <p:nvSpPr>
          <p:cNvPr id="24" name="Text 22"/>
          <p:cNvSpPr/>
          <p:nvPr/>
        </p:nvSpPr>
        <p:spPr>
          <a:xfrm>
            <a:off x="6134100" y="4229001"/>
            <a:ext cx="5193157" cy="231080"/>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F2A35E"/>
                </a:solidFill>
                <a:latin typeface="Courier New" pitchFamily="49" charset="0"/>
                <a:ea typeface="Courier New" pitchFamily="49" charset="-122"/>
                <a:cs typeface="Courier New" pitchFamily="49" charset="-120"/>
              </a:rPr>
              <a:t>"My Plugin"</a:t>
            </a:r>
            <a:r>
              <a:rPr lang="en-US" sz="1200" dirty="0">
                <a:solidFill>
                  <a:srgbClr val="E6EEF2"/>
                </a:solidFill>
                <a:latin typeface="Courier New" pitchFamily="49" charset="0"/>
                <a:ea typeface="Courier New" pitchFamily="49" charset="-122"/>
                <a:cs typeface="Courier New" pitchFamily="49" charset="-120"/>
              </a:rPr>
              <a:t>, </a:t>
            </a:r>
            <a:r>
              <a:rPr lang="en-US" sz="1200" dirty="0">
                <a:solidFill>
                  <a:srgbClr val="F2A35E"/>
                </a:solidFill>
                <a:latin typeface="Courier New" pitchFamily="49" charset="0"/>
                <a:ea typeface="Courier New" pitchFamily="49" charset="-122"/>
                <a:cs typeface="Courier New" pitchFamily="49" charset="-120"/>
              </a:rPr>
              <a:t>"Buffer created"</a:t>
            </a:r>
            <a:r>
              <a:rPr lang="en-US" sz="1200" dirty="0">
                <a:solidFill>
                  <a:srgbClr val="E6EEF2"/>
                </a:solidFill>
                <a:latin typeface="Courier New" pitchFamily="49" charset="0"/>
                <a:ea typeface="Courier New" pitchFamily="49" charset="-122"/>
                <a:cs typeface="Courier New" pitchFamily="49" charset="-120"/>
              </a:rPr>
              <a:t>)</a:t>
            </a:r>
            <a:endParaRPr lang="en-US" sz="1200" dirty="0"/>
          </a:p>
        </p:txBody>
      </p:sp>
      <p:sp>
        <p:nvSpPr>
          <p:cNvPr id="25" name="Text 23"/>
          <p:cNvSpPr/>
          <p:nvPr/>
        </p:nvSpPr>
        <p:spPr>
          <a:xfrm>
            <a:off x="5562600" y="5349280"/>
            <a:ext cx="5816600" cy="695920"/>
          </a:xfrm>
          <a:prstGeom prst="roundRect">
            <a:avLst>
              <a:gd name="adj" fmla="val 10950"/>
            </a:avLst>
          </a:prstGeom>
          <a:solidFill>
            <a:srgbClr val="FBE6D4"/>
          </a:solidFill>
          <a:ln/>
        </p:spPr>
        <p:txBody>
          <a:bodyPr wrap="square" lIns="130082" tIns="104682" rIns="0" bIns="79282" rtlCol="0" anchor="t">
            <a:normAutofit/>
          </a:bodyPr>
          <a:lstStyle/>
          <a:p>
            <a:pPr algn="l" indent="0" marL="0">
              <a:lnSpc>
                <a:spcPts val="1740"/>
              </a:lnSpc>
              <a:buNone/>
            </a:pPr>
            <a:r>
              <a:rPr lang="en-US" sz="1200" b="1" dirty="0">
                <a:solidFill>
                  <a:srgbClr val="14293A"/>
                </a:solidFill>
                <a:latin typeface="Arial" pitchFamily="34" charset="0"/>
                <a:ea typeface="Arial" pitchFamily="34" charset="-122"/>
                <a:cs typeface="Arial" pitchFamily="34" charset="-120"/>
              </a:rPr>
              <a:t>Tip:</a:t>
            </a:r>
            <a:r>
              <a:rPr lang="en-US" sz="1200" dirty="0">
                <a:solidFill>
                  <a:srgbClr val="14293A"/>
                </a:solidFill>
                <a:latin typeface="Arial" pitchFamily="34" charset="0"/>
                <a:ea typeface="Arial" pitchFamily="34" charset="-122"/>
                <a:cs typeface="Arial" pitchFamily="34" charset="-120"/>
              </a:rPr>
              <a:t> run a tool once in the Processing Toolbox, then use Advanced › Copy as Python Command to get the exact call.</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6F99"/>
                </a:solidFill>
                <a:latin typeface="Arial" pitchFamily="34" charset="0"/>
                <a:ea typeface="Arial" pitchFamily="34" charset="-122"/>
                <a:cs typeface="Arial" pitchFamily="34" charset="-120"/>
              </a:rPr>
              <a:t>STAGE 6 · TEST AND DEBUG</a:t>
            </a:r>
            <a:endParaRPr lang="en-US" sz="1200" dirty="0"/>
          </a:p>
        </p:txBody>
      </p:sp>
      <p:sp>
        <p:nvSpPr>
          <p:cNvPr id="3" name="Text 1"/>
          <p:cNvSpPr/>
          <p:nvPr>
            <p:ph type="title"/>
          </p:nvPr>
        </p:nvSpPr>
        <p:spPr>
          <a:xfrm>
            <a:off x="812800" y="1127720"/>
            <a:ext cx="10883392" cy="480516"/>
          </a:xfrm>
          <a:prstGeom prst="rect">
            <a:avLst/>
          </a:prstGeom>
          <a:noFill/>
          <a:ln/>
        </p:spPr>
        <p:txBody>
          <a:bodyPr wrap="square" lIns="0" tIns="0" rIns="0" bIns="0" rtlCol="0" anchor="t">
            <a:normAutofit/>
          </a:bodyPr>
          <a:lstStyle/>
          <a:p>
            <a:pPr algn="l" indent="0" marL="0">
              <a:lnSpc>
                <a:spcPts val="3584"/>
              </a:lnSpc>
              <a:buNone/>
            </a:pPr>
            <a:r>
              <a:rPr lang="en-US" sz="3200" b="1" i="0" dirty="0">
                <a:solidFill>
                  <a:srgbClr val="14293A"/>
                </a:solidFill>
                <a:latin typeface="Arial" pitchFamily="34" charset="0"/>
                <a:ea typeface="Arial" pitchFamily="34" charset="-122"/>
                <a:cs typeface="Arial" pitchFamily="34" charset="-120"/>
              </a:rPr>
              <a:t>A short loop: edit, reload, check</a:t>
            </a:r>
            <a:endParaRPr lang="en-US" sz="3200" dirty="0"/>
          </a:p>
        </p:txBody>
      </p:sp>
      <p:sp>
        <p:nvSpPr>
          <p:cNvPr id="4" name="Shape 2"/>
          <p:cNvSpPr/>
          <p:nvPr/>
        </p:nvSpPr>
        <p:spPr>
          <a:xfrm>
            <a:off x="815975" y="1890812"/>
            <a:ext cx="3380284" cy="1970782"/>
          </a:xfrm>
          <a:prstGeom prst="roundRect">
            <a:avLst>
              <a:gd name="adj" fmla="val 4994"/>
            </a:avLst>
          </a:prstGeom>
          <a:solidFill>
            <a:srgbClr val="FDFEFD"/>
          </a:solidFill>
          <a:ln w="6350">
            <a:solidFill>
              <a:srgbClr val="DCE4E8"/>
            </a:solidFill>
            <a:prstDash val="solid"/>
          </a:ln>
        </p:spPr>
      </p:sp>
      <p:sp>
        <p:nvSpPr>
          <p:cNvPr id="5" name="Text 3"/>
          <p:cNvSpPr/>
          <p:nvPr/>
        </p:nvSpPr>
        <p:spPr>
          <a:xfrm>
            <a:off x="1047750" y="2122587"/>
            <a:ext cx="300423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93A"/>
                </a:solidFill>
                <a:latin typeface="Arial" pitchFamily="34" charset="0"/>
                <a:ea typeface="Arial" pitchFamily="34" charset="-122"/>
                <a:cs typeface="Arial" pitchFamily="34" charset="-120"/>
              </a:rPr>
              <a:t>Plugin Reloader</a:t>
            </a:r>
            <a:endParaRPr lang="en-US" sz="1500" dirty="0"/>
          </a:p>
        </p:txBody>
      </p:sp>
      <p:sp>
        <p:nvSpPr>
          <p:cNvPr id="6" name="Text 4"/>
          <p:cNvSpPr/>
          <p:nvPr/>
        </p:nvSpPr>
        <p:spPr>
          <a:xfrm>
            <a:off x="1047750" y="2427387"/>
            <a:ext cx="3004236"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75866"/>
                </a:solidFill>
                <a:latin typeface="Arial" pitchFamily="34" charset="0"/>
                <a:ea typeface="Arial" pitchFamily="34" charset="-122"/>
                <a:cs typeface="Arial" pitchFamily="34" charset="-120"/>
              </a:rPr>
              <a:t>Save, reload, click: see each change in seconds.</a:t>
            </a:r>
            <a:endParaRPr lang="en-US" sz="1200" dirty="0"/>
          </a:p>
        </p:txBody>
      </p:sp>
      <p:sp>
        <p:nvSpPr>
          <p:cNvPr id="7" name="Shape 5"/>
          <p:cNvSpPr/>
          <p:nvPr/>
        </p:nvSpPr>
        <p:spPr>
          <a:xfrm>
            <a:off x="4405809" y="1890812"/>
            <a:ext cx="3380284" cy="1970782"/>
          </a:xfrm>
          <a:prstGeom prst="roundRect">
            <a:avLst>
              <a:gd name="adj" fmla="val 4994"/>
            </a:avLst>
          </a:prstGeom>
          <a:solidFill>
            <a:srgbClr val="FDFEFD"/>
          </a:solidFill>
          <a:ln w="6350">
            <a:solidFill>
              <a:srgbClr val="DCE4E8"/>
            </a:solidFill>
            <a:prstDash val="solid"/>
          </a:ln>
        </p:spPr>
      </p:sp>
      <p:sp>
        <p:nvSpPr>
          <p:cNvPr id="8" name="Text 6"/>
          <p:cNvSpPr/>
          <p:nvPr/>
        </p:nvSpPr>
        <p:spPr>
          <a:xfrm>
            <a:off x="4637584" y="2122587"/>
            <a:ext cx="300423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93A"/>
                </a:solidFill>
                <a:latin typeface="Arial" pitchFamily="34" charset="0"/>
                <a:ea typeface="Arial" pitchFamily="34" charset="-122"/>
                <a:cs typeface="Arial" pitchFamily="34" charset="-120"/>
              </a:rPr>
              <a:t>Python Console</a:t>
            </a:r>
            <a:endParaRPr lang="en-US" sz="1500" dirty="0"/>
          </a:p>
        </p:txBody>
      </p:sp>
      <p:sp>
        <p:nvSpPr>
          <p:cNvPr id="9" name="Text 7"/>
          <p:cNvSpPr/>
          <p:nvPr/>
        </p:nvSpPr>
        <p:spPr>
          <a:xfrm>
            <a:off x="4637584" y="2427387"/>
            <a:ext cx="3004236"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75866"/>
                </a:solidFill>
                <a:latin typeface="Arial" pitchFamily="34" charset="0"/>
                <a:ea typeface="Arial" pitchFamily="34" charset="-122"/>
                <a:cs typeface="Arial" pitchFamily="34" charset="-120"/>
              </a:rPr>
              <a:t>Try each PyQGIS line before it goes into the plugin.</a:t>
            </a:r>
            <a:endParaRPr lang="en-US" sz="1200" dirty="0"/>
          </a:p>
        </p:txBody>
      </p:sp>
      <p:sp>
        <p:nvSpPr>
          <p:cNvPr id="10" name="Shape 8"/>
          <p:cNvSpPr/>
          <p:nvPr/>
        </p:nvSpPr>
        <p:spPr>
          <a:xfrm>
            <a:off x="7995642" y="1890812"/>
            <a:ext cx="3380383" cy="1970782"/>
          </a:xfrm>
          <a:prstGeom prst="roundRect">
            <a:avLst>
              <a:gd name="adj" fmla="val 4994"/>
            </a:avLst>
          </a:prstGeom>
          <a:solidFill>
            <a:srgbClr val="FDFEFD"/>
          </a:solidFill>
          <a:ln w="6350">
            <a:solidFill>
              <a:srgbClr val="DCE4E8"/>
            </a:solidFill>
            <a:prstDash val="solid"/>
          </a:ln>
        </p:spPr>
      </p:sp>
      <p:sp>
        <p:nvSpPr>
          <p:cNvPr id="11" name="Text 9"/>
          <p:cNvSpPr/>
          <p:nvPr/>
        </p:nvSpPr>
        <p:spPr>
          <a:xfrm>
            <a:off x="8227417" y="2122587"/>
            <a:ext cx="300433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93A"/>
                </a:solidFill>
                <a:latin typeface="Arial" pitchFamily="34" charset="0"/>
                <a:ea typeface="Arial" pitchFamily="34" charset="-122"/>
                <a:cs typeface="Arial" pitchFamily="34" charset="-120"/>
              </a:rPr>
              <a:t>Log Messages panel</a:t>
            </a:r>
            <a:endParaRPr lang="en-US" sz="1500" dirty="0"/>
          </a:p>
        </p:txBody>
      </p:sp>
      <p:sp>
        <p:nvSpPr>
          <p:cNvPr id="12" name="Text 10"/>
          <p:cNvSpPr/>
          <p:nvPr/>
        </p:nvSpPr>
        <p:spPr>
          <a:xfrm>
            <a:off x="8227417" y="2427387"/>
            <a:ext cx="3004338"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75866"/>
                </a:solidFill>
                <a:latin typeface="Arial" pitchFamily="34" charset="0"/>
                <a:ea typeface="Arial" pitchFamily="34" charset="-122"/>
                <a:cs typeface="Arial" pitchFamily="34" charset="-120"/>
              </a:rPr>
              <a:t>QgsMessageLog writes progress and warnings to your plugin's own tab.</a:t>
            </a:r>
            <a:endParaRPr lang="en-US" sz="1200" dirty="0"/>
          </a:p>
        </p:txBody>
      </p:sp>
      <p:sp>
        <p:nvSpPr>
          <p:cNvPr id="13" name="Shape 11"/>
          <p:cNvSpPr/>
          <p:nvPr/>
        </p:nvSpPr>
        <p:spPr>
          <a:xfrm>
            <a:off x="815975" y="4071144"/>
            <a:ext cx="3380284" cy="1970881"/>
          </a:xfrm>
          <a:prstGeom prst="roundRect">
            <a:avLst>
              <a:gd name="adj" fmla="val 4994"/>
            </a:avLst>
          </a:prstGeom>
          <a:solidFill>
            <a:srgbClr val="FDFEFD"/>
          </a:solidFill>
          <a:ln w="6350">
            <a:solidFill>
              <a:srgbClr val="DCE4E8"/>
            </a:solidFill>
            <a:prstDash val="solid"/>
          </a:ln>
        </p:spPr>
      </p:sp>
      <p:sp>
        <p:nvSpPr>
          <p:cNvPr id="14" name="Text 12"/>
          <p:cNvSpPr/>
          <p:nvPr/>
        </p:nvSpPr>
        <p:spPr>
          <a:xfrm>
            <a:off x="1047750" y="4302919"/>
            <a:ext cx="300423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93A"/>
                </a:solidFill>
                <a:latin typeface="Arial" pitchFamily="34" charset="0"/>
                <a:ea typeface="Arial" pitchFamily="34" charset="-122"/>
                <a:cs typeface="Arial" pitchFamily="34" charset="-120"/>
              </a:rPr>
              <a:t>First Aid</a:t>
            </a:r>
            <a:endParaRPr lang="en-US" sz="1500" dirty="0"/>
          </a:p>
        </p:txBody>
      </p:sp>
      <p:sp>
        <p:nvSpPr>
          <p:cNvPr id="15" name="Text 13"/>
          <p:cNvSpPr/>
          <p:nvPr/>
        </p:nvSpPr>
        <p:spPr>
          <a:xfrm>
            <a:off x="1047750" y="4607719"/>
            <a:ext cx="3004236"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75866"/>
                </a:solidFill>
                <a:latin typeface="Arial" pitchFamily="34" charset="0"/>
                <a:ea typeface="Arial" pitchFamily="34" charset="-122"/>
                <a:cs typeface="Arial" pitchFamily="34" charset="-120"/>
              </a:rPr>
              <a:t>Shows the traceback and variables when something fails.</a:t>
            </a:r>
            <a:endParaRPr lang="en-US" sz="1200" dirty="0"/>
          </a:p>
        </p:txBody>
      </p:sp>
      <p:sp>
        <p:nvSpPr>
          <p:cNvPr id="16" name="Shape 14"/>
          <p:cNvSpPr/>
          <p:nvPr/>
        </p:nvSpPr>
        <p:spPr>
          <a:xfrm>
            <a:off x="4405809" y="4071144"/>
            <a:ext cx="3380284" cy="1970881"/>
          </a:xfrm>
          <a:prstGeom prst="roundRect">
            <a:avLst>
              <a:gd name="adj" fmla="val 4994"/>
            </a:avLst>
          </a:prstGeom>
          <a:solidFill>
            <a:srgbClr val="FDFEFD"/>
          </a:solidFill>
          <a:ln w="6350">
            <a:solidFill>
              <a:srgbClr val="DCE4E8"/>
            </a:solidFill>
            <a:prstDash val="solid"/>
          </a:ln>
        </p:spPr>
      </p:sp>
      <p:sp>
        <p:nvSpPr>
          <p:cNvPr id="17" name="Text 15"/>
          <p:cNvSpPr/>
          <p:nvPr/>
        </p:nvSpPr>
        <p:spPr>
          <a:xfrm>
            <a:off x="4637584" y="4302919"/>
            <a:ext cx="300423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93A"/>
                </a:solidFill>
                <a:latin typeface="Arial" pitchFamily="34" charset="0"/>
                <a:ea typeface="Arial" pitchFamily="34" charset="-122"/>
                <a:cs typeface="Arial" pitchFamily="34" charset="-120"/>
              </a:rPr>
              <a:t>pytest</a:t>
            </a:r>
            <a:endParaRPr lang="en-US" sz="1500" dirty="0"/>
          </a:p>
        </p:txBody>
      </p:sp>
      <p:sp>
        <p:nvSpPr>
          <p:cNvPr id="18" name="Text 16"/>
          <p:cNvSpPr/>
          <p:nvPr/>
        </p:nvSpPr>
        <p:spPr>
          <a:xfrm>
            <a:off x="4637584" y="4607719"/>
            <a:ext cx="3004236"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75866"/>
                </a:solidFill>
                <a:latin typeface="Arial" pitchFamily="34" charset="0"/>
                <a:ea typeface="Arial" pitchFamily="34" charset="-122"/>
                <a:cs typeface="Arial" pitchFamily="34" charset="-120"/>
              </a:rPr>
              <a:t>Keep calculations out of the GUI code, so they can be tested on their own.</a:t>
            </a:r>
            <a:endParaRPr lang="en-US" sz="1200" dirty="0"/>
          </a:p>
        </p:txBody>
      </p:sp>
      <p:sp>
        <p:nvSpPr>
          <p:cNvPr id="19" name="Shape 17"/>
          <p:cNvSpPr/>
          <p:nvPr/>
        </p:nvSpPr>
        <p:spPr>
          <a:xfrm>
            <a:off x="8001992" y="4077494"/>
            <a:ext cx="3367683" cy="1958181"/>
          </a:xfrm>
          <a:prstGeom prst="roundRect">
            <a:avLst>
              <a:gd name="adj" fmla="val 4702"/>
            </a:avLst>
          </a:prstGeom>
          <a:solidFill>
            <a:srgbClr val="FDFEFD"/>
          </a:solidFill>
          <a:ln w="19050">
            <a:solidFill>
              <a:srgbClr val="1F6F99"/>
            </a:solidFill>
            <a:prstDash val="solid"/>
          </a:ln>
        </p:spPr>
      </p:sp>
      <p:sp>
        <p:nvSpPr>
          <p:cNvPr id="20" name="Text 18"/>
          <p:cNvSpPr/>
          <p:nvPr/>
        </p:nvSpPr>
        <p:spPr>
          <a:xfrm>
            <a:off x="8240117" y="4315619"/>
            <a:ext cx="297817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93A"/>
                </a:solidFill>
                <a:latin typeface="Arial" pitchFamily="34" charset="0"/>
                <a:ea typeface="Arial" pitchFamily="34" charset="-122"/>
                <a:cs typeface="Arial" pitchFamily="34" charset="-120"/>
              </a:rPr>
              <a:t>A clean machine</a:t>
            </a:r>
            <a:endParaRPr lang="en-US" sz="1500" dirty="0"/>
          </a:p>
        </p:txBody>
      </p:sp>
      <p:sp>
        <p:nvSpPr>
          <p:cNvPr id="21" name="Text 19"/>
          <p:cNvSpPr/>
          <p:nvPr/>
        </p:nvSpPr>
        <p:spPr>
          <a:xfrm>
            <a:off x="8240117" y="4620419"/>
            <a:ext cx="2978176"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75866"/>
                </a:solidFill>
                <a:latin typeface="Arial" pitchFamily="34" charset="0"/>
                <a:ea typeface="Arial" pitchFamily="34" charset="-122"/>
                <a:cs typeface="Arial" pitchFamily="34" charset="-120"/>
              </a:rPr>
              <a:t>Install the zip on a colleague's PC before every release.</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6F99"/>
                </a:solidFill>
                <a:latin typeface="Arial" pitchFamily="34" charset="0"/>
                <a:ea typeface="Arial" pitchFamily="34" charset="-122"/>
                <a:cs typeface="Arial" pitchFamily="34" charset="-120"/>
              </a:rPr>
              <a:t>STAGE 6 · COMMON PROBLEMS</a:t>
            </a:r>
            <a:endParaRPr lang="en-US" sz="1200" dirty="0"/>
          </a:p>
        </p:txBody>
      </p:sp>
      <p:sp>
        <p:nvSpPr>
          <p:cNvPr id="3" name="Text 1"/>
          <p:cNvSpPr/>
          <p:nvPr>
            <p:ph type="title"/>
          </p:nvPr>
        </p:nvSpPr>
        <p:spPr>
          <a:xfrm>
            <a:off x="812800" y="1127720"/>
            <a:ext cx="10883392" cy="480516"/>
          </a:xfrm>
          <a:prstGeom prst="rect">
            <a:avLst/>
          </a:prstGeom>
          <a:noFill/>
          <a:ln/>
        </p:spPr>
        <p:txBody>
          <a:bodyPr wrap="square" lIns="0" tIns="0" rIns="0" bIns="0" rtlCol="0" anchor="t">
            <a:normAutofit/>
          </a:bodyPr>
          <a:lstStyle/>
          <a:p>
            <a:pPr algn="l" indent="0" marL="0">
              <a:lnSpc>
                <a:spcPts val="3584"/>
              </a:lnSpc>
              <a:buNone/>
            </a:pPr>
            <a:r>
              <a:rPr lang="en-US" sz="3200" b="1" i="0" dirty="0">
                <a:solidFill>
                  <a:srgbClr val="14293A"/>
                </a:solidFill>
                <a:latin typeface="Arial" pitchFamily="34" charset="0"/>
                <a:ea typeface="Arial" pitchFamily="34" charset="-122"/>
                <a:cs typeface="Arial" pitchFamily="34" charset="-120"/>
              </a:rPr>
              <a:t>Five problems almost every first plugin hits</a:t>
            </a:r>
            <a:endParaRPr lang="en-US" sz="3200" dirty="0"/>
          </a:p>
        </p:txBody>
      </p:sp>
      <p:sp>
        <p:nvSpPr>
          <p:cNvPr id="4" name="Shape 2"/>
          <p:cNvSpPr/>
          <p:nvPr/>
        </p:nvSpPr>
        <p:spPr>
          <a:xfrm>
            <a:off x="11376025" y="1887637"/>
            <a:ext cx="0" cy="2405757"/>
          </a:xfrm>
          <a:prstGeom prst="line">
            <a:avLst/>
          </a:prstGeom>
          <a:noFill/>
          <a:ln w="6350">
            <a:solidFill>
              <a:srgbClr val="DCE4E8"/>
            </a:solidFill>
            <a:prstDash val="solid"/>
          </a:ln>
        </p:spPr>
      </p:sp>
      <p:sp>
        <p:nvSpPr>
          <p:cNvPr id="5" name="Shape 3"/>
          <p:cNvSpPr/>
          <p:nvPr/>
        </p:nvSpPr>
        <p:spPr>
          <a:xfrm>
            <a:off x="812800" y="4290219"/>
            <a:ext cx="10566400" cy="0"/>
          </a:xfrm>
          <a:prstGeom prst="line">
            <a:avLst/>
          </a:prstGeom>
          <a:noFill/>
          <a:ln w="6350">
            <a:solidFill>
              <a:srgbClr val="DCE4E8"/>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1900337"/>
          <a:ext cx="10547350" cy="2386707"/>
        </p:xfrm>
        <a:graphic>
          <a:graphicData uri="http://schemas.openxmlformats.org/drawingml/2006/table">
            <a:tbl>
              <a:tblPr/>
              <a:tblGrid>
                <a:gridCol w="2953258"/>
                <a:gridCol w="3375152"/>
                <a:gridCol w="4218940"/>
              </a:tblGrid>
              <a:tr h="359271">
                <a:tc>
                  <a:txBody>
                    <a:bodyPr/>
                    <a:lstStyle/>
                    <a:p>
                      <a:pPr indent="0" marL="0">
                        <a:lnSpc>
                          <a:spcPts val="1820"/>
                        </a:lnSpc>
                        <a:buNone/>
                      </a:pPr>
                      <a:r>
                        <a:rPr lang="en-US" sz="1300" b="1" dirty="0">
                          <a:solidFill>
                            <a:srgbClr val="F5F7F6"/>
                          </a:solidFill>
                          <a:latin typeface="Arial" pitchFamily="34" charset="0"/>
                          <a:ea typeface="Arial" pitchFamily="34" charset="-122"/>
                          <a:cs typeface="Arial" pitchFamily="34" charset="-120"/>
                        </a:rPr>
                        <a:t>Symptom</a:t>
                      </a:r>
                      <a:endParaRPr lang="en-US" sz="1300" dirty="0">
                        <a:latin typeface="Arial" charset="0"/>
                        <a:ea typeface="Arial" charset="0"/>
                        <a:cs typeface="Arial" charset="0"/>
                      </a:endParaRPr>
                    </a:p>
                  </a:txBody>
                  <a:tcPr marL="57785" marR="57785" marT="57785" marB="57785" anchor="t">
                    <a:lnL w="12700" cap="flat" cmpd="sng" algn="ctr">
                      <a:solidFill>
                        <a:srgbClr val="C4C5C4"/>
                      </a:solidFill>
                      <a:prstDash val="solid"/>
                      <a:round/>
                      <a:headEnd type="none" w="med" len="med"/>
                      <a:tailEnd type="none" w="med" len="med"/>
                    </a:lnL>
                    <a:lnR w="12700" cap="flat" cmpd="sng" algn="ctr">
                      <a:solidFill>
                        <a:srgbClr val="10202C"/>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10202C"/>
                      </a:solidFill>
                      <a:prstDash val="solid"/>
                      <a:round/>
                      <a:headEnd type="none" w="med" len="med"/>
                      <a:tailEnd type="none" w="med" len="med"/>
                    </a:lnB>
                    <a:solidFill>
                      <a:srgbClr val="0F2433"/>
                    </a:solidFill>
                  </a:tcPr>
                </a:tc>
                <a:tc>
                  <a:txBody>
                    <a:bodyPr/>
                    <a:lstStyle/>
                    <a:p>
                      <a:pPr indent="0" marL="0">
                        <a:lnSpc>
                          <a:spcPts val="1820"/>
                        </a:lnSpc>
                        <a:buNone/>
                      </a:pPr>
                      <a:r>
                        <a:rPr lang="en-US" sz="1300" b="1" dirty="0">
                          <a:solidFill>
                            <a:srgbClr val="F5F7F6"/>
                          </a:solidFill>
                          <a:latin typeface="Arial" pitchFamily="34" charset="0"/>
                          <a:ea typeface="Arial" pitchFamily="34" charset="-122"/>
                          <a:cs typeface="Arial" pitchFamily="34" charset="-120"/>
                        </a:rPr>
                        <a:t>Cause</a:t>
                      </a:r>
                      <a:endParaRPr lang="en-US" sz="1300" dirty="0">
                        <a:latin typeface="Arial" charset="0"/>
                        <a:ea typeface="Arial" charset="0"/>
                        <a:cs typeface="Arial" charset="0"/>
                      </a:endParaRPr>
                    </a:p>
                  </a:txBody>
                  <a:tcPr marL="57785" marR="57785" marT="57785" marB="57785" anchor="t">
                    <a:lnL w="12700" cap="flat" cmpd="sng" algn="ctr">
                      <a:solidFill>
                        <a:srgbClr val="10202C"/>
                      </a:solidFill>
                      <a:prstDash val="solid"/>
                      <a:round/>
                      <a:headEnd type="none" w="med" len="med"/>
                      <a:tailEnd type="none" w="med" len="med"/>
                    </a:lnL>
                    <a:lnR w="12700" cap="flat" cmpd="sng" algn="ctr">
                      <a:solidFill>
                        <a:srgbClr val="10202C"/>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10202C"/>
                      </a:solidFill>
                      <a:prstDash val="solid"/>
                      <a:round/>
                      <a:headEnd type="none" w="med" len="med"/>
                      <a:tailEnd type="none" w="med" len="med"/>
                    </a:lnB>
                    <a:solidFill>
                      <a:srgbClr val="0F2433"/>
                    </a:solidFill>
                  </a:tcPr>
                </a:tc>
                <a:tc>
                  <a:txBody>
                    <a:bodyPr/>
                    <a:lstStyle/>
                    <a:p>
                      <a:pPr indent="0" marL="0">
                        <a:lnSpc>
                          <a:spcPts val="1820"/>
                        </a:lnSpc>
                        <a:buNone/>
                      </a:pPr>
                      <a:r>
                        <a:rPr lang="en-US" sz="1300" b="1" dirty="0">
                          <a:solidFill>
                            <a:srgbClr val="F5F7F6"/>
                          </a:solidFill>
                          <a:latin typeface="Arial" pitchFamily="34" charset="0"/>
                          <a:ea typeface="Arial" pitchFamily="34" charset="-122"/>
                          <a:cs typeface="Arial" pitchFamily="34" charset="-120"/>
                        </a:rPr>
                        <a:t>Fix</a:t>
                      </a:r>
                      <a:endParaRPr lang="en-US" sz="1300" dirty="0">
                        <a:latin typeface="Arial" charset="0"/>
                        <a:ea typeface="Arial" charset="0"/>
                        <a:cs typeface="Arial" charset="0"/>
                      </a:endParaRPr>
                    </a:p>
                  </a:txBody>
                  <a:tcPr marL="57785" marR="57785" marT="57785" marB="57785" anchor="t">
                    <a:lnL w="12700" cap="flat" cmpd="sng" algn="ctr">
                      <a:solidFill>
                        <a:srgbClr val="10202C"/>
                      </a:solidFill>
                      <a:prstDash val="solid"/>
                      <a:round/>
                      <a:headEnd type="none" w="med" len="med"/>
                      <a:tailEnd type="none" w="med" len="med"/>
                    </a:lnL>
                    <a:lnR w="12700" cap="flat" cmpd="sng" algn="ctr">
                      <a:solidFill>
                        <a:srgbClr val="10202C"/>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10202C"/>
                      </a:solidFill>
                      <a:prstDash val="solid"/>
                      <a:round/>
                      <a:headEnd type="none" w="med" len="med"/>
                      <a:tailEnd type="none" w="med" len="med"/>
                    </a:lnB>
                    <a:solidFill>
                      <a:srgbClr val="0F2433"/>
                    </a:solidFill>
                  </a:tcPr>
                </a:tc>
              </a:tr>
              <a:tr h="359271">
                <a:tc>
                  <a:txBody>
                    <a:bodyPr/>
                    <a:lstStyle/>
                    <a:p>
                      <a:pPr indent="0" marL="0">
                        <a:lnSpc>
                          <a:spcPts val="1820"/>
                        </a:lnSpc>
                        <a:buNone/>
                      </a:pPr>
                      <a:r>
                        <a:rPr lang="en-US" sz="1300" dirty="0">
                          <a:solidFill>
                            <a:srgbClr val="14293A"/>
                          </a:solidFill>
                          <a:latin typeface="Arial" pitchFamily="34" charset="0"/>
                          <a:ea typeface="Arial" pitchFamily="34" charset="-122"/>
                          <a:cs typeface="Arial" pitchFamily="34" charset="-120"/>
                        </a:rPr>
                        <a:t>QGIS freezes during a run</a:t>
                      </a:r>
                      <a:endParaRPr lang="en-US" sz="1300" dirty="0">
                        <a:latin typeface="Arial" charset="0"/>
                        <a:ea typeface="Arial" charset="0"/>
                        <a:cs typeface="Arial" charset="0"/>
                      </a:endParaRPr>
                    </a:p>
                  </a:txBody>
                  <a:tcPr marL="57785" marR="57785" marT="57785" marB="57785" anchor="t">
                    <a:lnL w="12700" cap="flat" cmpd="sng" algn="ctr">
                      <a:solidFill>
                        <a:srgbClr val="C4C5C4"/>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10202C"/>
                      </a:solidFill>
                      <a:prstDash val="solid"/>
                      <a:round/>
                      <a:headEnd type="none" w="med" len="med"/>
                      <a:tailEnd type="none" w="med" len="med"/>
                    </a:lnT>
                    <a:lnB w="12700" cap="flat" cmpd="sng" algn="ctr">
                      <a:solidFill>
                        <a:srgbClr val="CACBCA"/>
                      </a:solidFill>
                      <a:prstDash val="solid"/>
                      <a:round/>
                      <a:headEnd type="none" w="med" len="med"/>
                      <a:tailEnd type="none" w="med" len="med"/>
                    </a:lnB>
                    <a:solidFill>
                      <a:srgbClr val="FDFEFD"/>
                    </a:solidFill>
                  </a:tcPr>
                </a:tc>
                <a:tc>
                  <a:txBody>
                    <a:bodyPr/>
                    <a:lstStyle/>
                    <a:p>
                      <a:pPr indent="0" marL="0">
                        <a:lnSpc>
                          <a:spcPts val="1820"/>
                        </a:lnSpc>
                        <a:buNone/>
                      </a:pPr>
                      <a:r>
                        <a:rPr lang="en-US" sz="1300" dirty="0">
                          <a:solidFill>
                            <a:srgbClr val="475866"/>
                          </a:solidFill>
                          <a:latin typeface="Arial" pitchFamily="34" charset="0"/>
                          <a:ea typeface="Arial" pitchFamily="34" charset="-122"/>
                          <a:cs typeface="Arial" pitchFamily="34" charset="-120"/>
                        </a:rPr>
                        <a:t>Heavy work on the main thread</a:t>
                      </a:r>
                      <a:endParaRPr lang="en-US" sz="1300" dirty="0">
                        <a:latin typeface="Arial" charset="0"/>
                        <a:ea typeface="Arial" charset="0"/>
                        <a:cs typeface="Arial" charset="0"/>
                      </a:endParaRPr>
                    </a:p>
                  </a:txBody>
                  <a:tcPr marL="57785" marR="57785" marT="57785" marB="57785" anchor="t">
                    <a:lnL w="12700" cap="flat" cmpd="sng" algn="ctr">
                      <a:solidFill>
                        <a:srgbClr val="CACBCA"/>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10202C"/>
                      </a:solidFill>
                      <a:prstDash val="solid"/>
                      <a:round/>
                      <a:headEnd type="none" w="med" len="med"/>
                      <a:tailEnd type="none" w="med" len="med"/>
                    </a:lnT>
                    <a:lnB w="12700" cap="flat" cmpd="sng" algn="ctr">
                      <a:solidFill>
                        <a:srgbClr val="CACBCA"/>
                      </a:solidFill>
                      <a:prstDash val="solid"/>
                      <a:round/>
                      <a:headEnd type="none" w="med" len="med"/>
                      <a:tailEnd type="none" w="med" len="med"/>
                    </a:lnB>
                    <a:solidFill>
                      <a:srgbClr val="FDFEFD"/>
                    </a:solidFill>
                  </a:tcPr>
                </a:tc>
                <a:tc>
                  <a:txBody>
                    <a:bodyPr/>
                    <a:lstStyle/>
                    <a:p>
                      <a:pPr indent="0" marL="0">
                        <a:lnSpc>
                          <a:spcPts val="1820"/>
                        </a:lnSpc>
                        <a:buNone/>
                      </a:pPr>
                      <a:r>
                        <a:rPr lang="en-US" sz="1300" dirty="0">
                          <a:solidFill>
                            <a:srgbClr val="14293A"/>
                          </a:solidFill>
                          <a:latin typeface="Arial" pitchFamily="34" charset="0"/>
                          <a:ea typeface="Arial" pitchFamily="34" charset="-122"/>
                          <a:cs typeface="Arial" pitchFamily="34" charset="-120"/>
                        </a:rPr>
                        <a:t>Move it into a QgsTask or a Processing algorithm</a:t>
                      </a:r>
                      <a:endParaRPr lang="en-US" sz="1300" dirty="0">
                        <a:latin typeface="Arial" charset="0"/>
                        <a:ea typeface="Arial" charset="0"/>
                        <a:cs typeface="Arial" charset="0"/>
                      </a:endParaRPr>
                    </a:p>
                  </a:txBody>
                  <a:tcPr marL="57785" marR="57785" marT="57785" marB="57785" anchor="t">
                    <a:lnL w="12700" cap="flat" cmpd="sng" algn="ctr">
                      <a:solidFill>
                        <a:srgbClr val="CACBCA"/>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10202C"/>
                      </a:solidFill>
                      <a:prstDash val="solid"/>
                      <a:round/>
                      <a:headEnd type="none" w="med" len="med"/>
                      <a:tailEnd type="none" w="med" len="med"/>
                    </a:lnT>
                    <a:lnB w="12700" cap="flat" cmpd="sng" algn="ctr">
                      <a:solidFill>
                        <a:srgbClr val="CACBCA"/>
                      </a:solidFill>
                      <a:prstDash val="solid"/>
                      <a:round/>
                      <a:headEnd type="none" w="med" len="med"/>
                      <a:tailEnd type="none" w="med" len="med"/>
                    </a:lnB>
                    <a:solidFill>
                      <a:srgbClr val="FDFEFD"/>
                    </a:solidFill>
                  </a:tcPr>
                </a:tc>
              </a:tr>
              <a:tr h="359271">
                <a:tc>
                  <a:txBody>
                    <a:bodyPr/>
                    <a:lstStyle/>
                    <a:p>
                      <a:pPr indent="0" marL="0">
                        <a:lnSpc>
                          <a:spcPts val="1820"/>
                        </a:lnSpc>
                        <a:buNone/>
                      </a:pPr>
                      <a:r>
                        <a:rPr lang="en-US" sz="1300" dirty="0">
                          <a:solidFill>
                            <a:srgbClr val="14293A"/>
                          </a:solidFill>
                          <a:latin typeface="Arial" pitchFamily="34" charset="0"/>
                          <a:ea typeface="Arial" pitchFamily="34" charset="-122"/>
                          <a:cs typeface="Arial" pitchFamily="34" charset="-120"/>
                        </a:rPr>
                        <a:t>Duplicate buttons after reload</a:t>
                      </a:r>
                      <a:endParaRPr lang="en-US" sz="1300" dirty="0">
                        <a:latin typeface="Arial" charset="0"/>
                        <a:ea typeface="Arial" charset="0"/>
                        <a:cs typeface="Arial" charset="0"/>
                      </a:endParaRPr>
                    </a:p>
                  </a:txBody>
                  <a:tcPr marL="57785" marR="57785" marT="57785" marB="57785" anchor="t">
                    <a:lnL w="12700" cap="flat" cmpd="sng" algn="ctr">
                      <a:solidFill>
                        <a:srgbClr val="C4C5C4"/>
                      </a:solidFill>
                      <a:prstDash val="solid"/>
                      <a:round/>
                      <a:headEnd type="none" w="med" len="med"/>
                      <a:tailEnd type="none" w="med" len="med"/>
                    </a:lnL>
                    <a:lnR w="12700" cap="flat" cmpd="sng" algn="ctr">
                      <a:solidFill>
                        <a:srgbClr val="BEC2C3"/>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BEC2C3"/>
                      </a:solidFill>
                      <a:prstDash val="solid"/>
                      <a:round/>
                      <a:headEnd type="none" w="med" len="med"/>
                      <a:tailEnd type="none" w="med" len="med"/>
                    </a:lnB>
                    <a:solidFill>
                      <a:srgbClr val="EEF3F5"/>
                    </a:solidFill>
                  </a:tcPr>
                </a:tc>
                <a:tc>
                  <a:txBody>
                    <a:bodyPr/>
                    <a:lstStyle/>
                    <a:p>
                      <a:pPr indent="0" marL="0">
                        <a:lnSpc>
                          <a:spcPts val="1820"/>
                        </a:lnSpc>
                        <a:buNone/>
                      </a:pPr>
                      <a:r>
                        <a:rPr lang="en-US" sz="1300" dirty="0">
                          <a:solidFill>
                            <a:srgbClr val="475866"/>
                          </a:solidFill>
                          <a:latin typeface="Arial" pitchFamily="34" charset="0"/>
                          <a:ea typeface="Arial" pitchFamily="34" charset="-122"/>
                          <a:cs typeface="Arial" pitchFamily="34" charset="-120"/>
                        </a:rPr>
                        <a:t>unload() leaves actions behind</a:t>
                      </a:r>
                      <a:endParaRPr lang="en-US" sz="1300" dirty="0">
                        <a:latin typeface="Arial" charset="0"/>
                        <a:ea typeface="Arial" charset="0"/>
                        <a:cs typeface="Arial" charset="0"/>
                      </a:endParaRPr>
                    </a:p>
                  </a:txBody>
                  <a:tcPr marL="57785" marR="57785" marT="57785" marB="57785" anchor="t">
                    <a:lnL w="12700" cap="flat" cmpd="sng" algn="ctr">
                      <a:solidFill>
                        <a:srgbClr val="BEC2C3"/>
                      </a:solidFill>
                      <a:prstDash val="solid"/>
                      <a:round/>
                      <a:headEnd type="none" w="med" len="med"/>
                      <a:tailEnd type="none" w="med" len="med"/>
                    </a:lnL>
                    <a:lnR w="12700" cap="flat" cmpd="sng" algn="ctr">
                      <a:solidFill>
                        <a:srgbClr val="BEC2C3"/>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BEC2C3"/>
                      </a:solidFill>
                      <a:prstDash val="solid"/>
                      <a:round/>
                      <a:headEnd type="none" w="med" len="med"/>
                      <a:tailEnd type="none" w="med" len="med"/>
                    </a:lnB>
                    <a:solidFill>
                      <a:srgbClr val="EEF3F5"/>
                    </a:solidFill>
                  </a:tcPr>
                </a:tc>
                <a:tc>
                  <a:txBody>
                    <a:bodyPr/>
                    <a:lstStyle/>
                    <a:p>
                      <a:pPr indent="0" marL="0">
                        <a:lnSpc>
                          <a:spcPts val="1820"/>
                        </a:lnSpc>
                        <a:buNone/>
                      </a:pPr>
                      <a:r>
                        <a:rPr lang="en-US" sz="1300" dirty="0">
                          <a:solidFill>
                            <a:srgbClr val="14293A"/>
                          </a:solidFill>
                          <a:latin typeface="Arial" pitchFamily="34" charset="0"/>
                          <a:ea typeface="Arial" pitchFamily="34" charset="-122"/>
                          <a:cs typeface="Arial" pitchFamily="34" charset="-120"/>
                        </a:rPr>
                        <a:t>Remove every action and menu in unload()</a:t>
                      </a:r>
                      <a:endParaRPr lang="en-US" sz="1300" dirty="0">
                        <a:latin typeface="Arial" charset="0"/>
                        <a:ea typeface="Arial" charset="0"/>
                        <a:cs typeface="Arial" charset="0"/>
                      </a:endParaRPr>
                    </a:p>
                  </a:txBody>
                  <a:tcPr marL="57785" marR="57785" marT="57785" marB="57785" anchor="t">
                    <a:lnL w="12700" cap="flat" cmpd="sng" algn="ctr">
                      <a:solidFill>
                        <a:srgbClr val="BEC2C3"/>
                      </a:solidFill>
                      <a:prstDash val="solid"/>
                      <a:round/>
                      <a:headEnd type="none" w="med" len="med"/>
                      <a:tailEnd type="none" w="med" len="med"/>
                    </a:lnL>
                    <a:lnR w="12700" cap="flat" cmpd="sng" algn="ctr">
                      <a:solidFill>
                        <a:srgbClr val="BEC2C3"/>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BEC2C3"/>
                      </a:solidFill>
                      <a:prstDash val="solid"/>
                      <a:round/>
                      <a:headEnd type="none" w="med" len="med"/>
                      <a:tailEnd type="none" w="med" len="med"/>
                    </a:lnB>
                    <a:solidFill>
                      <a:srgbClr val="EEF3F5"/>
                    </a:solidFill>
                  </a:tcPr>
                </a:tc>
              </a:tr>
              <a:tr h="590352">
                <a:tc>
                  <a:txBody>
                    <a:bodyPr/>
                    <a:lstStyle/>
                    <a:p>
                      <a:pPr indent="0" marL="0">
                        <a:lnSpc>
                          <a:spcPts val="1820"/>
                        </a:lnSpc>
                        <a:buNone/>
                      </a:pPr>
                      <a:r>
                        <a:rPr lang="en-US" sz="1300" dirty="0">
                          <a:solidFill>
                            <a:srgbClr val="14293A"/>
                          </a:solidFill>
                          <a:latin typeface="Arial" pitchFamily="34" charset="0"/>
                          <a:ea typeface="Arial" pitchFamily="34" charset="-122"/>
                          <a:cs typeface="Arial" pitchFamily="34" charset="-120"/>
                        </a:rPr>
                        <a:t>Works only on your PC</a:t>
                      </a:r>
                      <a:endParaRPr lang="en-US" sz="1300" dirty="0">
                        <a:latin typeface="Arial" charset="0"/>
                        <a:ea typeface="Arial" charset="0"/>
                        <a:cs typeface="Arial" charset="0"/>
                      </a:endParaRPr>
                    </a:p>
                  </a:txBody>
                  <a:tcPr marL="57785" marR="57785" marT="57785" marB="57785" anchor="t">
                    <a:lnL w="12700" cap="flat" cmpd="sng" algn="ctr">
                      <a:solidFill>
                        <a:srgbClr val="C4C5C4"/>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BEC2C3"/>
                      </a:solidFill>
                      <a:prstDash val="solid"/>
                      <a:round/>
                      <a:headEnd type="none" w="med" len="med"/>
                      <a:tailEnd type="none" w="med" len="med"/>
                    </a:lnT>
                    <a:lnB w="12700" cap="flat" cmpd="sng" algn="ctr">
                      <a:solidFill>
                        <a:srgbClr val="CACBCA"/>
                      </a:solidFill>
                      <a:prstDash val="solid"/>
                      <a:round/>
                      <a:headEnd type="none" w="med" len="med"/>
                      <a:tailEnd type="none" w="med" len="med"/>
                    </a:lnB>
                    <a:solidFill>
                      <a:srgbClr val="FDFEFD"/>
                    </a:solidFill>
                  </a:tcPr>
                </a:tc>
                <a:tc>
                  <a:txBody>
                    <a:bodyPr/>
                    <a:lstStyle/>
                    <a:p>
                      <a:pPr indent="0" marL="0">
                        <a:lnSpc>
                          <a:spcPts val="1820"/>
                        </a:lnSpc>
                        <a:buNone/>
                      </a:pPr>
                      <a:r>
                        <a:rPr lang="en-US" sz="1300" dirty="0">
                          <a:solidFill>
                            <a:srgbClr val="475866"/>
                          </a:solidFill>
                          <a:latin typeface="Arial" pitchFamily="34" charset="0"/>
                          <a:ea typeface="Arial" pitchFamily="34" charset="-122"/>
                          <a:cs typeface="Arial" pitchFamily="34" charset="-120"/>
                        </a:rPr>
                        <a:t>Hard-coded paths or missing packages</a:t>
                      </a:r>
                      <a:endParaRPr lang="en-US" sz="1300" dirty="0">
                        <a:latin typeface="Arial" charset="0"/>
                        <a:ea typeface="Arial" charset="0"/>
                        <a:cs typeface="Arial" charset="0"/>
                      </a:endParaRPr>
                    </a:p>
                  </a:txBody>
                  <a:tcPr marL="57785" marR="57785" marT="57785" marB="57785" anchor="t">
                    <a:lnL w="12700" cap="flat" cmpd="sng" algn="ctr">
                      <a:solidFill>
                        <a:srgbClr val="CACBCA"/>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BEC2C3"/>
                      </a:solidFill>
                      <a:prstDash val="solid"/>
                      <a:round/>
                      <a:headEnd type="none" w="med" len="med"/>
                      <a:tailEnd type="none" w="med" len="med"/>
                    </a:lnT>
                    <a:lnB w="12700" cap="flat" cmpd="sng" algn="ctr">
                      <a:solidFill>
                        <a:srgbClr val="CACBCA"/>
                      </a:solidFill>
                      <a:prstDash val="solid"/>
                      <a:round/>
                      <a:headEnd type="none" w="med" len="med"/>
                      <a:tailEnd type="none" w="med" len="med"/>
                    </a:lnB>
                    <a:solidFill>
                      <a:srgbClr val="FDFEFD"/>
                    </a:solidFill>
                  </a:tcPr>
                </a:tc>
                <a:tc>
                  <a:txBody>
                    <a:bodyPr/>
                    <a:lstStyle/>
                    <a:p>
                      <a:pPr indent="0" marL="0">
                        <a:lnSpc>
                          <a:spcPts val="1820"/>
                        </a:lnSpc>
                        <a:buNone/>
                      </a:pPr>
                      <a:r>
                        <a:rPr lang="en-US" sz="1300" dirty="0">
                          <a:solidFill>
                            <a:srgbClr val="14293A"/>
                          </a:solidFill>
                          <a:latin typeface="Arial" pitchFamily="34" charset="0"/>
                          <a:ea typeface="Arial" pitchFamily="34" charset="-122"/>
                          <a:cs typeface="Arial" pitchFamily="34" charset="-120"/>
                        </a:rPr>
                        <a:t>Build paths from __file__; check imports and tell users what to install</a:t>
                      </a:r>
                      <a:endParaRPr lang="en-US" sz="1300" dirty="0">
                        <a:latin typeface="Arial" charset="0"/>
                        <a:ea typeface="Arial" charset="0"/>
                        <a:cs typeface="Arial" charset="0"/>
                      </a:endParaRPr>
                    </a:p>
                  </a:txBody>
                  <a:tcPr marL="57785" marR="57785" marT="57785" marB="57785" anchor="t">
                    <a:lnL w="12700" cap="flat" cmpd="sng" algn="ctr">
                      <a:solidFill>
                        <a:srgbClr val="CACBCA"/>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BEC2C3"/>
                      </a:solidFill>
                      <a:prstDash val="solid"/>
                      <a:round/>
                      <a:headEnd type="none" w="med" len="med"/>
                      <a:tailEnd type="none" w="med" len="med"/>
                    </a:lnT>
                    <a:lnB w="12700" cap="flat" cmpd="sng" algn="ctr">
                      <a:solidFill>
                        <a:srgbClr val="CACBCA"/>
                      </a:solidFill>
                      <a:prstDash val="solid"/>
                      <a:round/>
                      <a:headEnd type="none" w="med" len="med"/>
                      <a:tailEnd type="none" w="med" len="med"/>
                    </a:lnB>
                    <a:solidFill>
                      <a:srgbClr val="FDFEFD"/>
                    </a:solidFill>
                  </a:tcPr>
                </a:tc>
              </a:tr>
              <a:tr h="359271">
                <a:tc>
                  <a:txBody>
                    <a:bodyPr/>
                    <a:lstStyle/>
                    <a:p>
                      <a:pPr indent="0" marL="0">
                        <a:lnSpc>
                          <a:spcPts val="1820"/>
                        </a:lnSpc>
                        <a:buNone/>
                      </a:pPr>
                      <a:r>
                        <a:rPr lang="en-US" sz="1300" dirty="0">
                          <a:solidFill>
                            <a:srgbClr val="14293A"/>
                          </a:solidFill>
                          <a:latin typeface="Arial" pitchFamily="34" charset="0"/>
                          <a:ea typeface="Arial" pitchFamily="34" charset="-122"/>
                          <a:cs typeface="Arial" pitchFamily="34" charset="-120"/>
                        </a:rPr>
                        <a:t>Breaks on a newer QGIS</a:t>
                      </a:r>
                      <a:endParaRPr lang="en-US" sz="1300" dirty="0">
                        <a:latin typeface="Arial" charset="0"/>
                        <a:ea typeface="Arial" charset="0"/>
                        <a:cs typeface="Arial" charset="0"/>
                      </a:endParaRPr>
                    </a:p>
                  </a:txBody>
                  <a:tcPr marL="57785" marR="57785" marT="57785" marB="57785" anchor="t">
                    <a:lnL w="12700" cap="flat" cmpd="sng" algn="ctr">
                      <a:solidFill>
                        <a:srgbClr val="C4C5C4"/>
                      </a:solidFill>
                      <a:prstDash val="solid"/>
                      <a:round/>
                      <a:headEnd type="none" w="med" len="med"/>
                      <a:tailEnd type="none" w="med" len="med"/>
                    </a:lnL>
                    <a:lnR w="12700" cap="flat" cmpd="sng" algn="ctr">
                      <a:solidFill>
                        <a:srgbClr val="BEC2C3"/>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BEC2C3"/>
                      </a:solidFill>
                      <a:prstDash val="solid"/>
                      <a:round/>
                      <a:headEnd type="none" w="med" len="med"/>
                      <a:tailEnd type="none" w="med" len="med"/>
                    </a:lnB>
                    <a:solidFill>
                      <a:srgbClr val="EEF3F5"/>
                    </a:solidFill>
                  </a:tcPr>
                </a:tc>
                <a:tc>
                  <a:txBody>
                    <a:bodyPr/>
                    <a:lstStyle/>
                    <a:p>
                      <a:pPr indent="0" marL="0">
                        <a:lnSpc>
                          <a:spcPts val="1820"/>
                        </a:lnSpc>
                        <a:buNone/>
                      </a:pPr>
                      <a:r>
                        <a:rPr lang="en-US" sz="1300" dirty="0">
                          <a:solidFill>
                            <a:srgbClr val="475866"/>
                          </a:solidFill>
                          <a:latin typeface="Arial" pitchFamily="34" charset="0"/>
                          <a:ea typeface="Arial" pitchFamily="34" charset="-122"/>
                          <a:cs typeface="Arial" pitchFamily="34" charset="-120"/>
                        </a:rPr>
                        <a:t>PyQt5 imported directly</a:t>
                      </a:r>
                      <a:endParaRPr lang="en-US" sz="1300" dirty="0">
                        <a:latin typeface="Arial" charset="0"/>
                        <a:ea typeface="Arial" charset="0"/>
                        <a:cs typeface="Arial" charset="0"/>
                      </a:endParaRPr>
                    </a:p>
                  </a:txBody>
                  <a:tcPr marL="57785" marR="57785" marT="57785" marB="57785" anchor="t">
                    <a:lnL w="12700" cap="flat" cmpd="sng" algn="ctr">
                      <a:solidFill>
                        <a:srgbClr val="BEC2C3"/>
                      </a:solidFill>
                      <a:prstDash val="solid"/>
                      <a:round/>
                      <a:headEnd type="none" w="med" len="med"/>
                      <a:tailEnd type="none" w="med" len="med"/>
                    </a:lnL>
                    <a:lnR w="12700" cap="flat" cmpd="sng" algn="ctr">
                      <a:solidFill>
                        <a:srgbClr val="BEC2C3"/>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BEC2C3"/>
                      </a:solidFill>
                      <a:prstDash val="solid"/>
                      <a:round/>
                      <a:headEnd type="none" w="med" len="med"/>
                      <a:tailEnd type="none" w="med" len="med"/>
                    </a:lnB>
                    <a:solidFill>
                      <a:srgbClr val="EEF3F5"/>
                    </a:solidFill>
                  </a:tcPr>
                </a:tc>
                <a:tc>
                  <a:txBody>
                    <a:bodyPr/>
                    <a:lstStyle/>
                    <a:p>
                      <a:pPr indent="0" marL="0">
                        <a:lnSpc>
                          <a:spcPts val="1820"/>
                        </a:lnSpc>
                        <a:buNone/>
                      </a:pPr>
                      <a:r>
                        <a:rPr lang="en-US" sz="1300" dirty="0">
                          <a:solidFill>
                            <a:srgbClr val="14293A"/>
                          </a:solidFill>
                          <a:latin typeface="Arial" pitchFamily="34" charset="0"/>
                          <a:ea typeface="Arial" pitchFamily="34" charset="-122"/>
                          <a:cs typeface="Arial" pitchFamily="34" charset="-120"/>
                        </a:rPr>
                        <a:t>Import from qgis.PyQt instead</a:t>
                      </a:r>
                      <a:endParaRPr lang="en-US" sz="1300" dirty="0">
                        <a:latin typeface="Arial" charset="0"/>
                        <a:ea typeface="Arial" charset="0"/>
                        <a:cs typeface="Arial" charset="0"/>
                      </a:endParaRPr>
                    </a:p>
                  </a:txBody>
                  <a:tcPr marL="57785" marR="57785" marT="57785" marB="57785" anchor="t">
                    <a:lnL w="12700" cap="flat" cmpd="sng" algn="ctr">
                      <a:solidFill>
                        <a:srgbClr val="BEC2C3"/>
                      </a:solidFill>
                      <a:prstDash val="solid"/>
                      <a:round/>
                      <a:headEnd type="none" w="med" len="med"/>
                      <a:tailEnd type="none" w="med" len="med"/>
                    </a:lnL>
                    <a:lnR w="12700" cap="flat" cmpd="sng" algn="ctr">
                      <a:solidFill>
                        <a:srgbClr val="BEC2C3"/>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BEC2C3"/>
                      </a:solidFill>
                      <a:prstDash val="solid"/>
                      <a:round/>
                      <a:headEnd type="none" w="med" len="med"/>
                      <a:tailEnd type="none" w="med" len="med"/>
                    </a:lnB>
                    <a:solidFill>
                      <a:srgbClr val="EEF3F5"/>
                    </a:solidFill>
                  </a:tcPr>
                </a:tc>
              </a:tr>
              <a:tr h="359271">
                <a:tc>
                  <a:txBody>
                    <a:bodyPr/>
                    <a:lstStyle/>
                    <a:p>
                      <a:pPr indent="0" marL="0">
                        <a:lnSpc>
                          <a:spcPts val="1820"/>
                        </a:lnSpc>
                        <a:buNone/>
                      </a:pPr>
                      <a:r>
                        <a:rPr lang="en-US" sz="1300" dirty="0">
                          <a:solidFill>
                            <a:srgbClr val="14293A"/>
                          </a:solidFill>
                          <a:latin typeface="Arial" pitchFamily="34" charset="0"/>
                          <a:ea typeface="Arial" pitchFamily="34" charset="-122"/>
                          <a:cs typeface="Arial" pitchFamily="34" charset="-120"/>
                        </a:rPr>
                        <a:t>Slow on large rasters</a:t>
                      </a:r>
                      <a:endParaRPr lang="en-US" sz="1300" dirty="0">
                        <a:latin typeface="Arial" charset="0"/>
                        <a:ea typeface="Arial" charset="0"/>
                        <a:cs typeface="Arial" charset="0"/>
                      </a:endParaRPr>
                    </a:p>
                  </a:txBody>
                  <a:tcPr marL="57785" marR="57785" marT="57785" marB="57785" anchor="t">
                    <a:lnL w="12700" cap="flat" cmpd="sng" algn="ctr">
                      <a:solidFill>
                        <a:srgbClr val="C4C5C4"/>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BEC2C3"/>
                      </a:solidFill>
                      <a:prstDash val="solid"/>
                      <a:round/>
                      <a:headEnd type="none" w="med" len="med"/>
                      <a:tailEnd type="none" w="med" len="med"/>
                    </a:lnT>
                    <a:lnB w="12700" cap="flat" cmpd="sng" algn="ctr">
                      <a:solidFill>
                        <a:srgbClr val="CACBCA"/>
                      </a:solidFill>
                      <a:prstDash val="solid"/>
                      <a:round/>
                      <a:headEnd type="none" w="med" len="med"/>
                      <a:tailEnd type="none" w="med" len="med"/>
                    </a:lnB>
                    <a:solidFill>
                      <a:srgbClr val="FDFEFD"/>
                    </a:solidFill>
                  </a:tcPr>
                </a:tc>
                <a:tc>
                  <a:txBody>
                    <a:bodyPr/>
                    <a:lstStyle/>
                    <a:p>
                      <a:pPr indent="0" marL="0">
                        <a:lnSpc>
                          <a:spcPts val="1820"/>
                        </a:lnSpc>
                        <a:buNone/>
                      </a:pPr>
                      <a:r>
                        <a:rPr lang="en-US" sz="1300" dirty="0">
                          <a:solidFill>
                            <a:srgbClr val="475866"/>
                          </a:solidFill>
                          <a:latin typeface="Arial" pitchFamily="34" charset="0"/>
                          <a:ea typeface="Arial" pitchFamily="34" charset="-122"/>
                          <a:cs typeface="Arial" pitchFamily="34" charset="-120"/>
                        </a:rPr>
                        <a:t>Looping cell by cell in Python</a:t>
                      </a:r>
                      <a:endParaRPr lang="en-US" sz="1300" dirty="0">
                        <a:latin typeface="Arial" charset="0"/>
                        <a:ea typeface="Arial" charset="0"/>
                        <a:cs typeface="Arial" charset="0"/>
                      </a:endParaRPr>
                    </a:p>
                  </a:txBody>
                  <a:tcPr marL="57785" marR="57785" marT="57785" marB="57785" anchor="t">
                    <a:lnL w="12700" cap="flat" cmpd="sng" algn="ctr">
                      <a:solidFill>
                        <a:srgbClr val="CACBCA"/>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BEC2C3"/>
                      </a:solidFill>
                      <a:prstDash val="solid"/>
                      <a:round/>
                      <a:headEnd type="none" w="med" len="med"/>
                      <a:tailEnd type="none" w="med" len="med"/>
                    </a:lnT>
                    <a:lnB w="12700" cap="flat" cmpd="sng" algn="ctr">
                      <a:solidFill>
                        <a:srgbClr val="CACBCA"/>
                      </a:solidFill>
                      <a:prstDash val="solid"/>
                      <a:round/>
                      <a:headEnd type="none" w="med" len="med"/>
                      <a:tailEnd type="none" w="med" len="med"/>
                    </a:lnB>
                    <a:solidFill>
                      <a:srgbClr val="FDFEFD"/>
                    </a:solidFill>
                  </a:tcPr>
                </a:tc>
                <a:tc>
                  <a:txBody>
                    <a:bodyPr/>
                    <a:lstStyle/>
                    <a:p>
                      <a:pPr indent="0" marL="0">
                        <a:lnSpc>
                          <a:spcPts val="1820"/>
                        </a:lnSpc>
                        <a:buNone/>
                      </a:pPr>
                      <a:r>
                        <a:rPr lang="en-US" sz="1300" dirty="0">
                          <a:solidFill>
                            <a:srgbClr val="14293A"/>
                          </a:solidFill>
                          <a:latin typeface="Arial" pitchFamily="34" charset="0"/>
                          <a:ea typeface="Arial" pitchFamily="34" charset="-122"/>
                          <a:cs typeface="Arial" pitchFamily="34" charset="-120"/>
                        </a:rPr>
                        <a:t>Use NumPy arrays, GDAL or Processing tools</a:t>
                      </a:r>
                      <a:endParaRPr lang="en-US" sz="1300" dirty="0">
                        <a:latin typeface="Arial" charset="0"/>
                        <a:ea typeface="Arial" charset="0"/>
                        <a:cs typeface="Arial" charset="0"/>
                      </a:endParaRPr>
                    </a:p>
                  </a:txBody>
                  <a:tcPr marL="57785" marR="57785" marT="57785" marB="57785" anchor="t">
                    <a:lnL w="12700" cap="flat" cmpd="sng" algn="ctr">
                      <a:solidFill>
                        <a:srgbClr val="CACBCA"/>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BEC2C3"/>
                      </a:solidFill>
                      <a:prstDash val="solid"/>
                      <a:round/>
                      <a:headEnd type="none" w="med" len="med"/>
                      <a:tailEnd type="none" w="med" len="med"/>
                    </a:lnT>
                    <a:lnB w="12700" cap="flat" cmpd="sng" algn="ctr">
                      <a:solidFill>
                        <a:srgbClr val="CACBCA"/>
                      </a:solidFill>
                      <a:prstDash val="solid"/>
                      <a:round/>
                      <a:headEnd type="none" w="med" len="med"/>
                      <a:tailEnd type="none" w="med" len="med"/>
                    </a:lnB>
                    <a:solidFill>
                      <a:srgbClr val="FDFEFD"/>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6F99"/>
                </a:solidFill>
                <a:latin typeface="Arial" pitchFamily="34" charset="0"/>
                <a:ea typeface="Arial" pitchFamily="34" charset="-122"/>
                <a:cs typeface="Arial" pitchFamily="34" charset="-120"/>
              </a:rPr>
              <a:t>STAGE 7 · PACKAGE</a:t>
            </a:r>
            <a:endParaRPr lang="en-US" sz="1200" dirty="0"/>
          </a:p>
        </p:txBody>
      </p:sp>
      <p:sp>
        <p:nvSpPr>
          <p:cNvPr id="3" name="Text 1"/>
          <p:cNvSpPr/>
          <p:nvPr>
            <p:ph type="title"/>
          </p:nvPr>
        </p:nvSpPr>
        <p:spPr>
          <a:xfrm>
            <a:off x="812800" y="1127720"/>
            <a:ext cx="10883392" cy="480516"/>
          </a:xfrm>
          <a:prstGeom prst="rect">
            <a:avLst/>
          </a:prstGeom>
          <a:noFill/>
          <a:ln/>
        </p:spPr>
        <p:txBody>
          <a:bodyPr wrap="square" lIns="0" tIns="0" rIns="0" bIns="0" rtlCol="0" anchor="t">
            <a:normAutofit/>
          </a:bodyPr>
          <a:lstStyle/>
          <a:p>
            <a:pPr algn="l" indent="0" marL="0">
              <a:lnSpc>
                <a:spcPts val="3584"/>
              </a:lnSpc>
              <a:buNone/>
            </a:pPr>
            <a:r>
              <a:rPr lang="en-US" sz="3200" b="1" i="0" dirty="0">
                <a:solidFill>
                  <a:srgbClr val="14293A"/>
                </a:solidFill>
                <a:latin typeface="Arial" pitchFamily="34" charset="0"/>
                <a:ea typeface="Arial" pitchFamily="34" charset="-122"/>
                <a:cs typeface="Arial" pitchFamily="34" charset="-120"/>
              </a:rPr>
              <a:t>A complete metadata.txt and a clean zip</a:t>
            </a:r>
            <a:endParaRPr lang="en-US" sz="3200" dirty="0"/>
          </a:p>
        </p:txBody>
      </p:sp>
      <p:sp>
        <p:nvSpPr>
          <p:cNvPr id="4" name="Shape 2"/>
          <p:cNvSpPr/>
          <p:nvPr/>
        </p:nvSpPr>
        <p:spPr>
          <a:xfrm>
            <a:off x="812800" y="1887637"/>
            <a:ext cx="4064000" cy="2189163"/>
          </a:xfrm>
          <a:prstGeom prst="roundRect">
            <a:avLst>
              <a:gd name="adj" fmla="val 4641"/>
            </a:avLst>
          </a:prstGeom>
          <a:solidFill>
            <a:srgbClr val="0F2433"/>
          </a:solidFill>
          <a:ln/>
        </p:spPr>
      </p:sp>
      <p:sp>
        <p:nvSpPr>
          <p:cNvPr id="5" name="Text 3"/>
          <p:cNvSpPr/>
          <p:nvPr/>
        </p:nvSpPr>
        <p:spPr>
          <a:xfrm>
            <a:off x="1016000" y="2090837"/>
            <a:ext cx="376732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DB7E0"/>
                </a:solidFill>
                <a:latin typeface="Arial" pitchFamily="34" charset="0"/>
                <a:ea typeface="Arial" pitchFamily="34" charset="-122"/>
                <a:cs typeface="Arial" pitchFamily="34" charset="-120"/>
              </a:rPr>
              <a:t>ZIP STRUCTURE</a:t>
            </a:r>
            <a:endParaRPr lang="en-US" sz="1200" dirty="0"/>
          </a:p>
        </p:txBody>
      </p:sp>
      <p:sp>
        <p:nvSpPr>
          <p:cNvPr id="6" name="Text 4"/>
          <p:cNvSpPr/>
          <p:nvPr/>
        </p:nvSpPr>
        <p:spPr>
          <a:xfrm>
            <a:off x="1016000" y="2380357"/>
            <a:ext cx="3767328"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F2A35E"/>
                </a:solidFill>
                <a:latin typeface="Courier New" pitchFamily="49" charset="0"/>
                <a:ea typeface="Courier New" pitchFamily="49" charset="-122"/>
                <a:cs typeface="Courier New" pitchFamily="49" charset="-120"/>
              </a:rPr>
              <a:t>my_plugin.zip</a:t>
            </a:r>
            <a:endParaRPr lang="en-US" sz="1200" dirty="0"/>
          </a:p>
        </p:txBody>
      </p:sp>
      <p:sp>
        <p:nvSpPr>
          <p:cNvPr id="7" name="Text 5"/>
          <p:cNvSpPr/>
          <p:nvPr/>
        </p:nvSpPr>
        <p:spPr>
          <a:xfrm>
            <a:off x="1016000" y="2593677"/>
            <a:ext cx="3767328"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5DB7E0"/>
                </a:solidFill>
                <a:latin typeface="Courier New" pitchFamily="49" charset="0"/>
                <a:ea typeface="Courier New" pitchFamily="49" charset="-122"/>
                <a:cs typeface="Courier New" pitchFamily="49" charset="-120"/>
              </a:rPr>
              <a:t>└── my_plugin/</a:t>
            </a:r>
            <a:endParaRPr lang="en-US" sz="1200" dirty="0"/>
          </a:p>
        </p:txBody>
      </p:sp>
      <p:sp>
        <p:nvSpPr>
          <p:cNvPr id="8" name="Text 6"/>
          <p:cNvSpPr/>
          <p:nvPr/>
        </p:nvSpPr>
        <p:spPr>
          <a:xfrm>
            <a:off x="1384300" y="2806998"/>
            <a:ext cx="3387979"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EF2"/>
                </a:solidFill>
                <a:latin typeface="Courier New" pitchFamily="49" charset="0"/>
                <a:ea typeface="Courier New" pitchFamily="49" charset="-122"/>
                <a:cs typeface="Courier New" pitchFamily="49" charset="-120"/>
              </a:rPr>
              <a:t>├── metadata.txt</a:t>
            </a:r>
            <a:endParaRPr lang="en-US" sz="1200" dirty="0"/>
          </a:p>
        </p:txBody>
      </p:sp>
      <p:sp>
        <p:nvSpPr>
          <p:cNvPr id="9" name="Text 7"/>
          <p:cNvSpPr/>
          <p:nvPr/>
        </p:nvSpPr>
        <p:spPr>
          <a:xfrm>
            <a:off x="1384300" y="3020318"/>
            <a:ext cx="3387979"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EF2"/>
                </a:solidFill>
                <a:latin typeface="Courier New" pitchFamily="49" charset="0"/>
                <a:ea typeface="Courier New" pitchFamily="49" charset="-122"/>
                <a:cs typeface="Courier New" pitchFamily="49" charset="-120"/>
              </a:rPr>
              <a:t>├── __init__.py</a:t>
            </a:r>
            <a:endParaRPr lang="en-US" sz="1200" dirty="0"/>
          </a:p>
        </p:txBody>
      </p:sp>
      <p:sp>
        <p:nvSpPr>
          <p:cNvPr id="10" name="Text 8"/>
          <p:cNvSpPr/>
          <p:nvPr/>
        </p:nvSpPr>
        <p:spPr>
          <a:xfrm>
            <a:off x="1384300" y="3233638"/>
            <a:ext cx="3387979"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EF2"/>
                </a:solidFill>
                <a:latin typeface="Courier New" pitchFamily="49" charset="0"/>
                <a:ea typeface="Courier New" pitchFamily="49" charset="-122"/>
                <a:cs typeface="Courier New" pitchFamily="49" charset="-120"/>
              </a:rPr>
              <a:t>├── my_plugin.py</a:t>
            </a:r>
            <a:endParaRPr lang="en-US" sz="1200" dirty="0"/>
          </a:p>
        </p:txBody>
      </p:sp>
      <p:sp>
        <p:nvSpPr>
          <p:cNvPr id="11" name="Text 9"/>
          <p:cNvSpPr/>
          <p:nvPr/>
        </p:nvSpPr>
        <p:spPr>
          <a:xfrm>
            <a:off x="1384300" y="3446959"/>
            <a:ext cx="3387979"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EF2"/>
                </a:solidFill>
                <a:latin typeface="Courier New" pitchFamily="49" charset="0"/>
                <a:ea typeface="Courier New" pitchFamily="49" charset="-122"/>
                <a:cs typeface="Courier New" pitchFamily="49" charset="-120"/>
              </a:rPr>
              <a:t>├── my_dialog.ui</a:t>
            </a:r>
            <a:endParaRPr lang="en-US" sz="1200" dirty="0"/>
          </a:p>
        </p:txBody>
      </p:sp>
      <p:sp>
        <p:nvSpPr>
          <p:cNvPr id="12" name="Text 10"/>
          <p:cNvSpPr/>
          <p:nvPr/>
        </p:nvSpPr>
        <p:spPr>
          <a:xfrm>
            <a:off x="1384300" y="3660279"/>
            <a:ext cx="3387979"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EF2"/>
                </a:solidFill>
                <a:latin typeface="Courier New" pitchFamily="49" charset="0"/>
                <a:ea typeface="Courier New" pitchFamily="49" charset="-122"/>
                <a:cs typeface="Courier New" pitchFamily="49" charset="-120"/>
              </a:rPr>
              <a:t>└── icon.png</a:t>
            </a:r>
            <a:endParaRPr lang="en-US" sz="1200" dirty="0"/>
          </a:p>
        </p:txBody>
      </p:sp>
      <p:sp>
        <p:nvSpPr>
          <p:cNvPr id="13" name="Text 11"/>
          <p:cNvSpPr/>
          <p:nvPr/>
        </p:nvSpPr>
        <p:spPr>
          <a:xfrm>
            <a:off x="812800" y="4229199"/>
            <a:ext cx="4185920"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75866"/>
                </a:solidFill>
                <a:latin typeface="Arial" pitchFamily="34" charset="0"/>
                <a:ea typeface="Arial" pitchFamily="34" charset="-122"/>
                <a:cs typeface="Arial" pitchFamily="34" charset="-120"/>
              </a:rPr>
              <a:t>Leave out __pycache__, .git and test data. Test the zip with Plugins › Manage and Install Plugins › Install from ZIP.</a:t>
            </a:r>
            <a:endParaRPr lang="en-US" sz="1200" dirty="0"/>
          </a:p>
        </p:txBody>
      </p:sp>
      <p:sp>
        <p:nvSpPr>
          <p:cNvPr id="14" name="Shape 12"/>
          <p:cNvSpPr/>
          <p:nvPr/>
        </p:nvSpPr>
        <p:spPr>
          <a:xfrm>
            <a:off x="5089525" y="1897162"/>
            <a:ext cx="3041650" cy="4138513"/>
          </a:xfrm>
          <a:prstGeom prst="roundRect">
            <a:avLst>
              <a:gd name="adj" fmla="val 3027"/>
            </a:avLst>
          </a:prstGeom>
          <a:solidFill>
            <a:srgbClr val="FDFEFD"/>
          </a:solidFill>
          <a:ln w="19050">
            <a:solidFill>
              <a:srgbClr val="1F6F99"/>
            </a:solidFill>
            <a:prstDash val="solid"/>
          </a:ln>
        </p:spPr>
      </p:sp>
      <p:sp>
        <p:nvSpPr>
          <p:cNvPr id="15" name="Text 13"/>
          <p:cNvSpPr/>
          <p:nvPr/>
        </p:nvSpPr>
        <p:spPr>
          <a:xfrm>
            <a:off x="5327650" y="2135287"/>
            <a:ext cx="264236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93A"/>
                </a:solidFill>
                <a:latin typeface="Arial" pitchFamily="34" charset="0"/>
                <a:ea typeface="Arial" pitchFamily="34" charset="-122"/>
                <a:cs typeface="Arial" pitchFamily="34" charset="-120"/>
              </a:rPr>
              <a:t>Required</a:t>
            </a:r>
            <a:endParaRPr lang="en-US" sz="1500" dirty="0"/>
          </a:p>
        </p:txBody>
      </p:sp>
      <p:sp>
        <p:nvSpPr>
          <p:cNvPr id="16" name="Text 14"/>
          <p:cNvSpPr/>
          <p:nvPr/>
        </p:nvSpPr>
        <p:spPr>
          <a:xfrm>
            <a:off x="5327650" y="2465487"/>
            <a:ext cx="2642362" cy="1975644"/>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1F6F99"/>
                </a:solidFill>
                <a:latin typeface="Courier New" pitchFamily="49" charset="0"/>
                <a:ea typeface="Courier New" pitchFamily="49" charset="-122"/>
                <a:cs typeface="Courier New" pitchFamily="49" charset="-120"/>
              </a:rPr>
              <a:t>name</a:t>
            </a:r>
            <a:endParaRPr lang="en-US" sz="1200" dirty="0"/>
          </a:p>
          <a:p>
            <a:pPr algn="l" indent="0" marL="0">
              <a:lnSpc>
                <a:spcPts val="1920"/>
              </a:lnSpc>
              <a:buNone/>
            </a:pPr>
            <a:r>
              <a:rPr lang="en-US" sz="1200" dirty="0">
                <a:solidFill>
                  <a:srgbClr val="1F6F99"/>
                </a:solidFill>
                <a:latin typeface="Courier New" pitchFamily="49" charset="0"/>
                <a:ea typeface="Courier New" pitchFamily="49" charset="-122"/>
                <a:cs typeface="Courier New" pitchFamily="49" charset="-120"/>
              </a:rPr>
              <a:t>qgisMinimumVersion</a:t>
            </a:r>
            <a:endParaRPr lang="en-US" sz="1200" dirty="0"/>
          </a:p>
          <a:p>
            <a:pPr algn="l" indent="0" marL="0">
              <a:lnSpc>
                <a:spcPts val="1920"/>
              </a:lnSpc>
              <a:buNone/>
            </a:pPr>
            <a:r>
              <a:rPr lang="en-US" sz="1200" dirty="0">
                <a:solidFill>
                  <a:srgbClr val="1F6F99"/>
                </a:solidFill>
                <a:latin typeface="Courier New" pitchFamily="49" charset="0"/>
                <a:ea typeface="Courier New" pitchFamily="49" charset="-122"/>
                <a:cs typeface="Courier New" pitchFamily="49" charset="-120"/>
              </a:rPr>
              <a:t>description</a:t>
            </a:r>
            <a:endParaRPr lang="en-US" sz="1200" dirty="0"/>
          </a:p>
          <a:p>
            <a:pPr algn="l" indent="0" marL="0">
              <a:lnSpc>
                <a:spcPts val="1920"/>
              </a:lnSpc>
              <a:buNone/>
            </a:pPr>
            <a:r>
              <a:rPr lang="en-US" sz="1200" dirty="0">
                <a:solidFill>
                  <a:srgbClr val="1F6F99"/>
                </a:solidFill>
                <a:latin typeface="Courier New" pitchFamily="49" charset="0"/>
                <a:ea typeface="Courier New" pitchFamily="49" charset="-122"/>
                <a:cs typeface="Courier New" pitchFamily="49" charset="-120"/>
              </a:rPr>
              <a:t>about</a:t>
            </a:r>
            <a:endParaRPr lang="en-US" sz="1200" dirty="0"/>
          </a:p>
          <a:p>
            <a:pPr algn="l" indent="0" marL="0">
              <a:lnSpc>
                <a:spcPts val="1920"/>
              </a:lnSpc>
              <a:buNone/>
            </a:pPr>
            <a:r>
              <a:rPr lang="en-US" sz="1200" dirty="0">
                <a:solidFill>
                  <a:srgbClr val="1F6F99"/>
                </a:solidFill>
                <a:latin typeface="Courier New" pitchFamily="49" charset="0"/>
                <a:ea typeface="Courier New" pitchFamily="49" charset="-122"/>
                <a:cs typeface="Courier New" pitchFamily="49" charset="-120"/>
              </a:rPr>
              <a:t>version</a:t>
            </a:r>
            <a:endParaRPr lang="en-US" sz="1200" dirty="0"/>
          </a:p>
          <a:p>
            <a:pPr algn="l" indent="0" marL="0">
              <a:lnSpc>
                <a:spcPts val="1920"/>
              </a:lnSpc>
              <a:buNone/>
            </a:pPr>
            <a:r>
              <a:rPr lang="en-US" sz="1200" dirty="0">
                <a:solidFill>
                  <a:srgbClr val="1F6F99"/>
                </a:solidFill>
                <a:latin typeface="Courier New" pitchFamily="49" charset="0"/>
                <a:ea typeface="Courier New" pitchFamily="49" charset="-122"/>
                <a:cs typeface="Courier New" pitchFamily="49" charset="-120"/>
              </a:rPr>
              <a:t>author</a:t>
            </a:r>
            <a:endParaRPr lang="en-US" sz="1200" dirty="0"/>
          </a:p>
          <a:p>
            <a:pPr algn="l" indent="0" marL="0">
              <a:lnSpc>
                <a:spcPts val="1920"/>
              </a:lnSpc>
              <a:buNone/>
            </a:pPr>
            <a:r>
              <a:rPr lang="en-US" sz="1200" dirty="0">
                <a:solidFill>
                  <a:srgbClr val="1F6F99"/>
                </a:solidFill>
                <a:latin typeface="Courier New" pitchFamily="49" charset="0"/>
                <a:ea typeface="Courier New" pitchFamily="49" charset="-122"/>
                <a:cs typeface="Courier New" pitchFamily="49" charset="-120"/>
              </a:rPr>
              <a:t>email</a:t>
            </a:r>
            <a:endParaRPr lang="en-US" sz="1200" dirty="0"/>
          </a:p>
          <a:p>
            <a:pPr algn="l" indent="0" marL="0">
              <a:lnSpc>
                <a:spcPts val="1920"/>
              </a:lnSpc>
              <a:buNone/>
            </a:pPr>
            <a:r>
              <a:rPr lang="en-US" sz="1200" dirty="0">
                <a:solidFill>
                  <a:srgbClr val="1F6F99"/>
                </a:solidFill>
                <a:latin typeface="Courier New" pitchFamily="49" charset="0"/>
                <a:ea typeface="Courier New" pitchFamily="49" charset="-122"/>
                <a:cs typeface="Courier New" pitchFamily="49" charset="-120"/>
              </a:rPr>
              <a:t>repository</a:t>
            </a:r>
            <a:endParaRPr lang="en-US" sz="1200" dirty="0"/>
          </a:p>
        </p:txBody>
      </p:sp>
      <p:sp>
        <p:nvSpPr>
          <p:cNvPr id="17" name="Shape 15"/>
          <p:cNvSpPr/>
          <p:nvPr/>
        </p:nvSpPr>
        <p:spPr>
          <a:xfrm>
            <a:off x="8347075" y="1890812"/>
            <a:ext cx="3028950" cy="4151213"/>
          </a:xfrm>
          <a:prstGeom prst="roundRect">
            <a:avLst>
              <a:gd name="adj" fmla="val 3249"/>
            </a:avLst>
          </a:prstGeom>
          <a:solidFill>
            <a:srgbClr val="FDFEFD"/>
          </a:solidFill>
          <a:ln w="6350">
            <a:solidFill>
              <a:srgbClr val="DCE4E8"/>
            </a:solidFill>
            <a:prstDash val="solid"/>
          </a:ln>
        </p:spPr>
      </p:sp>
      <p:sp>
        <p:nvSpPr>
          <p:cNvPr id="18" name="Text 16"/>
          <p:cNvSpPr/>
          <p:nvPr/>
        </p:nvSpPr>
        <p:spPr>
          <a:xfrm>
            <a:off x="8578850" y="2122587"/>
            <a:ext cx="264236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93A"/>
                </a:solidFill>
                <a:latin typeface="Arial" pitchFamily="34" charset="0"/>
                <a:ea typeface="Arial" pitchFamily="34" charset="-122"/>
                <a:cs typeface="Arial" pitchFamily="34" charset="-120"/>
              </a:rPr>
              <a:t>Recommended</a:t>
            </a:r>
            <a:endParaRPr lang="en-US" sz="1500" dirty="0"/>
          </a:p>
        </p:txBody>
      </p:sp>
      <p:sp>
        <p:nvSpPr>
          <p:cNvPr id="19" name="Text 17"/>
          <p:cNvSpPr/>
          <p:nvPr/>
        </p:nvSpPr>
        <p:spPr>
          <a:xfrm>
            <a:off x="8578850" y="2452787"/>
            <a:ext cx="2642362" cy="1488083"/>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475866"/>
                </a:solidFill>
                <a:latin typeface="Courier New" pitchFamily="49" charset="0"/>
                <a:ea typeface="Courier New" pitchFamily="49" charset="-122"/>
                <a:cs typeface="Courier New" pitchFamily="49" charset="-120"/>
              </a:rPr>
              <a:t>tracker</a:t>
            </a:r>
            <a:endParaRPr lang="en-US" sz="1200" dirty="0"/>
          </a:p>
          <a:p>
            <a:pPr algn="l" indent="0" marL="0">
              <a:lnSpc>
                <a:spcPts val="1920"/>
              </a:lnSpc>
              <a:buNone/>
            </a:pPr>
            <a:r>
              <a:rPr lang="en-US" sz="1200" dirty="0">
                <a:solidFill>
                  <a:srgbClr val="475866"/>
                </a:solidFill>
                <a:latin typeface="Courier New" pitchFamily="49" charset="0"/>
                <a:ea typeface="Courier New" pitchFamily="49" charset="-122"/>
                <a:cs typeface="Courier New" pitchFamily="49" charset="-120"/>
              </a:rPr>
              <a:t>homepage</a:t>
            </a:r>
            <a:endParaRPr lang="en-US" sz="1200" dirty="0"/>
          </a:p>
          <a:p>
            <a:pPr algn="l" indent="0" marL="0">
              <a:lnSpc>
                <a:spcPts val="1920"/>
              </a:lnSpc>
              <a:buNone/>
            </a:pPr>
            <a:r>
              <a:rPr lang="en-US" sz="1200" dirty="0">
                <a:solidFill>
                  <a:srgbClr val="475866"/>
                </a:solidFill>
                <a:latin typeface="Courier New" pitchFamily="49" charset="0"/>
                <a:ea typeface="Courier New" pitchFamily="49" charset="-122"/>
                <a:cs typeface="Courier New" pitchFamily="49" charset="-120"/>
              </a:rPr>
              <a:t>tags</a:t>
            </a:r>
            <a:endParaRPr lang="en-US" sz="1200" dirty="0"/>
          </a:p>
          <a:p>
            <a:pPr algn="l" indent="0" marL="0">
              <a:lnSpc>
                <a:spcPts val="1920"/>
              </a:lnSpc>
              <a:buNone/>
            </a:pPr>
            <a:r>
              <a:rPr lang="en-US" sz="1200" dirty="0">
                <a:solidFill>
                  <a:srgbClr val="475866"/>
                </a:solidFill>
                <a:latin typeface="Courier New" pitchFamily="49" charset="0"/>
                <a:ea typeface="Courier New" pitchFamily="49" charset="-122"/>
                <a:cs typeface="Courier New" pitchFamily="49" charset="-120"/>
              </a:rPr>
              <a:t>icon</a:t>
            </a:r>
            <a:endParaRPr lang="en-US" sz="1200" dirty="0"/>
          </a:p>
          <a:p>
            <a:pPr algn="l" indent="0" marL="0">
              <a:lnSpc>
                <a:spcPts val="1920"/>
              </a:lnSpc>
              <a:buNone/>
            </a:pPr>
            <a:r>
              <a:rPr lang="en-US" sz="1200" dirty="0">
                <a:solidFill>
                  <a:srgbClr val="475866"/>
                </a:solidFill>
                <a:latin typeface="Courier New" pitchFamily="49" charset="0"/>
                <a:ea typeface="Courier New" pitchFamily="49" charset="-122"/>
                <a:cs typeface="Courier New" pitchFamily="49" charset="-120"/>
              </a:rPr>
              <a:t>changelog</a:t>
            </a:r>
            <a:endParaRPr lang="en-US" sz="1200" dirty="0"/>
          </a:p>
          <a:p>
            <a:pPr algn="l" indent="0" marL="0">
              <a:lnSpc>
                <a:spcPts val="1920"/>
              </a:lnSpc>
              <a:buNone/>
            </a:pPr>
            <a:r>
              <a:rPr lang="en-US" sz="1200" dirty="0">
                <a:solidFill>
                  <a:srgbClr val="475866"/>
                </a:solidFill>
                <a:latin typeface="Courier New" pitchFamily="49" charset="0"/>
                <a:ea typeface="Courier New" pitchFamily="49" charset="-122"/>
                <a:cs typeface="Courier New" pitchFamily="49" charset="-120"/>
              </a:rPr>
              <a:t>experimental</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6F99"/>
                </a:solidFill>
                <a:latin typeface="Arial" pitchFamily="34" charset="0"/>
                <a:ea typeface="Arial" pitchFamily="34" charset="-122"/>
                <a:cs typeface="Arial" pitchFamily="34" charset="-120"/>
              </a:rPr>
              <a:t>STAGE 8 · SHARE AND MAINTAIN</a:t>
            </a:r>
            <a:endParaRPr lang="en-US" sz="1200" dirty="0"/>
          </a:p>
        </p:txBody>
      </p:sp>
      <p:sp>
        <p:nvSpPr>
          <p:cNvPr id="3" name="Text 1"/>
          <p:cNvSpPr/>
          <p:nvPr>
            <p:ph type="title"/>
          </p:nvPr>
        </p:nvSpPr>
        <p:spPr>
          <a:xfrm>
            <a:off x="812800" y="1127720"/>
            <a:ext cx="10883392" cy="480516"/>
          </a:xfrm>
          <a:prstGeom prst="rect">
            <a:avLst/>
          </a:prstGeom>
          <a:noFill/>
          <a:ln/>
        </p:spPr>
        <p:txBody>
          <a:bodyPr wrap="square" lIns="0" tIns="0" rIns="0" bIns="0" rtlCol="0" anchor="t">
            <a:normAutofit/>
          </a:bodyPr>
          <a:lstStyle/>
          <a:p>
            <a:pPr algn="l" indent="0" marL="0">
              <a:lnSpc>
                <a:spcPts val="3584"/>
              </a:lnSpc>
              <a:buNone/>
            </a:pPr>
            <a:r>
              <a:rPr lang="en-US" sz="3200" b="1" i="0" dirty="0">
                <a:solidFill>
                  <a:srgbClr val="14293A"/>
                </a:solidFill>
                <a:latin typeface="Arial" pitchFamily="34" charset="0"/>
                <a:ea typeface="Arial" pitchFamily="34" charset="-122"/>
                <a:cs typeface="Arial" pitchFamily="34" charset="-120"/>
              </a:rPr>
              <a:t>Three ways to get it to users</a:t>
            </a:r>
            <a:endParaRPr lang="en-US" sz="3200" dirty="0"/>
          </a:p>
        </p:txBody>
      </p:sp>
      <p:sp>
        <p:nvSpPr>
          <p:cNvPr id="4" name="Shape 2"/>
          <p:cNvSpPr/>
          <p:nvPr/>
        </p:nvSpPr>
        <p:spPr>
          <a:xfrm>
            <a:off x="815975" y="1890812"/>
            <a:ext cx="3380284" cy="3013373"/>
          </a:xfrm>
          <a:prstGeom prst="roundRect">
            <a:avLst>
              <a:gd name="adj" fmla="val 3266"/>
            </a:avLst>
          </a:prstGeom>
          <a:solidFill>
            <a:srgbClr val="FDFEFD"/>
          </a:solidFill>
          <a:ln w="6350">
            <a:solidFill>
              <a:srgbClr val="DCE4E8"/>
            </a:solidFill>
            <a:prstDash val="solid"/>
          </a:ln>
        </p:spPr>
      </p:sp>
      <p:sp>
        <p:nvSpPr>
          <p:cNvPr id="5" name="Text 3"/>
          <p:cNvSpPr/>
          <p:nvPr/>
        </p:nvSpPr>
        <p:spPr>
          <a:xfrm>
            <a:off x="1047750" y="2122587"/>
            <a:ext cx="300423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6F99"/>
                </a:solidFill>
                <a:latin typeface="Arial" pitchFamily="34" charset="0"/>
                <a:ea typeface="Arial" pitchFamily="34" charset="-122"/>
                <a:cs typeface="Arial" pitchFamily="34" charset="-120"/>
              </a:rPr>
              <a:t>Team zip</a:t>
            </a:r>
            <a:endParaRPr lang="en-US" sz="1500" dirty="0"/>
          </a:p>
        </p:txBody>
      </p:sp>
      <p:sp>
        <p:nvSpPr>
          <p:cNvPr id="6" name="Text 4"/>
          <p:cNvSpPr/>
          <p:nvPr/>
        </p:nvSpPr>
        <p:spPr>
          <a:xfrm>
            <a:off x="1047750" y="2452787"/>
            <a:ext cx="3004236"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4293A"/>
                </a:solidFill>
                <a:latin typeface="Arial" pitchFamily="34" charset="0"/>
                <a:ea typeface="Arial" pitchFamily="34" charset="-122"/>
                <a:cs typeface="Arial" pitchFamily="34" charset="-120"/>
              </a:rPr>
              <a:t>Send the zip; colleagues use Install from ZIP.</a:t>
            </a:r>
            <a:endParaRPr lang="en-US" sz="1200" dirty="0"/>
          </a:p>
        </p:txBody>
      </p:sp>
      <p:sp>
        <p:nvSpPr>
          <p:cNvPr id="7" name="Text 5"/>
          <p:cNvSpPr/>
          <p:nvPr/>
        </p:nvSpPr>
        <p:spPr>
          <a:xfrm>
            <a:off x="1047750" y="4451449"/>
            <a:ext cx="3004236"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75866"/>
                </a:solidFill>
                <a:latin typeface="Arial" pitchFamily="34" charset="0"/>
                <a:ea typeface="Arial" pitchFamily="34" charset="-122"/>
                <a:cs typeface="Arial" pitchFamily="34" charset="-120"/>
              </a:rPr>
              <a:t>Quickest, but no update notices.</a:t>
            </a:r>
            <a:endParaRPr lang="en-US" sz="1200" dirty="0"/>
          </a:p>
        </p:txBody>
      </p:sp>
      <p:sp>
        <p:nvSpPr>
          <p:cNvPr id="8" name="Shape 6"/>
          <p:cNvSpPr/>
          <p:nvPr/>
        </p:nvSpPr>
        <p:spPr>
          <a:xfrm>
            <a:off x="4405809" y="1890812"/>
            <a:ext cx="3380284" cy="3013373"/>
          </a:xfrm>
          <a:prstGeom prst="roundRect">
            <a:avLst>
              <a:gd name="adj" fmla="val 3266"/>
            </a:avLst>
          </a:prstGeom>
          <a:solidFill>
            <a:srgbClr val="FDFEFD"/>
          </a:solidFill>
          <a:ln w="6350">
            <a:solidFill>
              <a:srgbClr val="DCE4E8"/>
            </a:solidFill>
            <a:prstDash val="solid"/>
          </a:ln>
        </p:spPr>
      </p:sp>
      <p:sp>
        <p:nvSpPr>
          <p:cNvPr id="9" name="Text 7"/>
          <p:cNvSpPr/>
          <p:nvPr/>
        </p:nvSpPr>
        <p:spPr>
          <a:xfrm>
            <a:off x="4637584" y="2122587"/>
            <a:ext cx="300423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6F99"/>
                </a:solidFill>
                <a:latin typeface="Arial" pitchFamily="34" charset="0"/>
                <a:ea typeface="Arial" pitchFamily="34" charset="-122"/>
                <a:cs typeface="Arial" pitchFamily="34" charset="-120"/>
              </a:rPr>
              <a:t>Team repository</a:t>
            </a:r>
            <a:endParaRPr lang="en-US" sz="1500" dirty="0"/>
          </a:p>
        </p:txBody>
      </p:sp>
      <p:sp>
        <p:nvSpPr>
          <p:cNvPr id="10" name="Text 8"/>
          <p:cNvSpPr/>
          <p:nvPr/>
        </p:nvSpPr>
        <p:spPr>
          <a:xfrm>
            <a:off x="4637584" y="2452787"/>
            <a:ext cx="3004236"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4293A"/>
                </a:solidFill>
                <a:latin typeface="Arial" pitchFamily="34" charset="0"/>
                <a:ea typeface="Arial" pitchFamily="34" charset="-122"/>
                <a:cs typeface="Arial" pitchFamily="34" charset="-120"/>
              </a:rPr>
              <a:t>Host a plugins.xml on a shared server and add it in the Plugin Manager settings.</a:t>
            </a:r>
            <a:endParaRPr lang="en-US" sz="1200" dirty="0"/>
          </a:p>
        </p:txBody>
      </p:sp>
      <p:sp>
        <p:nvSpPr>
          <p:cNvPr id="11" name="Text 9"/>
          <p:cNvSpPr/>
          <p:nvPr/>
        </p:nvSpPr>
        <p:spPr>
          <a:xfrm>
            <a:off x="4637584" y="4451449"/>
            <a:ext cx="3004236"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75866"/>
                </a:solidFill>
                <a:latin typeface="Arial" pitchFamily="34" charset="0"/>
                <a:ea typeface="Arial" pitchFamily="34" charset="-122"/>
                <a:cs typeface="Arial" pitchFamily="34" charset="-120"/>
              </a:rPr>
              <a:t>Colleagues get update notices.</a:t>
            </a:r>
            <a:endParaRPr lang="en-US" sz="1200" dirty="0"/>
          </a:p>
        </p:txBody>
      </p:sp>
      <p:sp>
        <p:nvSpPr>
          <p:cNvPr id="12" name="Shape 10"/>
          <p:cNvSpPr/>
          <p:nvPr/>
        </p:nvSpPr>
        <p:spPr>
          <a:xfrm>
            <a:off x="7995642" y="1890812"/>
            <a:ext cx="3380284" cy="3013373"/>
          </a:xfrm>
          <a:prstGeom prst="roundRect">
            <a:avLst>
              <a:gd name="adj" fmla="val 3266"/>
            </a:avLst>
          </a:prstGeom>
          <a:solidFill>
            <a:srgbClr val="FDFEFD"/>
          </a:solidFill>
          <a:ln w="6350">
            <a:solidFill>
              <a:srgbClr val="DCE4E8"/>
            </a:solidFill>
            <a:prstDash val="solid"/>
          </a:ln>
        </p:spPr>
      </p:sp>
      <p:sp>
        <p:nvSpPr>
          <p:cNvPr id="13" name="Text 11"/>
          <p:cNvSpPr/>
          <p:nvPr/>
        </p:nvSpPr>
        <p:spPr>
          <a:xfrm>
            <a:off x="8227417" y="2122587"/>
            <a:ext cx="300423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6F99"/>
                </a:solidFill>
                <a:latin typeface="Arial" pitchFamily="34" charset="0"/>
                <a:ea typeface="Arial" pitchFamily="34" charset="-122"/>
                <a:cs typeface="Arial" pitchFamily="34" charset="-120"/>
              </a:rPr>
              <a:t>plugins.qgis.org</a:t>
            </a:r>
            <a:endParaRPr lang="en-US" sz="1500" dirty="0"/>
          </a:p>
        </p:txBody>
      </p:sp>
      <p:sp>
        <p:nvSpPr>
          <p:cNvPr id="14" name="Text 12"/>
          <p:cNvSpPr/>
          <p:nvPr/>
        </p:nvSpPr>
        <p:spPr>
          <a:xfrm>
            <a:off x="8227417" y="2452787"/>
            <a:ext cx="3004236"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4293A"/>
                </a:solidFill>
                <a:latin typeface="Arial" pitchFamily="34" charset="0"/>
                <a:ea typeface="Arial" pitchFamily="34" charset="-122"/>
                <a:cs typeface="Arial" pitchFamily="34" charset="-120"/>
              </a:rPr>
              <a:t>Public. Needs an OSGeo account, a GPL-compatible licence and a public code repository.</a:t>
            </a:r>
            <a:endParaRPr lang="en-US" sz="1200" dirty="0"/>
          </a:p>
        </p:txBody>
      </p:sp>
      <p:sp>
        <p:nvSpPr>
          <p:cNvPr id="15" name="Text 13"/>
          <p:cNvSpPr/>
          <p:nvPr/>
        </p:nvSpPr>
        <p:spPr>
          <a:xfrm>
            <a:off x="8227417" y="4451449"/>
            <a:ext cx="3004236"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75866"/>
                </a:solidFill>
                <a:latin typeface="Arial" pitchFamily="34" charset="0"/>
                <a:ea typeface="Arial" pitchFamily="34" charset="-122"/>
                <a:cs typeface="Arial" pitchFamily="34" charset="-120"/>
              </a:rPr>
              <a:t>Reviewed before it goes live.</a:t>
            </a:r>
            <a:endParaRPr lang="en-US" sz="1200" dirty="0"/>
          </a:p>
        </p:txBody>
      </p:sp>
      <p:sp>
        <p:nvSpPr>
          <p:cNvPr id="16" name="Shape 14"/>
          <p:cNvSpPr/>
          <p:nvPr/>
        </p:nvSpPr>
        <p:spPr>
          <a:xfrm>
            <a:off x="812800" y="5212159"/>
            <a:ext cx="10566400" cy="833041"/>
          </a:xfrm>
          <a:prstGeom prst="roundRect">
            <a:avLst>
              <a:gd name="adj" fmla="val 12196"/>
            </a:avLst>
          </a:prstGeom>
          <a:solidFill>
            <a:srgbClr val="0F2433"/>
          </a:solidFill>
          <a:ln/>
        </p:spPr>
      </p:sp>
      <p:sp>
        <p:nvSpPr>
          <p:cNvPr id="17" name="Text 15"/>
          <p:cNvSpPr/>
          <p:nvPr/>
        </p:nvSpPr>
        <p:spPr>
          <a:xfrm>
            <a:off x="1066800" y="5522020"/>
            <a:ext cx="172223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07A2E"/>
                </a:solidFill>
                <a:latin typeface="Arial" pitchFamily="34" charset="0"/>
                <a:ea typeface="Arial" pitchFamily="34" charset="-122"/>
                <a:cs typeface="Arial" pitchFamily="34" charset="-120"/>
              </a:rPr>
              <a:t>AFTER RELEASE</a:t>
            </a:r>
            <a:endParaRPr lang="en-US" sz="1200" dirty="0"/>
          </a:p>
        </p:txBody>
      </p:sp>
      <p:sp>
        <p:nvSpPr>
          <p:cNvPr id="18" name="Text 16"/>
          <p:cNvSpPr/>
          <p:nvPr/>
        </p:nvSpPr>
        <p:spPr>
          <a:xfrm>
            <a:off x="2806799" y="5415359"/>
            <a:ext cx="264665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F7F6"/>
                </a:solidFill>
                <a:latin typeface="Arial" pitchFamily="34" charset="0"/>
                <a:ea typeface="Arial" pitchFamily="34" charset="-122"/>
                <a:cs typeface="Arial" pitchFamily="34" charset="-120"/>
              </a:rPr>
              <a:t>Bump version and changelog each release</a:t>
            </a:r>
            <a:endParaRPr lang="en-US" sz="1200" dirty="0"/>
          </a:p>
        </p:txBody>
      </p:sp>
      <p:sp>
        <p:nvSpPr>
          <p:cNvPr id="19" name="Text 17"/>
          <p:cNvSpPr/>
          <p:nvPr/>
        </p:nvSpPr>
        <p:spPr>
          <a:xfrm>
            <a:off x="5681166" y="5522020"/>
            <a:ext cx="26466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F7F6"/>
                </a:solidFill>
                <a:latin typeface="Arial" pitchFamily="34" charset="0"/>
                <a:ea typeface="Arial" pitchFamily="34" charset="-122"/>
                <a:cs typeface="Arial" pitchFamily="34" charset="-120"/>
              </a:rPr>
              <a:t>Track bugs as GitHub issues</a:t>
            </a:r>
            <a:endParaRPr lang="en-US" sz="1200" dirty="0"/>
          </a:p>
        </p:txBody>
      </p:sp>
      <p:sp>
        <p:nvSpPr>
          <p:cNvPr id="20" name="Text 18"/>
          <p:cNvSpPr/>
          <p:nvPr/>
        </p:nvSpPr>
        <p:spPr>
          <a:xfrm>
            <a:off x="8555534" y="5522020"/>
            <a:ext cx="26466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F7F6"/>
                </a:solidFill>
                <a:latin typeface="Arial" pitchFamily="34" charset="0"/>
                <a:ea typeface="Arial" pitchFamily="34" charset="-122"/>
                <a:cs typeface="Arial" pitchFamily="34" charset="-120"/>
              </a:rPr>
              <a:t>Retest on each new QGIS LTR</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6F99"/>
                </a:solidFill>
                <a:latin typeface="Arial" pitchFamily="34" charset="0"/>
                <a:ea typeface="Arial" pitchFamily="34" charset="-122"/>
                <a:cs typeface="Arial" pitchFamily="34" charset="-120"/>
              </a:rPr>
              <a:t>LESSONS FROM FMB TOOLS AND RAIN2FLOOD</a:t>
            </a:r>
            <a:endParaRPr lang="en-US" sz="1200" dirty="0"/>
          </a:p>
        </p:txBody>
      </p:sp>
      <p:sp>
        <p:nvSpPr>
          <p:cNvPr id="3" name="Text 1"/>
          <p:cNvSpPr/>
          <p:nvPr>
            <p:ph type="title"/>
          </p:nvPr>
        </p:nvSpPr>
        <p:spPr>
          <a:xfrm>
            <a:off x="812800" y="1127720"/>
            <a:ext cx="10883392" cy="480516"/>
          </a:xfrm>
          <a:prstGeom prst="rect">
            <a:avLst/>
          </a:prstGeom>
          <a:noFill/>
          <a:ln/>
        </p:spPr>
        <p:txBody>
          <a:bodyPr wrap="square" lIns="0" tIns="0" rIns="0" bIns="0" rtlCol="0" anchor="t">
            <a:normAutofit/>
          </a:bodyPr>
          <a:lstStyle/>
          <a:p>
            <a:pPr algn="l" indent="0" marL="0">
              <a:lnSpc>
                <a:spcPts val="3584"/>
              </a:lnSpc>
              <a:buNone/>
            </a:pPr>
            <a:r>
              <a:rPr lang="en-US" sz="3200" b="1" i="0" dirty="0">
                <a:solidFill>
                  <a:srgbClr val="14293A"/>
                </a:solidFill>
                <a:latin typeface="Arial" pitchFamily="34" charset="0"/>
                <a:ea typeface="Arial" pitchFamily="34" charset="-122"/>
                <a:cs typeface="Arial" pitchFamily="34" charset="-120"/>
              </a:rPr>
              <a:t>What building these taught me</a:t>
            </a:r>
            <a:endParaRPr lang="en-US" sz="3200" dirty="0"/>
          </a:p>
        </p:txBody>
      </p:sp>
      <p:sp>
        <p:nvSpPr>
          <p:cNvPr id="4" name="Shape 2"/>
          <p:cNvSpPr/>
          <p:nvPr/>
        </p:nvSpPr>
        <p:spPr>
          <a:xfrm>
            <a:off x="815975" y="1890812"/>
            <a:ext cx="5175250" cy="1970782"/>
          </a:xfrm>
          <a:prstGeom prst="roundRect">
            <a:avLst>
              <a:gd name="adj" fmla="val 4994"/>
            </a:avLst>
          </a:prstGeom>
          <a:solidFill>
            <a:srgbClr val="FDFEFD"/>
          </a:solidFill>
          <a:ln w="6350">
            <a:solidFill>
              <a:srgbClr val="DCE4E8"/>
            </a:solidFill>
            <a:prstDash val="solid"/>
          </a:ln>
        </p:spPr>
      </p:sp>
      <p:sp>
        <p:nvSpPr>
          <p:cNvPr id="5" name="Text 3"/>
          <p:cNvSpPr/>
          <p:nvPr/>
        </p:nvSpPr>
        <p:spPr>
          <a:xfrm>
            <a:off x="1073150" y="2147987"/>
            <a:ext cx="480072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93A"/>
                </a:solidFill>
                <a:latin typeface="Arial" pitchFamily="34" charset="0"/>
                <a:ea typeface="Arial" pitchFamily="34" charset="-122"/>
                <a:cs typeface="Arial" pitchFamily="34" charset="-120"/>
              </a:rPr>
              <a:t>Start with one annoying task</a:t>
            </a:r>
            <a:endParaRPr lang="en-US" sz="1500" dirty="0"/>
          </a:p>
        </p:txBody>
      </p:sp>
      <p:sp>
        <p:nvSpPr>
          <p:cNvPr id="6" name="Text 4"/>
          <p:cNvSpPr/>
          <p:nvPr/>
        </p:nvSpPr>
        <p:spPr>
          <a:xfrm>
            <a:off x="1073150" y="2452787"/>
            <a:ext cx="4800727"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75866"/>
                </a:solidFill>
                <a:latin typeface="Arial" pitchFamily="34" charset="0"/>
                <a:ea typeface="Arial" pitchFamily="34" charset="-122"/>
                <a:cs typeface="Arial" pitchFamily="34" charset="-120"/>
              </a:rPr>
              <a:t>FMB Tools began with a single goal: stop editing TUFLOW files in Notepad++.</a:t>
            </a:r>
            <a:endParaRPr lang="en-US" sz="1200" dirty="0"/>
          </a:p>
        </p:txBody>
      </p:sp>
      <p:sp>
        <p:nvSpPr>
          <p:cNvPr id="7" name="Shape 5"/>
          <p:cNvSpPr/>
          <p:nvPr/>
        </p:nvSpPr>
        <p:spPr>
          <a:xfrm>
            <a:off x="6200775" y="1890812"/>
            <a:ext cx="5175250" cy="1970782"/>
          </a:xfrm>
          <a:prstGeom prst="roundRect">
            <a:avLst>
              <a:gd name="adj" fmla="val 4994"/>
            </a:avLst>
          </a:prstGeom>
          <a:solidFill>
            <a:srgbClr val="FDFEFD"/>
          </a:solidFill>
          <a:ln w="6350">
            <a:solidFill>
              <a:srgbClr val="DCE4E8"/>
            </a:solidFill>
            <a:prstDash val="solid"/>
          </a:ln>
        </p:spPr>
      </p:sp>
      <p:sp>
        <p:nvSpPr>
          <p:cNvPr id="8" name="Text 6"/>
          <p:cNvSpPr/>
          <p:nvPr/>
        </p:nvSpPr>
        <p:spPr>
          <a:xfrm>
            <a:off x="6457950" y="2147987"/>
            <a:ext cx="480072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93A"/>
                </a:solidFill>
                <a:latin typeface="Arial" pitchFamily="34" charset="0"/>
                <a:ea typeface="Arial" pitchFamily="34" charset="-122"/>
                <a:cs typeface="Arial" pitchFamily="34" charset="-120"/>
              </a:rPr>
              <a:t>Expect to rewrite the engine</a:t>
            </a:r>
            <a:endParaRPr lang="en-US" sz="1500" dirty="0"/>
          </a:p>
        </p:txBody>
      </p:sp>
      <p:sp>
        <p:nvSpPr>
          <p:cNvPr id="9" name="Text 7"/>
          <p:cNvSpPr/>
          <p:nvPr/>
        </p:nvSpPr>
        <p:spPr>
          <a:xfrm>
            <a:off x="6457950" y="2452787"/>
            <a:ext cx="4800727"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75866"/>
                </a:solidFill>
                <a:latin typeface="Arial" pitchFamily="34" charset="0"/>
                <a:ea typeface="Arial" pitchFamily="34" charset="-122"/>
                <a:cs typeface="Arial" pitchFamily="34" charset="-120"/>
              </a:rPr>
              <a:t>Rain2Flood's delineation went from pure-Python D8 to pysheds, then a vectorised sparse search, then GRASS r.watershed.</a:t>
            </a:r>
            <a:endParaRPr lang="en-US" sz="1200" dirty="0"/>
          </a:p>
        </p:txBody>
      </p:sp>
      <p:sp>
        <p:nvSpPr>
          <p:cNvPr id="10" name="Shape 8"/>
          <p:cNvSpPr/>
          <p:nvPr/>
        </p:nvSpPr>
        <p:spPr>
          <a:xfrm>
            <a:off x="815975" y="4071144"/>
            <a:ext cx="5175250" cy="1970881"/>
          </a:xfrm>
          <a:prstGeom prst="roundRect">
            <a:avLst>
              <a:gd name="adj" fmla="val 4994"/>
            </a:avLst>
          </a:prstGeom>
          <a:solidFill>
            <a:srgbClr val="FDFEFD"/>
          </a:solidFill>
          <a:ln w="6350">
            <a:solidFill>
              <a:srgbClr val="DCE4E8"/>
            </a:solidFill>
            <a:prstDash val="solid"/>
          </a:ln>
        </p:spPr>
      </p:sp>
      <p:sp>
        <p:nvSpPr>
          <p:cNvPr id="11" name="Text 9"/>
          <p:cNvSpPr/>
          <p:nvPr/>
        </p:nvSpPr>
        <p:spPr>
          <a:xfrm>
            <a:off x="1073150" y="4328319"/>
            <a:ext cx="480072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93A"/>
                </a:solidFill>
                <a:latin typeface="Arial" pitchFamily="34" charset="0"/>
                <a:ea typeface="Arial" pitchFamily="34" charset="-122"/>
                <a:cs typeface="Arial" pitchFamily="34" charset="-120"/>
              </a:rPr>
              <a:t>Check the science, not just the code</a:t>
            </a:r>
            <a:endParaRPr lang="en-US" sz="1500" dirty="0"/>
          </a:p>
        </p:txBody>
      </p:sp>
      <p:sp>
        <p:nvSpPr>
          <p:cNvPr id="12" name="Text 10"/>
          <p:cNvSpPr/>
          <p:nvPr/>
        </p:nvSpPr>
        <p:spPr>
          <a:xfrm>
            <a:off x="1073150" y="4633119"/>
            <a:ext cx="4800727"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75866"/>
                </a:solidFill>
                <a:latin typeface="Arial" pitchFamily="34" charset="0"/>
                <a:ea typeface="Arial" pitchFamily="34" charset="-122"/>
                <a:cs typeface="Arial" pitchFamily="34" charset="-120"/>
              </a:rPr>
              <a:t>A hydrology audit found FEH QMED formula errors that were underestimating flows.</a:t>
            </a:r>
            <a:endParaRPr lang="en-US" sz="1200" dirty="0"/>
          </a:p>
        </p:txBody>
      </p:sp>
      <p:sp>
        <p:nvSpPr>
          <p:cNvPr id="13" name="Shape 11"/>
          <p:cNvSpPr/>
          <p:nvPr/>
        </p:nvSpPr>
        <p:spPr>
          <a:xfrm>
            <a:off x="6200775" y="4071144"/>
            <a:ext cx="5175250" cy="1970881"/>
          </a:xfrm>
          <a:prstGeom prst="roundRect">
            <a:avLst>
              <a:gd name="adj" fmla="val 4994"/>
            </a:avLst>
          </a:prstGeom>
          <a:solidFill>
            <a:srgbClr val="FDFEFD"/>
          </a:solidFill>
          <a:ln w="6350">
            <a:solidFill>
              <a:srgbClr val="DCE4E8"/>
            </a:solidFill>
            <a:prstDash val="solid"/>
          </a:ln>
        </p:spPr>
      </p:sp>
      <p:sp>
        <p:nvSpPr>
          <p:cNvPr id="14" name="Text 12"/>
          <p:cNvSpPr/>
          <p:nvPr/>
        </p:nvSpPr>
        <p:spPr>
          <a:xfrm>
            <a:off x="6457950" y="4328319"/>
            <a:ext cx="480072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93A"/>
                </a:solidFill>
                <a:latin typeface="Arial" pitchFamily="34" charset="0"/>
                <a:ea typeface="Arial" pitchFamily="34" charset="-122"/>
                <a:cs typeface="Arial" pitchFamily="34" charset="-120"/>
              </a:rPr>
              <a:t>Lock in fixes with tests</a:t>
            </a:r>
            <a:endParaRPr lang="en-US" sz="1500" dirty="0"/>
          </a:p>
        </p:txBody>
      </p:sp>
      <p:sp>
        <p:nvSpPr>
          <p:cNvPr id="15" name="Text 13"/>
          <p:cNvSpPr/>
          <p:nvPr/>
        </p:nvSpPr>
        <p:spPr>
          <a:xfrm>
            <a:off x="6457950" y="4633119"/>
            <a:ext cx="4800727"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75866"/>
                </a:solidFill>
                <a:latin typeface="Arial" pitchFamily="34" charset="0"/>
                <a:ea typeface="Arial" pitchFamily="34" charset="-122"/>
                <a:cs typeface="Arial" pitchFamily="34" charset="-120"/>
              </a:rPr>
              <a:t>Regression tests and NumPy 2.0 fixes keep v3.0 working as libraries change.</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6F99"/>
                </a:solidFill>
                <a:latin typeface="Arial" pitchFamily="34" charset="0"/>
                <a:ea typeface="Arial" pitchFamily="34" charset="-122"/>
                <a:cs typeface="Arial" pitchFamily="34" charset="-120"/>
              </a:rPr>
              <a:t>RESOURCES</a:t>
            </a:r>
            <a:endParaRPr lang="en-US" sz="1200" dirty="0"/>
          </a:p>
        </p:txBody>
      </p:sp>
      <p:sp>
        <p:nvSpPr>
          <p:cNvPr id="3" name="Text 1"/>
          <p:cNvSpPr/>
          <p:nvPr>
            <p:ph type="title"/>
          </p:nvPr>
        </p:nvSpPr>
        <p:spPr>
          <a:xfrm>
            <a:off x="812800" y="1127720"/>
            <a:ext cx="10883392" cy="480516"/>
          </a:xfrm>
          <a:prstGeom prst="rect">
            <a:avLst/>
          </a:prstGeom>
          <a:noFill/>
          <a:ln/>
        </p:spPr>
        <p:txBody>
          <a:bodyPr wrap="square" lIns="0" tIns="0" rIns="0" bIns="0" rtlCol="0" anchor="t">
            <a:normAutofit/>
          </a:bodyPr>
          <a:lstStyle/>
          <a:p>
            <a:pPr algn="l" indent="0" marL="0">
              <a:lnSpc>
                <a:spcPts val="3584"/>
              </a:lnSpc>
              <a:buNone/>
            </a:pPr>
            <a:r>
              <a:rPr lang="en-US" sz="3200" b="1" i="0" dirty="0">
                <a:solidFill>
                  <a:srgbClr val="14293A"/>
                </a:solidFill>
                <a:latin typeface="Arial" pitchFamily="34" charset="0"/>
                <a:ea typeface="Arial" pitchFamily="34" charset="-122"/>
                <a:cs typeface="Arial" pitchFamily="34" charset="-120"/>
              </a:rPr>
              <a:t>Where to start</a:t>
            </a:r>
            <a:endParaRPr lang="en-US" sz="3200" dirty="0"/>
          </a:p>
        </p:txBody>
      </p:sp>
      <p:sp>
        <p:nvSpPr>
          <p:cNvPr id="4" name="Shape 2"/>
          <p:cNvSpPr/>
          <p:nvPr/>
        </p:nvSpPr>
        <p:spPr>
          <a:xfrm>
            <a:off x="11376025" y="1887637"/>
            <a:ext cx="0" cy="2495550"/>
          </a:xfrm>
          <a:prstGeom prst="line">
            <a:avLst/>
          </a:prstGeom>
          <a:noFill/>
          <a:ln w="6350">
            <a:solidFill>
              <a:srgbClr val="DCE4E8"/>
            </a:solidFill>
            <a:prstDash val="solid"/>
          </a:ln>
        </p:spPr>
      </p:sp>
      <p:sp>
        <p:nvSpPr>
          <p:cNvPr id="5" name="Shape 3"/>
          <p:cNvSpPr/>
          <p:nvPr/>
        </p:nvSpPr>
        <p:spPr>
          <a:xfrm>
            <a:off x="812800" y="4380012"/>
            <a:ext cx="10566400" cy="0"/>
          </a:xfrm>
          <a:prstGeom prst="line">
            <a:avLst/>
          </a:prstGeom>
          <a:noFill/>
          <a:ln w="6350">
            <a:solidFill>
              <a:srgbClr val="DCE4E8"/>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1900337"/>
          <a:ext cx="10547350" cy="2476500"/>
        </p:xfrm>
        <a:graphic>
          <a:graphicData uri="http://schemas.openxmlformats.org/drawingml/2006/table">
            <a:tbl>
              <a:tblPr/>
              <a:tblGrid>
                <a:gridCol w="3691572"/>
                <a:gridCol w="6855778"/>
              </a:tblGrid>
              <a:tr h="412750">
                <a:tc>
                  <a:txBody>
                    <a:bodyPr/>
                    <a:lstStyle/>
                    <a:p>
                      <a:pPr indent="0" marL="0">
                        <a:lnSpc>
                          <a:spcPts val="2100"/>
                        </a:lnSpc>
                        <a:buNone/>
                      </a:pPr>
                      <a:r>
                        <a:rPr lang="en-US" sz="1500" b="1" dirty="0">
                          <a:solidFill>
                            <a:srgbClr val="F5F7F6"/>
                          </a:solidFill>
                          <a:latin typeface="Arial" pitchFamily="34" charset="0"/>
                          <a:ea typeface="Arial" pitchFamily="34" charset="-122"/>
                          <a:cs typeface="Arial" pitchFamily="34" charset="-120"/>
                        </a:rPr>
                        <a:t>Resource</a:t>
                      </a:r>
                      <a:endParaRPr lang="en-US" sz="1500" dirty="0">
                        <a:latin typeface="Arial" charset="0"/>
                        <a:ea typeface="Arial" charset="0"/>
                        <a:cs typeface="Arial" charset="0"/>
                      </a:endParaRPr>
                    </a:p>
                  </a:txBody>
                  <a:tcPr marL="66675" marR="66675" marT="66675" marB="66675" anchor="t">
                    <a:lnL w="12700" cap="flat" cmpd="sng" algn="ctr">
                      <a:solidFill>
                        <a:srgbClr val="C4C5C4"/>
                      </a:solidFill>
                      <a:prstDash val="solid"/>
                      <a:round/>
                      <a:headEnd type="none" w="med" len="med"/>
                      <a:tailEnd type="none" w="med" len="med"/>
                    </a:lnL>
                    <a:lnR w="12700" cap="flat" cmpd="sng" algn="ctr">
                      <a:solidFill>
                        <a:srgbClr val="10202C"/>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10202C"/>
                      </a:solidFill>
                      <a:prstDash val="solid"/>
                      <a:round/>
                      <a:headEnd type="none" w="med" len="med"/>
                      <a:tailEnd type="none" w="med" len="med"/>
                    </a:lnB>
                    <a:solidFill>
                      <a:srgbClr val="0F2433"/>
                    </a:solidFill>
                  </a:tcPr>
                </a:tc>
                <a:tc>
                  <a:txBody>
                    <a:bodyPr/>
                    <a:lstStyle/>
                    <a:p>
                      <a:pPr indent="0" marL="0">
                        <a:lnSpc>
                          <a:spcPts val="2100"/>
                        </a:lnSpc>
                        <a:buNone/>
                      </a:pPr>
                      <a:r>
                        <a:rPr lang="en-US" sz="1500" b="1" dirty="0">
                          <a:solidFill>
                            <a:srgbClr val="F5F7F6"/>
                          </a:solidFill>
                          <a:latin typeface="Arial" pitchFamily="34" charset="0"/>
                          <a:ea typeface="Arial" pitchFamily="34" charset="-122"/>
                          <a:cs typeface="Arial" pitchFamily="34" charset="-120"/>
                        </a:rPr>
                        <a:t>Link</a:t>
                      </a:r>
                      <a:endParaRPr lang="en-US" sz="1500" dirty="0">
                        <a:latin typeface="Arial" charset="0"/>
                        <a:ea typeface="Arial" charset="0"/>
                        <a:cs typeface="Arial" charset="0"/>
                      </a:endParaRPr>
                    </a:p>
                  </a:txBody>
                  <a:tcPr marL="66675" marR="66675" marT="66675" marB="66675" anchor="t">
                    <a:lnL w="12700" cap="flat" cmpd="sng" algn="ctr">
                      <a:solidFill>
                        <a:srgbClr val="10202C"/>
                      </a:solidFill>
                      <a:prstDash val="solid"/>
                      <a:round/>
                      <a:headEnd type="none" w="med" len="med"/>
                      <a:tailEnd type="none" w="med" len="med"/>
                    </a:lnL>
                    <a:lnR w="12700" cap="flat" cmpd="sng" algn="ctr">
                      <a:solidFill>
                        <a:srgbClr val="10202C"/>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10202C"/>
                      </a:solidFill>
                      <a:prstDash val="solid"/>
                      <a:round/>
                      <a:headEnd type="none" w="med" len="med"/>
                      <a:tailEnd type="none" w="med" len="med"/>
                    </a:lnB>
                    <a:solidFill>
                      <a:srgbClr val="0F2433"/>
                    </a:solidFill>
                  </a:tcPr>
                </a:tc>
              </a:tr>
              <a:tr h="412750">
                <a:tc>
                  <a:txBody>
                    <a:bodyPr/>
                    <a:lstStyle/>
                    <a:p>
                      <a:pPr indent="0" marL="0">
                        <a:lnSpc>
                          <a:spcPts val="2100"/>
                        </a:lnSpc>
                        <a:buNone/>
                      </a:pPr>
                      <a:r>
                        <a:rPr lang="en-US" sz="1500" dirty="0">
                          <a:solidFill>
                            <a:srgbClr val="14293A"/>
                          </a:solidFill>
                          <a:latin typeface="Arial" pitchFamily="34" charset="0"/>
                          <a:ea typeface="Arial" pitchFamily="34" charset="-122"/>
                          <a:cs typeface="Arial" pitchFamily="34" charset="-120"/>
                        </a:rPr>
                        <a:t>PyQGIS Developer Cookbook</a:t>
                      </a:r>
                      <a:endParaRPr lang="en-US" sz="1500" dirty="0">
                        <a:latin typeface="Arial" charset="0"/>
                        <a:ea typeface="Arial" charset="0"/>
                        <a:cs typeface="Arial" charset="0"/>
                      </a:endParaRPr>
                    </a:p>
                  </a:txBody>
                  <a:tcPr marL="66675" marR="66675" marT="66675" marB="66675" anchor="t">
                    <a:lnL w="12700" cap="flat" cmpd="sng" algn="ctr">
                      <a:solidFill>
                        <a:srgbClr val="C4C5C4"/>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10202C"/>
                      </a:solidFill>
                      <a:prstDash val="solid"/>
                      <a:round/>
                      <a:headEnd type="none" w="med" len="med"/>
                      <a:tailEnd type="none" w="med" len="med"/>
                    </a:lnT>
                    <a:lnB w="12700" cap="flat" cmpd="sng" algn="ctr">
                      <a:solidFill>
                        <a:srgbClr val="CACBCA"/>
                      </a:solidFill>
                      <a:prstDash val="solid"/>
                      <a:round/>
                      <a:headEnd type="none" w="med" len="med"/>
                      <a:tailEnd type="none" w="med" len="med"/>
                    </a:lnB>
                    <a:solidFill>
                      <a:srgbClr val="FDFEFD"/>
                    </a:solidFill>
                  </a:tcPr>
                </a:tc>
                <a:tc>
                  <a:txBody>
                    <a:bodyPr/>
                    <a:lstStyle/>
                    <a:p>
                      <a:pPr indent="0" marL="0">
                        <a:lnSpc>
                          <a:spcPts val="2100"/>
                        </a:lnSpc>
                        <a:buNone/>
                      </a:pPr>
                      <a:r>
                        <a:rPr lang="en-US" sz="1500" dirty="0">
                          <a:solidFill>
                            <a:srgbClr val="14293A"/>
                          </a:solidFill>
                          <a:latin typeface="Arial" pitchFamily="34" charset="0"/>
                          <a:ea typeface="Arial" pitchFamily="34" charset="-122"/>
                          <a:cs typeface="Arial" pitchFamily="34" charset="-120"/>
                        </a:rPr>
                        <a:t>docs.qgis.org/latest/en/docs/pyqgis_developer_cookbook</a:t>
                      </a:r>
                      <a:endParaRPr lang="en-US" sz="1500" dirty="0">
                        <a:latin typeface="Arial" charset="0"/>
                        <a:ea typeface="Arial" charset="0"/>
                        <a:cs typeface="Arial" charset="0"/>
                      </a:endParaRPr>
                    </a:p>
                  </a:txBody>
                  <a:tcPr marL="66675" marR="66675" marT="66675" marB="66675" anchor="t">
                    <a:lnL w="12700" cap="flat" cmpd="sng" algn="ctr">
                      <a:solidFill>
                        <a:srgbClr val="CACBCA"/>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10202C"/>
                      </a:solidFill>
                      <a:prstDash val="solid"/>
                      <a:round/>
                      <a:headEnd type="none" w="med" len="med"/>
                      <a:tailEnd type="none" w="med" len="med"/>
                    </a:lnT>
                    <a:lnB w="12700" cap="flat" cmpd="sng" algn="ctr">
                      <a:solidFill>
                        <a:srgbClr val="CACBCA"/>
                      </a:solidFill>
                      <a:prstDash val="solid"/>
                      <a:round/>
                      <a:headEnd type="none" w="med" len="med"/>
                      <a:tailEnd type="none" w="med" len="med"/>
                    </a:lnB>
                    <a:solidFill>
                      <a:srgbClr val="FDFEFD"/>
                    </a:solidFill>
                  </a:tcPr>
                </a:tc>
              </a:tr>
              <a:tr h="412750">
                <a:tc>
                  <a:txBody>
                    <a:bodyPr/>
                    <a:lstStyle/>
                    <a:p>
                      <a:pPr indent="0" marL="0">
                        <a:lnSpc>
                          <a:spcPts val="2100"/>
                        </a:lnSpc>
                        <a:buNone/>
                      </a:pPr>
                      <a:r>
                        <a:rPr lang="en-US" sz="1500" dirty="0">
                          <a:solidFill>
                            <a:srgbClr val="14293A"/>
                          </a:solidFill>
                          <a:latin typeface="Arial" pitchFamily="34" charset="0"/>
                          <a:ea typeface="Arial" pitchFamily="34" charset="-122"/>
                          <a:cs typeface="Arial" pitchFamily="34" charset="-120"/>
                        </a:rPr>
                        <a:t>PyQGIS API reference</a:t>
                      </a:r>
                      <a:endParaRPr lang="en-US" sz="1500" dirty="0">
                        <a:latin typeface="Arial" charset="0"/>
                        <a:ea typeface="Arial" charset="0"/>
                        <a:cs typeface="Arial" charset="0"/>
                      </a:endParaRPr>
                    </a:p>
                  </a:txBody>
                  <a:tcPr marL="66675" marR="66675" marT="66675" marB="66675" anchor="t">
                    <a:lnL w="12700" cap="flat" cmpd="sng" algn="ctr">
                      <a:solidFill>
                        <a:srgbClr val="C4C5C4"/>
                      </a:solidFill>
                      <a:prstDash val="solid"/>
                      <a:round/>
                      <a:headEnd type="none" w="med" len="med"/>
                      <a:tailEnd type="none" w="med" len="med"/>
                    </a:lnL>
                    <a:lnR w="12700" cap="flat" cmpd="sng" algn="ctr">
                      <a:solidFill>
                        <a:srgbClr val="BEC2C3"/>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BEC2C3"/>
                      </a:solidFill>
                      <a:prstDash val="solid"/>
                      <a:round/>
                      <a:headEnd type="none" w="med" len="med"/>
                      <a:tailEnd type="none" w="med" len="med"/>
                    </a:lnB>
                    <a:solidFill>
                      <a:srgbClr val="EEF3F5"/>
                    </a:solidFill>
                  </a:tcPr>
                </a:tc>
                <a:tc>
                  <a:txBody>
                    <a:bodyPr/>
                    <a:lstStyle/>
                    <a:p>
                      <a:pPr indent="0" marL="0">
                        <a:lnSpc>
                          <a:spcPts val="2100"/>
                        </a:lnSpc>
                        <a:buNone/>
                      </a:pPr>
                      <a:r>
                        <a:rPr lang="en-US" sz="1500" dirty="0">
                          <a:solidFill>
                            <a:srgbClr val="14293A"/>
                          </a:solidFill>
                          <a:latin typeface="Arial" pitchFamily="34" charset="0"/>
                          <a:ea typeface="Arial" pitchFamily="34" charset="-122"/>
                          <a:cs typeface="Arial" pitchFamily="34" charset="-120"/>
                        </a:rPr>
                        <a:t>qgis.org/pyqgis</a:t>
                      </a:r>
                      <a:endParaRPr lang="en-US" sz="1500" dirty="0">
                        <a:latin typeface="Arial" charset="0"/>
                        <a:ea typeface="Arial" charset="0"/>
                        <a:cs typeface="Arial" charset="0"/>
                      </a:endParaRPr>
                    </a:p>
                  </a:txBody>
                  <a:tcPr marL="66675" marR="66675" marT="66675" marB="66675" anchor="t">
                    <a:lnL w="12700" cap="flat" cmpd="sng" algn="ctr">
                      <a:solidFill>
                        <a:srgbClr val="BEC2C3"/>
                      </a:solidFill>
                      <a:prstDash val="solid"/>
                      <a:round/>
                      <a:headEnd type="none" w="med" len="med"/>
                      <a:tailEnd type="none" w="med" len="med"/>
                    </a:lnL>
                    <a:lnR w="12700" cap="flat" cmpd="sng" algn="ctr">
                      <a:solidFill>
                        <a:srgbClr val="BEC2C3"/>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BEC2C3"/>
                      </a:solidFill>
                      <a:prstDash val="solid"/>
                      <a:round/>
                      <a:headEnd type="none" w="med" len="med"/>
                      <a:tailEnd type="none" w="med" len="med"/>
                    </a:lnB>
                    <a:solidFill>
                      <a:srgbClr val="EEF3F5"/>
                    </a:solidFill>
                  </a:tcPr>
                </a:tc>
              </a:tr>
              <a:tr h="412750">
                <a:tc>
                  <a:txBody>
                    <a:bodyPr/>
                    <a:lstStyle/>
                    <a:p>
                      <a:pPr indent="0" marL="0">
                        <a:lnSpc>
                          <a:spcPts val="2100"/>
                        </a:lnSpc>
                        <a:buNone/>
                      </a:pPr>
                      <a:r>
                        <a:rPr lang="en-US" sz="1500" dirty="0">
                          <a:solidFill>
                            <a:srgbClr val="14293A"/>
                          </a:solidFill>
                          <a:latin typeface="Arial" pitchFamily="34" charset="0"/>
                          <a:ea typeface="Arial" pitchFamily="34" charset="-122"/>
                          <a:cs typeface="Arial" pitchFamily="34" charset="-120"/>
                        </a:rPr>
                        <a:t>QGIS plugin repository</a:t>
                      </a:r>
                      <a:endParaRPr lang="en-US" sz="1500" dirty="0">
                        <a:latin typeface="Arial" charset="0"/>
                        <a:ea typeface="Arial" charset="0"/>
                        <a:cs typeface="Arial" charset="0"/>
                      </a:endParaRPr>
                    </a:p>
                  </a:txBody>
                  <a:tcPr marL="66675" marR="66675" marT="66675" marB="66675" anchor="t">
                    <a:lnL w="12700" cap="flat" cmpd="sng" algn="ctr">
                      <a:solidFill>
                        <a:srgbClr val="C4C5C4"/>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BEC2C3"/>
                      </a:solidFill>
                      <a:prstDash val="solid"/>
                      <a:round/>
                      <a:headEnd type="none" w="med" len="med"/>
                      <a:tailEnd type="none" w="med" len="med"/>
                    </a:lnT>
                    <a:lnB w="12700" cap="flat" cmpd="sng" algn="ctr">
                      <a:solidFill>
                        <a:srgbClr val="CACBCA"/>
                      </a:solidFill>
                      <a:prstDash val="solid"/>
                      <a:round/>
                      <a:headEnd type="none" w="med" len="med"/>
                      <a:tailEnd type="none" w="med" len="med"/>
                    </a:lnB>
                    <a:solidFill>
                      <a:srgbClr val="FDFEFD"/>
                    </a:solidFill>
                  </a:tcPr>
                </a:tc>
                <a:tc>
                  <a:txBody>
                    <a:bodyPr/>
                    <a:lstStyle/>
                    <a:p>
                      <a:pPr indent="0" marL="0">
                        <a:lnSpc>
                          <a:spcPts val="2100"/>
                        </a:lnSpc>
                        <a:buNone/>
                      </a:pPr>
                      <a:r>
                        <a:rPr lang="en-US" sz="1500" dirty="0">
                          <a:solidFill>
                            <a:srgbClr val="14293A"/>
                          </a:solidFill>
                          <a:latin typeface="Arial" pitchFamily="34" charset="0"/>
                          <a:ea typeface="Arial" pitchFamily="34" charset="-122"/>
                          <a:cs typeface="Arial" pitchFamily="34" charset="-120"/>
                        </a:rPr>
                        <a:t>plugins.qgis.org</a:t>
                      </a:r>
                      <a:endParaRPr lang="en-US" sz="1500" dirty="0">
                        <a:latin typeface="Arial" charset="0"/>
                        <a:ea typeface="Arial" charset="0"/>
                        <a:cs typeface="Arial" charset="0"/>
                      </a:endParaRPr>
                    </a:p>
                  </a:txBody>
                  <a:tcPr marL="66675" marR="66675" marT="66675" marB="66675" anchor="t">
                    <a:lnL w="12700" cap="flat" cmpd="sng" algn="ctr">
                      <a:solidFill>
                        <a:srgbClr val="CACBCA"/>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BEC2C3"/>
                      </a:solidFill>
                      <a:prstDash val="solid"/>
                      <a:round/>
                      <a:headEnd type="none" w="med" len="med"/>
                      <a:tailEnd type="none" w="med" len="med"/>
                    </a:lnT>
                    <a:lnB w="12700" cap="flat" cmpd="sng" algn="ctr">
                      <a:solidFill>
                        <a:srgbClr val="CACBCA"/>
                      </a:solidFill>
                      <a:prstDash val="solid"/>
                      <a:round/>
                      <a:headEnd type="none" w="med" len="med"/>
                      <a:tailEnd type="none" w="med" len="med"/>
                    </a:lnB>
                    <a:solidFill>
                      <a:srgbClr val="FDFEFD"/>
                    </a:solidFill>
                  </a:tcPr>
                </a:tc>
              </a:tr>
              <a:tr h="412750">
                <a:tc>
                  <a:txBody>
                    <a:bodyPr/>
                    <a:lstStyle/>
                    <a:p>
                      <a:pPr indent="0" marL="0">
                        <a:lnSpc>
                          <a:spcPts val="2100"/>
                        </a:lnSpc>
                        <a:buNone/>
                      </a:pPr>
                      <a:r>
                        <a:rPr lang="en-US" sz="1500" dirty="0">
                          <a:solidFill>
                            <a:srgbClr val="14293A"/>
                          </a:solidFill>
                          <a:latin typeface="Arial" pitchFamily="34" charset="0"/>
                          <a:ea typeface="Arial" pitchFamily="34" charset="-122"/>
                          <a:cs typeface="Arial" pitchFamily="34" charset="-120"/>
                        </a:rPr>
                        <a:t>TUFLOW Wiki</a:t>
                      </a:r>
                      <a:endParaRPr lang="en-US" sz="1500" dirty="0">
                        <a:latin typeface="Arial" charset="0"/>
                        <a:ea typeface="Arial" charset="0"/>
                        <a:cs typeface="Arial" charset="0"/>
                      </a:endParaRPr>
                    </a:p>
                  </a:txBody>
                  <a:tcPr marL="66675" marR="66675" marT="66675" marB="66675" anchor="t">
                    <a:lnL w="12700" cap="flat" cmpd="sng" algn="ctr">
                      <a:solidFill>
                        <a:srgbClr val="C4C5C4"/>
                      </a:solidFill>
                      <a:prstDash val="solid"/>
                      <a:round/>
                      <a:headEnd type="none" w="med" len="med"/>
                      <a:tailEnd type="none" w="med" len="med"/>
                    </a:lnL>
                    <a:lnR w="12700" cap="flat" cmpd="sng" algn="ctr">
                      <a:solidFill>
                        <a:srgbClr val="BEC2C3"/>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BEC2C3"/>
                      </a:solidFill>
                      <a:prstDash val="solid"/>
                      <a:round/>
                      <a:headEnd type="none" w="med" len="med"/>
                      <a:tailEnd type="none" w="med" len="med"/>
                    </a:lnB>
                    <a:solidFill>
                      <a:srgbClr val="EEF3F5"/>
                    </a:solidFill>
                  </a:tcPr>
                </a:tc>
                <a:tc>
                  <a:txBody>
                    <a:bodyPr/>
                    <a:lstStyle/>
                    <a:p>
                      <a:pPr indent="0" marL="0">
                        <a:lnSpc>
                          <a:spcPts val="2100"/>
                        </a:lnSpc>
                        <a:buNone/>
                      </a:pPr>
                      <a:r>
                        <a:rPr lang="en-US" sz="1500" dirty="0">
                          <a:solidFill>
                            <a:srgbClr val="14293A"/>
                          </a:solidFill>
                          <a:latin typeface="Arial" pitchFamily="34" charset="0"/>
                          <a:ea typeface="Arial" pitchFamily="34" charset="-122"/>
                          <a:cs typeface="Arial" pitchFamily="34" charset="-120"/>
                        </a:rPr>
                        <a:t>wiki.tuflow.com</a:t>
                      </a:r>
                      <a:endParaRPr lang="en-US" sz="1500" dirty="0">
                        <a:latin typeface="Arial" charset="0"/>
                        <a:ea typeface="Arial" charset="0"/>
                        <a:cs typeface="Arial" charset="0"/>
                      </a:endParaRPr>
                    </a:p>
                  </a:txBody>
                  <a:tcPr marL="66675" marR="66675" marT="66675" marB="66675" anchor="t">
                    <a:lnL w="12700" cap="flat" cmpd="sng" algn="ctr">
                      <a:solidFill>
                        <a:srgbClr val="BEC2C3"/>
                      </a:solidFill>
                      <a:prstDash val="solid"/>
                      <a:round/>
                      <a:headEnd type="none" w="med" len="med"/>
                      <a:tailEnd type="none" w="med" len="med"/>
                    </a:lnL>
                    <a:lnR w="12700" cap="flat" cmpd="sng" algn="ctr">
                      <a:solidFill>
                        <a:srgbClr val="BEC2C3"/>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BEC2C3"/>
                      </a:solidFill>
                      <a:prstDash val="solid"/>
                      <a:round/>
                      <a:headEnd type="none" w="med" len="med"/>
                      <a:tailEnd type="none" w="med" len="med"/>
                    </a:lnB>
                    <a:solidFill>
                      <a:srgbClr val="EEF3F5"/>
                    </a:solidFill>
                  </a:tcPr>
                </a:tc>
              </a:tr>
              <a:tr h="412750">
                <a:tc>
                  <a:txBody>
                    <a:bodyPr/>
                    <a:lstStyle/>
                    <a:p>
                      <a:pPr indent="0" marL="0">
                        <a:lnSpc>
                          <a:spcPts val="2100"/>
                        </a:lnSpc>
                        <a:buNone/>
                      </a:pPr>
                      <a:r>
                        <a:rPr lang="en-US" sz="1500" dirty="0">
                          <a:solidFill>
                            <a:srgbClr val="14293A"/>
                          </a:solidFill>
                          <a:latin typeface="Arial" pitchFamily="34" charset="0"/>
                          <a:ea typeface="Arial" pitchFamily="34" charset="-122"/>
                          <a:cs typeface="Arial" pitchFamily="34" charset="-120"/>
                        </a:rPr>
                        <a:t>FMB Tools and Rain2Flood</a:t>
                      </a:r>
                      <a:endParaRPr lang="en-US" sz="1500" dirty="0">
                        <a:latin typeface="Arial" charset="0"/>
                        <a:ea typeface="Arial" charset="0"/>
                        <a:cs typeface="Arial" charset="0"/>
                      </a:endParaRPr>
                    </a:p>
                  </a:txBody>
                  <a:tcPr marL="66675" marR="66675" marT="66675" marB="66675" anchor="t">
                    <a:lnL w="12700" cap="flat" cmpd="sng" algn="ctr">
                      <a:solidFill>
                        <a:srgbClr val="C4C5C4"/>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BEC2C3"/>
                      </a:solidFill>
                      <a:prstDash val="solid"/>
                      <a:round/>
                      <a:headEnd type="none" w="med" len="med"/>
                      <a:tailEnd type="none" w="med" len="med"/>
                    </a:lnT>
                    <a:lnB w="12700" cap="flat" cmpd="sng" algn="ctr">
                      <a:solidFill>
                        <a:srgbClr val="CACBCA"/>
                      </a:solidFill>
                      <a:prstDash val="solid"/>
                      <a:round/>
                      <a:headEnd type="none" w="med" len="med"/>
                      <a:tailEnd type="none" w="med" len="med"/>
                    </a:lnB>
                    <a:solidFill>
                      <a:srgbClr val="FDFEFD"/>
                    </a:solidFill>
                  </a:tcPr>
                </a:tc>
                <a:tc>
                  <a:txBody>
                    <a:bodyPr/>
                    <a:lstStyle/>
                    <a:p>
                      <a:pPr indent="0" marL="0">
                        <a:lnSpc>
                          <a:spcPts val="2100"/>
                        </a:lnSpc>
                        <a:buNone/>
                      </a:pPr>
                      <a:r>
                        <a:rPr lang="en-US" sz="1500" dirty="0">
                          <a:solidFill>
                            <a:srgbClr val="14293A"/>
                          </a:solidFill>
                          <a:latin typeface="Arial" pitchFamily="34" charset="0"/>
                          <a:ea typeface="Arial" pitchFamily="34" charset="-122"/>
                          <a:cs typeface="Arial" pitchFamily="34" charset="-120"/>
                        </a:rPr>
                        <a:t>github.com/rahulpandey696</a:t>
                      </a:r>
                      <a:endParaRPr lang="en-US" sz="1500" dirty="0">
                        <a:latin typeface="Arial" charset="0"/>
                        <a:ea typeface="Arial" charset="0"/>
                        <a:cs typeface="Arial" charset="0"/>
                      </a:endParaRPr>
                    </a:p>
                  </a:txBody>
                  <a:tcPr marL="66675" marR="66675" marT="66675" marB="66675" anchor="t">
                    <a:lnL w="12700" cap="flat" cmpd="sng" algn="ctr">
                      <a:solidFill>
                        <a:srgbClr val="CACBCA"/>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BEC2C3"/>
                      </a:solidFill>
                      <a:prstDash val="solid"/>
                      <a:round/>
                      <a:headEnd type="none" w="med" len="med"/>
                      <a:tailEnd type="none" w="med" len="med"/>
                    </a:lnT>
                    <a:lnB w="12700" cap="flat" cmpd="sng" algn="ctr">
                      <a:solidFill>
                        <a:srgbClr val="CACBCA"/>
                      </a:solidFill>
                      <a:prstDash val="solid"/>
                      <a:round/>
                      <a:headEnd type="none" w="med" len="med"/>
                      <a:tailEnd type="none" w="med" len="med"/>
                    </a:lnB>
                    <a:solidFill>
                      <a:srgbClr val="FDFEFD"/>
                    </a:solidFill>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F2433"/>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0F2433"/>
              </a:gs>
              <a:gs pos="100000">
                <a:srgbClr val="143550"/>
              </a:gs>
            </a:gsLst>
            <a:lin ang="2700000" scaled="0"/>
          </a:gradFill>
          <a:ln/>
        </p:spPr>
      </p:sp>
      <p:sp>
        <p:nvSpPr>
          <p:cNvPr id="3" name="Text 1"/>
          <p:cNvSpPr/>
          <p:nvPr/>
        </p:nvSpPr>
        <p:spPr>
          <a:xfrm>
            <a:off x="812800" y="2605782"/>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07A2E"/>
                </a:solidFill>
                <a:latin typeface="Arial" pitchFamily="34" charset="0"/>
                <a:ea typeface="Arial" pitchFamily="34" charset="-122"/>
                <a:cs typeface="Arial" pitchFamily="34" charset="-120"/>
              </a:rPr>
              <a:t>QUESTIONS</a:t>
            </a:r>
            <a:endParaRPr lang="en-US" sz="1200" dirty="0"/>
          </a:p>
        </p:txBody>
      </p:sp>
      <p:sp>
        <p:nvSpPr>
          <p:cNvPr id="4" name="Text 2"/>
          <p:cNvSpPr/>
          <p:nvPr>
            <p:ph type="title"/>
          </p:nvPr>
        </p:nvSpPr>
        <p:spPr>
          <a:xfrm>
            <a:off x="812800" y="3073102"/>
            <a:ext cx="10668000" cy="683716"/>
          </a:xfrm>
          <a:prstGeom prst="rect">
            <a:avLst/>
          </a:prstGeom>
          <a:noFill/>
          <a:ln/>
        </p:spPr>
        <p:txBody>
          <a:bodyPr wrap="square" lIns="0" tIns="0" rIns="0" bIns="0" rtlCol="0" anchor="t">
            <a:normAutofit/>
          </a:bodyPr>
          <a:lstStyle/>
          <a:p>
            <a:pPr algn="l" indent="0" marL="0">
              <a:lnSpc>
                <a:spcPts val="5184"/>
              </a:lnSpc>
              <a:buNone/>
            </a:pPr>
            <a:r>
              <a:rPr lang="en-US" sz="4800" b="1" i="0" dirty="0">
                <a:solidFill>
                  <a:srgbClr val="F5F7F6"/>
                </a:solidFill>
                <a:latin typeface="Arial" pitchFamily="34" charset="0"/>
                <a:ea typeface="Arial" pitchFamily="34" charset="-122"/>
                <a:cs typeface="Arial" pitchFamily="34" charset="-120"/>
              </a:rPr>
              <a:t>Bring me your repetitive tasks</a:t>
            </a:r>
            <a:endParaRPr lang="en-US" sz="4800" dirty="0"/>
          </a:p>
        </p:txBody>
      </p:sp>
      <p:sp>
        <p:nvSpPr>
          <p:cNvPr id="5" name="Text 3"/>
          <p:cNvSpPr/>
          <p:nvPr/>
        </p:nvSpPr>
        <p:spPr>
          <a:xfrm>
            <a:off x="812800" y="3985419"/>
            <a:ext cx="78486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9CCD6"/>
                </a:solidFill>
                <a:latin typeface="Arial" pitchFamily="34" charset="0"/>
                <a:ea typeface="Arial" pitchFamily="34" charset="-122"/>
                <a:cs typeface="Arial" pitchFamily="34" charset="-120"/>
              </a:rPr>
              <a:t>The next plugin could start with a problem from your project.</a:t>
            </a:r>
            <a:endParaRPr lang="en-US" sz="1500" dirty="0"/>
          </a:p>
        </p:txBody>
      </p:sp>
      <p:sp>
        <p:nvSpPr>
          <p:cNvPr id="6" name="Text 4"/>
          <p:cNvSpPr/>
          <p:nvPr/>
        </p:nvSpPr>
        <p:spPr>
          <a:xfrm>
            <a:off x="812800" y="60350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CD6"/>
                </a:solidFill>
                <a:latin typeface="Arial" pitchFamily="34" charset="0"/>
                <a:ea typeface="Arial" pitchFamily="34" charset="-122"/>
                <a:cs typeface="Arial" pitchFamily="34" charset="-120"/>
              </a:rPr>
              <a:t>Rahul Pandey · github.com/rahulpandey696</a:t>
            </a:r>
            <a:endParaRPr lang="en-US" sz="1200" dirty="0"/>
          </a:p>
        </p:txBody>
      </p:sp>
    </p:spTree>
  </p:cSld>
  <p:clrMapOvr>
    <a:masterClrMapping/>
  </p:clrMapOvr>
</p:sld>
</file>

<file path=ppt/theme/theme1.xml><?xml version="1.0" encoding="utf-8"?>
<a:theme xmlns:a="http://schemas.openxmlformats.org/drawingml/2006/main" name="Accelerating Flood Model Development">
  <a:themeElements>
    <a:clrScheme name="Accelerating Flood Model Development">
      <a:dk1>
        <a:srgbClr val="14293A"/>
      </a:dk1>
      <a:lt1>
        <a:srgbClr val="F5F7F6"/>
      </a:lt1>
      <a:dk2>
        <a:srgbClr val="4C5D69"/>
      </a:dk2>
      <a:lt2>
        <a:srgbClr val="DFE2E3"/>
      </a:lt2>
      <a:accent1>
        <a:srgbClr val="1F6F99"/>
      </a:accent1>
      <a:accent2>
        <a:srgbClr val="5DB7E0"/>
      </a:accent2>
      <a:accent3>
        <a:srgbClr val="E07A2E"/>
      </a:accent3>
      <a:accent4>
        <a:srgbClr val="B35A17"/>
      </a:accent4>
      <a:accent5>
        <a:srgbClr val="F2A35E"/>
      </a:accent5>
      <a:accent6>
        <a:srgbClr val="FBE6D4"/>
      </a:accent6>
      <a:hlink>
        <a:srgbClr val="0563C1"/>
      </a:hlink>
      <a:folHlink>
        <a:srgbClr val="954F72"/>
      </a:folHlink>
    </a:clrScheme>
    <a:fontScheme name="Accelerating Flood Model Developmen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Accelerating Flood Model Development</dc:title>
  <dc:subject/>
  <dc:creator/>
  <cp:lastModifiedBy/>
  <cp:revision>1</cp:revision>
  <dcterms:created xsi:type="dcterms:W3CDTF">2026-10-15T04:33:41Z</dcterms:created>
  <dcterms:modified xsi:type="dcterms:W3CDTF">2026-10-15T04:33:41Z</dcterms:modified>
</cp:coreProperties>
</file>