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Today: two tools I built to speed up our modelling work, FMB Tools for building TUFLOW models in QGIS (the main focus) and Rain2Flood for hydrology (a bonus), then how anyone in the team can build their own QGIS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most of the time goes on FMB Tools. Rain2Flood is a short bonus. We finish with how to build a plugin, so anyone can turn a repetitive task into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has lost time to a typo in a control file, or a wrong path that only appeared at run time? The tooling is plain text editors, and that is where most of the friction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Our GIS layers are already in QGIS, so the control files that reference them should be built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FMB Tools started as "TUFLOW Model Builder" and was renamed. Version 0.10 is what I am showing today. The goal: everything you used to do in Notepad++ for a TUFLOW build now happens in one QGIS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quickly here; the next slides show each one with screenshots. If doing a live demo, this is the slide to switch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 control file is built from the tab instead of typed. Point out the Help tab, which saves a separate search of the TUFLOW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generated .bat side by side with the form. Mention that consistent run files make reviews and hand-overs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is closing the loop: build, run, check and review in the same tool. Errors are found in QGIS, next to the layers that caused them, rather than by scrolling a log in a text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last row with a real timing from one of your projects before presenting; one honest number lands better than a general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three to five minutes. Rain2Flood covers the hydrology that sits upstream of a hydraulic model. Version 3.0 followed a full hydrology audit and bug-fix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are enough: the catchment it delineates and the hydrograph it produces. Mention that hydrographs like these are what feed the inflow boundaries of a hydraulic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no compiler, no installer. Drop the folder into the plugins directory, restart QGIS or use Plugin Reloader, and it appears in the Plugin Manager. FMB Tools and Rain2Flood follow exactly this structure, just with more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these three files in a folder called hello inside the plugins folder (the import in __init__.py points at hello.py). Enable it in the Plugin Manager and a button appears that shows the active layer's name. Everything else, including FMB Tools, is this pattern plus a dialog and real logic. Before publishing to plugins.qgis.org, metadata.txt also needs about, repository and a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 Builder 3 and Plugin Reloader are both free plugins from the Plugin Manager. Step 3 is the biggest time saver: get a line of PyQGIS working in the console, then move it into the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QMED story is the one to tell: the code ran without errors but gave low flows. Tools that look finished still need an engineering check, which is where this team's expertise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this slide or the links after the session. The Cookbook is the best single starting point; the API reference is for looking up classes once you know what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Ask the team for the most repetitive step in their current project; note them down as candidates for the next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55116"/>
          </a:xfrm>
          <a:prstGeom prst="rect">
            <a:avLst/>
          </a:prstGeom>
          <a:noFill/>
          <a:ln/>
        </p:spPr>
        <p:txBody>
          <a:bodyPr wrap="square" lIns="0" tIns="0" rIns="0" bIns="0" rtlCol="0" anchor="t"/>
          <a:lstStyle>
            <a:lvl1pPr algn="l" indent="0" marL="0">
              <a:lnSpc>
                <a:spcPct val="115000"/>
              </a:lnSpc>
              <a:buNone/>
              <a:defRPr lang="en-US" sz="3200" dirty="0">
                <a:solidFill>
                  <a:srgbClr val="1429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87637"/>
            <a:ext cx="10566400" cy="4157563"/>
          </a:xfrm>
          <a:prstGeom prst="rect">
            <a:avLst/>
          </a:prstGeom>
          <a:noFill/>
          <a:ln/>
        </p:spPr>
        <p:txBody>
          <a:bodyPr wrap="square" lIns="0" tIns="0" rIns="0" bIns="0" rtlCol="0" anchor="t"/>
          <a:lstStyle>
            <a:lvl1pPr algn="l" indent="0" marL="0">
              <a:lnSpc>
                <a:spcPct val="140000"/>
              </a:lnSpc>
              <a:buNone/>
              <a:defRPr lang="en-US" sz="1600" dirty="0">
                <a:solidFill>
                  <a:srgbClr val="1429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55116"/>
          </a:xfrm>
          <a:prstGeom prst="rect">
            <a:avLst/>
          </a:prstGeom>
          <a:noFill/>
          <a:ln/>
        </p:spPr>
        <p:txBody>
          <a:bodyPr wrap="square" lIns="0" tIns="0" rIns="0" bIns="0" rtlCol="0" anchor="t"/>
          <a:lstStyle>
            <a:lvl1pPr algn="l" indent="0" marL="0">
              <a:lnSpc>
                <a:spcPct val="115000"/>
              </a:lnSpc>
              <a:buNone/>
              <a:defRPr lang="en-US" sz="3200" dirty="0">
                <a:solidFill>
                  <a:srgbClr val="1429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87637"/>
            <a:ext cx="10566400" cy="4157563"/>
          </a:xfrm>
          <a:prstGeom prst="rect">
            <a:avLst/>
          </a:prstGeom>
          <a:noFill/>
          <a:ln/>
        </p:spPr>
        <p:txBody>
          <a:bodyPr wrap="square" lIns="0" tIns="0" rIns="0" bIns="0" rtlCol="0" anchor="t"/>
          <a:lstStyle>
            <a:lvl1pPr algn="l" indent="0" marL="0">
              <a:lnSpc>
                <a:spcPct val="140000"/>
              </a:lnSpc>
              <a:buNone/>
              <a:defRPr lang="en-US" sz="1600" dirty="0">
                <a:solidFill>
                  <a:srgbClr val="1429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433"/>
              </a:gs>
              <a:gs pos="100000">
                <a:srgbClr val="143550"/>
              </a:gs>
            </a:gsLst>
            <a:lin ang="2700000" scaled="0"/>
          </a:gradFill>
          <a:ln/>
        </p:spPr>
      </p:sp>
      <p:pic>
        <p:nvPicPr>
          <p:cNvPr id="3" name="Image 0" descr="Rainfall bars above a flood hydrograph">    </p:cNvPr>
          <p:cNvPicPr>
            <a:picLocks noChangeAspect="1"/>
          </p:cNvPicPr>
          <p:nvPr/>
        </p:nvPicPr>
        <p:blipFill>
          <a:blip r:embed="rId1"/>
          <a:srcRect l="0" r="0" t="0" b="0"/>
          <a:stretch/>
        </p:blipFill>
        <p:spPr>
          <a:xfrm>
            <a:off x="7569200" y="1524000"/>
            <a:ext cx="3810000" cy="3810000"/>
          </a:xfrm>
          <a:prstGeom prst="rect">
            <a:avLst/>
          </a:prstGeom>
        </p:spPr>
      </p:pic>
      <p:sp>
        <p:nvSpPr>
          <p:cNvPr id="4" name="Text 1"/>
          <p:cNvSpPr/>
          <p:nvPr/>
        </p:nvSpPr>
        <p:spPr>
          <a:xfrm>
            <a:off x="812800" y="812800"/>
            <a:ext cx="68021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DB7E0"/>
                </a:solidFill>
                <a:latin typeface="IBM Plex Sans" pitchFamily="34" charset="0"/>
                <a:ea typeface="IBM Plex Sans" pitchFamily="34" charset="-122"/>
                <a:cs typeface="IBM Plex Sans" pitchFamily="34" charset="-120"/>
              </a:rPr>
              <a:t>FLOOD MODELLING TEAM · KNOWLEDGE SHARE</a:t>
            </a:r>
            <a:endParaRPr lang="en-US" sz="1200" dirty="0"/>
          </a:p>
        </p:txBody>
      </p:sp>
      <p:sp>
        <p:nvSpPr>
          <p:cNvPr id="5" name="Text 2"/>
          <p:cNvSpPr/>
          <p:nvPr>
            <p:ph type="title"/>
          </p:nvPr>
        </p:nvSpPr>
        <p:spPr>
          <a:xfrm>
            <a:off x="812800" y="1229320"/>
            <a:ext cx="6802120" cy="26586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5F7F6"/>
                </a:solidFill>
                <a:latin typeface="IBM Plex Sans" pitchFamily="34" charset="0"/>
                <a:ea typeface="IBM Plex Sans" pitchFamily="34" charset="-122"/>
                <a:cs typeface="IBM Plex Sans" pitchFamily="34" charset="-120"/>
              </a:rPr>
              <a:t>Accelerating flood model development with custom QGIS plugins</a:t>
            </a:r>
            <a:endParaRPr lang="en-US" sz="4800" dirty="0"/>
          </a:p>
        </p:txBody>
      </p:sp>
      <p:sp>
        <p:nvSpPr>
          <p:cNvPr id="6" name="Text 3"/>
          <p:cNvSpPr/>
          <p:nvPr/>
        </p:nvSpPr>
        <p:spPr>
          <a:xfrm>
            <a:off x="812800" y="4065786"/>
            <a:ext cx="680212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FMB Tools 0.10 · Rain2Flood v3.0 · Building your own plugin</a:t>
            </a:r>
            <a:endParaRPr lang="en-US" sz="1500" dirty="0"/>
          </a:p>
        </p:txBody>
      </p:sp>
      <p:sp>
        <p:nvSpPr>
          <p:cNvPr id="7" name="Text 4"/>
          <p:cNvSpPr/>
          <p:nvPr/>
        </p:nvSpPr>
        <p:spPr>
          <a:xfrm>
            <a:off x="812800" y="55143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7F6"/>
                </a:solidFill>
                <a:latin typeface="IBM Plex Sans" pitchFamily="34" charset="0"/>
                <a:ea typeface="IBM Plex Sans" pitchFamily="34" charset="-122"/>
                <a:cs typeface="IBM Plex Sans" pitchFamily="34" charset="-120"/>
              </a:rPr>
              <a:t>Rahul Pandey</a:t>
            </a:r>
            <a:endParaRPr lang="en-US" sz="1500" dirty="0"/>
          </a:p>
        </p:txBody>
      </p:sp>
      <p:sp>
        <p:nvSpPr>
          <p:cNvPr id="8"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IBM Plex Sans" pitchFamily="34" charset="0"/>
                <a:ea typeface="IBM Plex Sans" pitchFamily="34" charset="-122"/>
                <a:cs typeface="IBM Plex Sans" pitchFamily="34" charset="-120"/>
              </a:rPr>
              <a:t>Senior Engineer, Flood Modelling · AtkinsRéalis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AGENDA</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Four parts, one idea: let QGIS do the repetitive work</a:t>
            </a:r>
            <a:endParaRPr lang="en-US" sz="3200" dirty="0"/>
          </a:p>
        </p:txBody>
      </p:sp>
      <p:sp>
        <p:nvSpPr>
          <p:cNvPr id="4" name="Shape 2"/>
          <p:cNvSpPr/>
          <p:nvPr/>
        </p:nvSpPr>
        <p:spPr>
          <a:xfrm>
            <a:off x="815975" y="1890812"/>
            <a:ext cx="2476500" cy="4151213"/>
          </a:xfrm>
          <a:prstGeom prst="roundRect">
            <a:avLst>
              <a:gd name="adj" fmla="val 3974"/>
            </a:avLst>
          </a:prstGeom>
          <a:solidFill>
            <a:srgbClr val="FDFEFD"/>
          </a:solidFill>
          <a:ln w="6350">
            <a:solidFill>
              <a:srgbClr val="DCE4E8"/>
            </a:solidFill>
            <a:prstDash val="solid"/>
          </a:ln>
        </p:spPr>
      </p:sp>
      <p:sp>
        <p:nvSpPr>
          <p:cNvPr id="5" name="Text 3"/>
          <p:cNvSpPr/>
          <p:nvPr/>
        </p:nvSpPr>
        <p:spPr>
          <a:xfrm>
            <a:off x="1073150" y="21479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IBM Plex Sans" pitchFamily="34" charset="0"/>
                <a:ea typeface="IBM Plex Sans" pitchFamily="34" charset="-122"/>
                <a:cs typeface="IBM Plex Sans" pitchFamily="34" charset="-120"/>
              </a:rPr>
              <a:t>01</a:t>
            </a:r>
            <a:endParaRPr lang="en-US" sz="3200" dirty="0"/>
          </a:p>
        </p:txBody>
      </p:sp>
      <p:sp>
        <p:nvSpPr>
          <p:cNvPr id="6" name="Text 4"/>
          <p:cNvSpPr/>
          <p:nvPr/>
        </p:nvSpPr>
        <p:spPr>
          <a:xfrm>
            <a:off x="1073150" y="2655987"/>
            <a:ext cx="20210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IBM Plex Sans" pitchFamily="34" charset="0"/>
                <a:ea typeface="IBM Plex Sans" pitchFamily="34" charset="-122"/>
                <a:cs typeface="IBM Plex Sans" pitchFamily="34" charset="-120"/>
              </a:rPr>
              <a:t>Why</a:t>
            </a:r>
            <a:endParaRPr lang="en-US" sz="2000" dirty="0"/>
          </a:p>
        </p:txBody>
      </p:sp>
      <p:sp>
        <p:nvSpPr>
          <p:cNvPr id="7" name="Text 5"/>
          <p:cNvSpPr/>
          <p:nvPr/>
        </p:nvSpPr>
        <p:spPr>
          <a:xfrm>
            <a:off x="1073150" y="3049687"/>
            <a:ext cx="2021014"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Where the time goes when TUFLOW models are built by hand</a:t>
            </a:r>
            <a:endParaRPr lang="en-US" sz="1200" dirty="0"/>
          </a:p>
        </p:txBody>
      </p:sp>
      <p:sp>
        <p:nvSpPr>
          <p:cNvPr id="8" name="Shape 6"/>
          <p:cNvSpPr/>
          <p:nvPr/>
        </p:nvSpPr>
        <p:spPr>
          <a:xfrm>
            <a:off x="3508375" y="1897162"/>
            <a:ext cx="2489200" cy="4138513"/>
          </a:xfrm>
          <a:prstGeom prst="roundRect">
            <a:avLst>
              <a:gd name="adj" fmla="val 3699"/>
            </a:avLst>
          </a:prstGeom>
          <a:solidFill>
            <a:srgbClr val="FDFEFD"/>
          </a:solidFill>
          <a:ln w="19050">
            <a:solidFill>
              <a:srgbClr val="1F6F99"/>
            </a:solidFill>
            <a:prstDash val="solid"/>
          </a:ln>
        </p:spPr>
      </p:sp>
      <p:sp>
        <p:nvSpPr>
          <p:cNvPr id="9" name="Text 7"/>
          <p:cNvSpPr/>
          <p:nvPr/>
        </p:nvSpPr>
        <p:spPr>
          <a:xfrm>
            <a:off x="3771900" y="21606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IBM Plex Sans" pitchFamily="34" charset="0"/>
                <a:ea typeface="IBM Plex Sans" pitchFamily="34" charset="-122"/>
                <a:cs typeface="IBM Plex Sans" pitchFamily="34" charset="-120"/>
              </a:rPr>
              <a:t>02</a:t>
            </a:r>
            <a:endParaRPr lang="en-US" sz="3200" dirty="0"/>
          </a:p>
        </p:txBody>
      </p:sp>
      <p:sp>
        <p:nvSpPr>
          <p:cNvPr id="10" name="Text 8"/>
          <p:cNvSpPr/>
          <p:nvPr/>
        </p:nvSpPr>
        <p:spPr>
          <a:xfrm>
            <a:off x="3771900" y="2668687"/>
            <a:ext cx="20210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IBM Plex Sans" pitchFamily="34" charset="0"/>
                <a:ea typeface="IBM Plex Sans" pitchFamily="34" charset="-122"/>
                <a:cs typeface="IBM Plex Sans" pitchFamily="34" charset="-120"/>
              </a:rPr>
              <a:t>FMB Tools 0.10</a:t>
            </a:r>
            <a:endParaRPr lang="en-US" sz="2000" dirty="0"/>
          </a:p>
        </p:txBody>
      </p:sp>
      <p:sp>
        <p:nvSpPr>
          <p:cNvPr id="11" name="Text 9"/>
          <p:cNvSpPr/>
          <p:nvPr/>
        </p:nvSpPr>
        <p:spPr>
          <a:xfrm>
            <a:off x="3771900" y="3062387"/>
            <a:ext cx="2021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Control files, batch files and QC built inside QGIS</a:t>
            </a:r>
            <a:endParaRPr lang="en-US" sz="1200" dirty="0"/>
          </a:p>
        </p:txBody>
      </p:sp>
      <p:sp>
        <p:nvSpPr>
          <p:cNvPr id="12" name="Text 10"/>
          <p:cNvSpPr/>
          <p:nvPr/>
        </p:nvSpPr>
        <p:spPr>
          <a:xfrm>
            <a:off x="3771900" y="5558830"/>
            <a:ext cx="2021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Main focus</a:t>
            </a:r>
            <a:endParaRPr lang="en-US" sz="1200" dirty="0"/>
          </a:p>
        </p:txBody>
      </p:sp>
      <p:sp>
        <p:nvSpPr>
          <p:cNvPr id="13" name="Shape 11"/>
          <p:cNvSpPr/>
          <p:nvPr/>
        </p:nvSpPr>
        <p:spPr>
          <a:xfrm>
            <a:off x="6213475" y="1890812"/>
            <a:ext cx="2476500" cy="4151213"/>
          </a:xfrm>
          <a:prstGeom prst="roundRect">
            <a:avLst>
              <a:gd name="adj" fmla="val 3974"/>
            </a:avLst>
          </a:prstGeom>
          <a:solidFill>
            <a:srgbClr val="FDFEFD"/>
          </a:solidFill>
          <a:ln w="6350">
            <a:solidFill>
              <a:srgbClr val="DCE4E8"/>
            </a:solidFill>
            <a:prstDash val="solid"/>
          </a:ln>
        </p:spPr>
      </p:sp>
      <p:sp>
        <p:nvSpPr>
          <p:cNvPr id="14" name="Text 12"/>
          <p:cNvSpPr/>
          <p:nvPr/>
        </p:nvSpPr>
        <p:spPr>
          <a:xfrm>
            <a:off x="6470650" y="21479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IBM Plex Sans" pitchFamily="34" charset="0"/>
                <a:ea typeface="IBM Plex Sans" pitchFamily="34" charset="-122"/>
                <a:cs typeface="IBM Plex Sans" pitchFamily="34" charset="-120"/>
              </a:rPr>
              <a:t>03</a:t>
            </a:r>
            <a:endParaRPr lang="en-US" sz="3200" dirty="0"/>
          </a:p>
        </p:txBody>
      </p:sp>
      <p:sp>
        <p:nvSpPr>
          <p:cNvPr id="15" name="Text 13"/>
          <p:cNvSpPr/>
          <p:nvPr/>
        </p:nvSpPr>
        <p:spPr>
          <a:xfrm>
            <a:off x="6470650" y="2655987"/>
            <a:ext cx="221615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IBM Plex Sans" pitchFamily="34" charset="0"/>
                <a:ea typeface="IBM Plex Sans" pitchFamily="34" charset="-122"/>
                <a:cs typeface="IBM Plex Sans" pitchFamily="34" charset="-120"/>
              </a:rPr>
              <a:t>Rain2Flood v3.0</a:t>
            </a:r>
            <a:endParaRPr lang="en-US" sz="2000" dirty="0"/>
          </a:p>
        </p:txBody>
      </p:sp>
      <p:sp>
        <p:nvSpPr>
          <p:cNvPr id="16" name="Text 14"/>
          <p:cNvSpPr/>
          <p:nvPr/>
        </p:nvSpPr>
        <p:spPr>
          <a:xfrm>
            <a:off x="6470650" y="3049687"/>
            <a:ext cx="2021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Hydrology from rainfall to flood hydrograph</a:t>
            </a:r>
            <a:endParaRPr lang="en-US" sz="1200" dirty="0"/>
          </a:p>
        </p:txBody>
      </p:sp>
      <p:sp>
        <p:nvSpPr>
          <p:cNvPr id="17" name="Text 15"/>
          <p:cNvSpPr/>
          <p:nvPr/>
        </p:nvSpPr>
        <p:spPr>
          <a:xfrm>
            <a:off x="6470650" y="5571530"/>
            <a:ext cx="2021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5A17"/>
                </a:solidFill>
                <a:latin typeface="IBM Plex Sans" pitchFamily="34" charset="0"/>
                <a:ea typeface="IBM Plex Sans" pitchFamily="34" charset="-122"/>
                <a:cs typeface="IBM Plex Sans" pitchFamily="34" charset="-120"/>
              </a:rPr>
              <a:t>Bonus</a:t>
            </a:r>
            <a:endParaRPr lang="en-US" sz="1200" dirty="0"/>
          </a:p>
        </p:txBody>
      </p:sp>
      <p:sp>
        <p:nvSpPr>
          <p:cNvPr id="18" name="Shape 16"/>
          <p:cNvSpPr/>
          <p:nvPr/>
        </p:nvSpPr>
        <p:spPr>
          <a:xfrm>
            <a:off x="8899525" y="1890812"/>
            <a:ext cx="2476500" cy="4151213"/>
          </a:xfrm>
          <a:prstGeom prst="roundRect">
            <a:avLst>
              <a:gd name="adj" fmla="val 3974"/>
            </a:avLst>
          </a:prstGeom>
          <a:solidFill>
            <a:srgbClr val="FDFEFD"/>
          </a:solidFill>
          <a:ln w="6350">
            <a:solidFill>
              <a:srgbClr val="DCE4E8"/>
            </a:solidFill>
            <a:prstDash val="solid"/>
          </a:ln>
        </p:spPr>
      </p:sp>
      <p:sp>
        <p:nvSpPr>
          <p:cNvPr id="19" name="Text 17"/>
          <p:cNvSpPr/>
          <p:nvPr/>
        </p:nvSpPr>
        <p:spPr>
          <a:xfrm>
            <a:off x="9156700" y="2147987"/>
            <a:ext cx="2021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F6F99"/>
                </a:solidFill>
                <a:latin typeface="IBM Plex Sans" pitchFamily="34" charset="0"/>
                <a:ea typeface="IBM Plex Sans" pitchFamily="34" charset="-122"/>
                <a:cs typeface="IBM Plex Sans" pitchFamily="34" charset="-120"/>
              </a:rPr>
              <a:t>04</a:t>
            </a:r>
            <a:endParaRPr lang="en-US" sz="3200" dirty="0"/>
          </a:p>
        </p:txBody>
      </p:sp>
      <p:sp>
        <p:nvSpPr>
          <p:cNvPr id="20" name="Text 18"/>
          <p:cNvSpPr/>
          <p:nvPr/>
        </p:nvSpPr>
        <p:spPr>
          <a:xfrm>
            <a:off x="9156700" y="2655987"/>
            <a:ext cx="20210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293A"/>
                </a:solidFill>
                <a:latin typeface="IBM Plex Sans" pitchFamily="34" charset="0"/>
                <a:ea typeface="IBM Plex Sans" pitchFamily="34" charset="-122"/>
                <a:cs typeface="IBM Plex Sans" pitchFamily="34" charset="-120"/>
              </a:rPr>
              <a:t>Build your own</a:t>
            </a:r>
            <a:endParaRPr lang="en-US" sz="2000" dirty="0"/>
          </a:p>
        </p:txBody>
      </p:sp>
      <p:sp>
        <p:nvSpPr>
          <p:cNvPr id="21" name="Text 19"/>
          <p:cNvSpPr/>
          <p:nvPr/>
        </p:nvSpPr>
        <p:spPr>
          <a:xfrm>
            <a:off x="9156700" y="3049687"/>
            <a:ext cx="2021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How a QGIS plugin works and how to start one</a:t>
            </a:r>
            <a:endParaRPr lang="en-US" sz="1200" dirty="0"/>
          </a:p>
        </p:txBody>
      </p:sp>
      <p:sp>
        <p:nvSpPr>
          <p:cNvPr id="22" name="Text 20"/>
          <p:cNvSpPr/>
          <p:nvPr/>
        </p:nvSpPr>
        <p:spPr>
          <a:xfrm>
            <a:off x="9156700" y="5571530"/>
            <a:ext cx="2021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Hands-on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A TUFLOW model is a stack of hand-edited text files</a:t>
            </a:r>
            <a:endParaRPr lang="en-US" sz="3200" dirty="0"/>
          </a:p>
        </p:txBody>
      </p:sp>
      <p:sp>
        <p:nvSpPr>
          <p:cNvPr id="4" name="Shape 2"/>
          <p:cNvSpPr/>
          <p:nvPr/>
        </p:nvSpPr>
        <p:spPr>
          <a:xfrm>
            <a:off x="812800" y="1887637"/>
            <a:ext cx="3810000" cy="4157563"/>
          </a:xfrm>
          <a:prstGeom prst="roundRect">
            <a:avLst>
              <a:gd name="adj" fmla="val 2667"/>
            </a:avLst>
          </a:prstGeom>
          <a:solidFill>
            <a:srgbClr val="0F2433"/>
          </a:solidFill>
          <a:ln/>
        </p:spPr>
      </p:sp>
      <p:sp>
        <p:nvSpPr>
          <p:cNvPr id="5" name="Text 3"/>
          <p:cNvSpPr/>
          <p:nvPr/>
        </p:nvSpPr>
        <p:spPr>
          <a:xfrm>
            <a:off x="1066800" y="2141637"/>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B7E0"/>
                </a:solidFill>
                <a:latin typeface="IBM Plex Sans" pitchFamily="34" charset="0"/>
                <a:ea typeface="IBM Plex Sans" pitchFamily="34" charset="-122"/>
                <a:cs typeface="IBM Plex Sans" pitchFamily="34" charset="-120"/>
              </a:rPr>
              <a:t>TYPICAL MODEL FOLDER</a:t>
            </a:r>
            <a:endParaRPr lang="en-US" sz="1200" dirty="0"/>
          </a:p>
        </p:txBody>
      </p:sp>
      <p:sp>
        <p:nvSpPr>
          <p:cNvPr id="6" name="Text 4"/>
          <p:cNvSpPr/>
          <p:nvPr/>
        </p:nvSpPr>
        <p:spPr>
          <a:xfrm>
            <a:off x="1066800" y="24311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model.tcf</a:t>
            </a:r>
            <a:endParaRPr lang="en-US" sz="1500" dirty="0"/>
          </a:p>
        </p:txBody>
      </p:sp>
      <p:sp>
        <p:nvSpPr>
          <p:cNvPr id="7" name="Text 5"/>
          <p:cNvSpPr/>
          <p:nvPr/>
        </p:nvSpPr>
        <p:spPr>
          <a:xfrm>
            <a:off x="1066800" y="279310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model.tgc</a:t>
            </a:r>
            <a:endParaRPr lang="en-US" sz="1500" dirty="0"/>
          </a:p>
        </p:txBody>
      </p:sp>
      <p:sp>
        <p:nvSpPr>
          <p:cNvPr id="8" name="Text 6"/>
          <p:cNvSpPr/>
          <p:nvPr/>
        </p:nvSpPr>
        <p:spPr>
          <a:xfrm>
            <a:off x="1066800" y="31550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model.tbc</a:t>
            </a:r>
            <a:endParaRPr lang="en-US" sz="1500" dirty="0"/>
          </a:p>
        </p:txBody>
      </p:sp>
      <p:sp>
        <p:nvSpPr>
          <p:cNvPr id="9" name="Text 7"/>
          <p:cNvSpPr/>
          <p:nvPr/>
        </p:nvSpPr>
        <p:spPr>
          <a:xfrm>
            <a:off x="1066800" y="351700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model.ecf</a:t>
            </a:r>
            <a:endParaRPr lang="en-US" sz="1500" dirty="0"/>
          </a:p>
        </p:txBody>
      </p:sp>
      <p:sp>
        <p:nvSpPr>
          <p:cNvPr id="10" name="Text 8"/>
          <p:cNvSpPr/>
          <p:nvPr/>
        </p:nvSpPr>
        <p:spPr>
          <a:xfrm>
            <a:off x="1066800" y="38789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materials.tmf</a:t>
            </a:r>
            <a:endParaRPr lang="en-US" sz="1500" dirty="0"/>
          </a:p>
        </p:txBody>
      </p:sp>
      <p:sp>
        <p:nvSpPr>
          <p:cNvPr id="11" name="Text 9"/>
          <p:cNvSpPr/>
          <p:nvPr/>
        </p:nvSpPr>
        <p:spPr>
          <a:xfrm>
            <a:off x="1066800" y="424090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bc_dbase.csv</a:t>
            </a:r>
            <a:endParaRPr lang="en-US" sz="1500" dirty="0"/>
          </a:p>
        </p:txBody>
      </p:sp>
      <p:sp>
        <p:nvSpPr>
          <p:cNvPr id="12" name="Text 10"/>
          <p:cNvSpPr/>
          <p:nvPr/>
        </p:nvSpPr>
        <p:spPr>
          <a:xfrm>
            <a:off x="1066800" y="4602857"/>
            <a:ext cx="34010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7F6"/>
                </a:solidFill>
                <a:latin typeface="JetBrains Mono" pitchFamily="49" charset="0"/>
                <a:ea typeface="JetBrains Mono" pitchFamily="49" charset="-122"/>
                <a:cs typeface="JetBrains Mono" pitchFamily="49" charset="-120"/>
              </a:rPr>
              <a:t>run.bat</a:t>
            </a:r>
            <a:endParaRPr lang="en-US" sz="1500" dirty="0"/>
          </a:p>
        </p:txBody>
      </p:sp>
      <p:pic>
        <p:nvPicPr>
          <p:cNvPr id="13" name="Image 0" descr="Warning">    </p:cNvPr>
          <p:cNvPicPr>
            <a:picLocks noChangeAspect="1"/>
          </p:cNvPicPr>
          <p:nvPr/>
        </p:nvPicPr>
        <p:blipFill>
          <a:blip r:embed="rId1"/>
          <a:srcRect l="0" r="0" t="0" b="0"/>
          <a:stretch/>
        </p:blipFill>
        <p:spPr>
          <a:xfrm>
            <a:off x="5029200" y="2975769"/>
            <a:ext cx="304800" cy="304800"/>
          </a:xfrm>
          <a:prstGeom prst="rect">
            <a:avLst/>
          </a:prstGeom>
        </p:spPr>
      </p:pic>
      <p:sp>
        <p:nvSpPr>
          <p:cNvPr id="14" name="Text 11"/>
          <p:cNvSpPr/>
          <p:nvPr/>
        </p:nvSpPr>
        <p:spPr>
          <a:xfrm>
            <a:off x="5486400" y="29757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Commands typed from memory or copied from an old model</a:t>
            </a:r>
            <a:endParaRPr lang="en-US" sz="1500" dirty="0"/>
          </a:p>
        </p:txBody>
      </p:sp>
      <p:pic>
        <p:nvPicPr>
          <p:cNvPr id="15" name="Image 1" descr="Warning">    </p:cNvPr>
          <p:cNvPicPr>
            <a:picLocks noChangeAspect="1"/>
          </p:cNvPicPr>
          <p:nvPr/>
        </p:nvPicPr>
        <p:blipFill>
          <a:blip r:embed="rId2"/>
          <a:srcRect l="0" r="0" t="0" b="0"/>
          <a:stretch/>
        </p:blipFill>
        <p:spPr>
          <a:xfrm>
            <a:off x="5029200" y="3534569"/>
            <a:ext cx="304800" cy="304800"/>
          </a:xfrm>
          <a:prstGeom prst="rect">
            <a:avLst/>
          </a:prstGeom>
        </p:spPr>
      </p:pic>
      <p:sp>
        <p:nvSpPr>
          <p:cNvPr id="16" name="Text 12"/>
          <p:cNvSpPr/>
          <p:nvPr/>
        </p:nvSpPr>
        <p:spPr>
          <a:xfrm>
            <a:off x="5486400" y="35345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A typo or wrong path only shows up when the run stops</a:t>
            </a:r>
            <a:endParaRPr lang="en-US" sz="1500" dirty="0"/>
          </a:p>
        </p:txBody>
      </p:sp>
      <p:pic>
        <p:nvPicPr>
          <p:cNvPr id="17" name="Image 2" descr="Warning">    </p:cNvPr>
          <p:cNvPicPr>
            <a:picLocks noChangeAspect="1"/>
          </p:cNvPicPr>
          <p:nvPr/>
        </p:nvPicPr>
        <p:blipFill>
          <a:blip r:embed="rId3"/>
          <a:srcRect l="0" r="0" t="0" b="0"/>
          <a:stretch/>
        </p:blipFill>
        <p:spPr>
          <a:xfrm>
            <a:off x="5029200" y="4093369"/>
            <a:ext cx="304800" cy="304800"/>
          </a:xfrm>
          <a:prstGeom prst="rect">
            <a:avLst/>
          </a:prstGeom>
        </p:spPr>
      </p:pic>
      <p:sp>
        <p:nvSpPr>
          <p:cNvPr id="18" name="Text 13"/>
          <p:cNvSpPr/>
          <p:nvPr/>
        </p:nvSpPr>
        <p:spPr>
          <a:xfrm>
            <a:off x="5486400" y="40933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Checking means reading the log and message layers by hand</a:t>
            </a:r>
            <a:endParaRPr lang="en-US" sz="1500" dirty="0"/>
          </a:p>
        </p:txBody>
      </p:sp>
      <p:pic>
        <p:nvPicPr>
          <p:cNvPr id="19" name="Image 3" descr="Warning">    </p:cNvPr>
          <p:cNvPicPr>
            <a:picLocks noChangeAspect="1"/>
          </p:cNvPicPr>
          <p:nvPr/>
        </p:nvPicPr>
        <p:blipFill>
          <a:blip r:embed="rId4"/>
          <a:srcRect l="0" r="0" t="0" b="0"/>
          <a:stretch/>
        </p:blipFill>
        <p:spPr>
          <a:xfrm>
            <a:off x="5029200" y="4652169"/>
            <a:ext cx="304800" cy="304800"/>
          </a:xfrm>
          <a:prstGeom prst="rect">
            <a:avLst/>
          </a:prstGeom>
        </p:spPr>
      </p:pic>
      <p:sp>
        <p:nvSpPr>
          <p:cNvPr id="20" name="Text 14"/>
          <p:cNvSpPr/>
          <p:nvPr/>
        </p:nvSpPr>
        <p:spPr>
          <a:xfrm>
            <a:off x="5486400" y="4652169"/>
            <a:ext cx="6069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Every modeller lays out files a little differently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07A2E"/>
        </a:solidFill>
      </p:bgPr>
    </p:bg>
    <p:spTree>
      <p:nvGrpSpPr>
        <p:cNvPr id="1" name=""/>
        <p:cNvGrpSpPr/>
        <p:nvPr/>
      </p:nvGrpSpPr>
      <p:grpSpPr>
        <a:xfrm>
          <a:off x="0" y="0"/>
          <a:ext cx="0" cy="0"/>
          <a:chOff x="0" y="0"/>
          <a:chExt cx="0" cy="0"/>
        </a:xfrm>
      </p:grpSpPr>
      <p:sp>
        <p:nvSpPr>
          <p:cNvPr id="2" name="Text 0"/>
          <p:cNvSpPr/>
          <p:nvPr/>
        </p:nvSpPr>
        <p:spPr>
          <a:xfrm>
            <a:off x="812800" y="194746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93A"/>
                </a:solidFill>
                <a:latin typeface="IBM Plex Sans" pitchFamily="34" charset="0"/>
                <a:ea typeface="IBM Plex Sans" pitchFamily="34" charset="-122"/>
                <a:cs typeface="IBM Plex Sans" pitchFamily="34" charset="-120"/>
              </a:rPr>
              <a:t>THE QUESTION</a:t>
            </a:r>
            <a:endParaRPr lang="en-US" sz="1200" dirty="0"/>
          </a:p>
        </p:txBody>
      </p:sp>
      <p:sp>
        <p:nvSpPr>
          <p:cNvPr id="3" name="Text 1"/>
          <p:cNvSpPr/>
          <p:nvPr>
            <p:ph type="title"/>
          </p:nvPr>
        </p:nvSpPr>
        <p:spPr>
          <a:xfrm>
            <a:off x="812800" y="2414786"/>
            <a:ext cx="9810750" cy="200034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14293A"/>
                </a:solidFill>
                <a:latin typeface="IBM Plex Sans" pitchFamily="34" charset="0"/>
                <a:ea typeface="IBM Plex Sans" pitchFamily="34" charset="-122"/>
                <a:cs typeface="IBM Plex Sans" pitchFamily="34" charset="-120"/>
              </a:rPr>
              <a:t>What if the model build lived where the data already lives: in QGIS?</a:t>
            </a:r>
            <a:endParaRPr lang="en-US" sz="4800" dirty="0"/>
          </a:p>
        </p:txBody>
      </p:sp>
      <p:sp>
        <p:nvSpPr>
          <p:cNvPr id="4" name="Text 2"/>
          <p:cNvSpPr/>
          <p:nvPr/>
        </p:nvSpPr>
        <p:spPr>
          <a:xfrm>
            <a:off x="812800" y="46437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That question became FMB Tools.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FMB TOOLS 0.10</a:t>
            </a:r>
            <a:endParaRPr lang="en-US" sz="1200" dirty="0"/>
          </a:p>
        </p:txBody>
      </p:sp>
      <p:sp>
        <p:nvSpPr>
          <p:cNvPr id="3" name="Text 1"/>
          <p:cNvSpPr/>
          <p:nvPr>
            <p:ph type="title"/>
          </p:nvPr>
        </p:nvSpPr>
        <p:spPr>
          <a:xfrm>
            <a:off x="812800" y="1127720"/>
            <a:ext cx="4970780" cy="139074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Build TUFLOW models inside QGIS, not in Notepad++</a:t>
            </a:r>
            <a:endParaRPr lang="en-US" sz="3200" dirty="0"/>
          </a:p>
        </p:txBody>
      </p:sp>
      <p:pic>
        <p:nvPicPr>
          <p:cNvPr id="4" name="Image 0" descr="Check">    </p:cNvPr>
          <p:cNvPicPr>
            <a:picLocks noChangeAspect="1"/>
          </p:cNvPicPr>
          <p:nvPr/>
        </p:nvPicPr>
        <p:blipFill>
          <a:blip r:embed="rId1"/>
          <a:srcRect l="0" r="0" t="0" b="0"/>
          <a:stretch/>
        </p:blipFill>
        <p:spPr>
          <a:xfrm>
            <a:off x="812800" y="2799457"/>
            <a:ext cx="254000" cy="254000"/>
          </a:xfrm>
          <a:prstGeom prst="rect">
            <a:avLst/>
          </a:prstGeom>
        </p:spPr>
      </p:pic>
      <p:sp>
        <p:nvSpPr>
          <p:cNvPr id="5" name="Text 2"/>
          <p:cNvSpPr/>
          <p:nvPr/>
        </p:nvSpPr>
        <p:spPr>
          <a:xfrm>
            <a:off x="1193800" y="2797870"/>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IBM Plex Sans" pitchFamily="34" charset="0"/>
                <a:ea typeface="IBM Plex Sans" pitchFamily="34" charset="-122"/>
                <a:cs typeface="IBM Plex Sans" pitchFamily="34" charset="-120"/>
              </a:rPr>
              <a:t>One tab per control file</a:t>
            </a:r>
            <a:endParaRPr lang="en-US" sz="1500" dirty="0"/>
          </a:p>
        </p:txBody>
      </p:sp>
      <p:pic>
        <p:nvPicPr>
          <p:cNvPr id="6" name="Image 1" descr="Check">    </p:cNvPr>
          <p:cNvPicPr>
            <a:picLocks noChangeAspect="1"/>
          </p:cNvPicPr>
          <p:nvPr/>
        </p:nvPicPr>
        <p:blipFill>
          <a:blip r:embed="rId2"/>
          <a:srcRect l="0" r="0" t="0" b="0"/>
          <a:stretch/>
        </p:blipFill>
        <p:spPr>
          <a:xfrm>
            <a:off x="812800" y="3209032"/>
            <a:ext cx="254000" cy="254000"/>
          </a:xfrm>
          <a:prstGeom prst="rect">
            <a:avLst/>
          </a:prstGeom>
        </p:spPr>
      </p:pic>
      <p:sp>
        <p:nvSpPr>
          <p:cNvPr id="7" name="Text 3"/>
          <p:cNvSpPr/>
          <p:nvPr/>
        </p:nvSpPr>
        <p:spPr>
          <a:xfrm>
            <a:off x="1193800" y="3207445"/>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IBM Plex Sans" pitchFamily="34" charset="0"/>
                <a:ea typeface="IBM Plex Sans" pitchFamily="34" charset="-122"/>
                <a:cs typeface="IBM Plex Sans" pitchFamily="34" charset="-120"/>
              </a:rPr>
              <a:t>Batch files generated, not hand-typed</a:t>
            </a:r>
            <a:endParaRPr lang="en-US" sz="1500" dirty="0"/>
          </a:p>
        </p:txBody>
      </p:sp>
      <p:pic>
        <p:nvPicPr>
          <p:cNvPr id="8" name="Image 2" descr="Check">    </p:cNvPr>
          <p:cNvPicPr>
            <a:picLocks noChangeAspect="1"/>
          </p:cNvPicPr>
          <p:nvPr/>
        </p:nvPicPr>
        <p:blipFill>
          <a:blip r:embed="rId3"/>
          <a:srcRect l="0" r="0" t="0" b="0"/>
          <a:stretch/>
        </p:blipFill>
        <p:spPr>
          <a:xfrm>
            <a:off x="812800" y="3618607"/>
            <a:ext cx="254000" cy="254000"/>
          </a:xfrm>
          <a:prstGeom prst="rect">
            <a:avLst/>
          </a:prstGeom>
        </p:spPr>
      </p:pic>
      <p:sp>
        <p:nvSpPr>
          <p:cNvPr id="9" name="Text 4"/>
          <p:cNvSpPr/>
          <p:nvPr/>
        </p:nvSpPr>
        <p:spPr>
          <a:xfrm>
            <a:off x="1193800" y="3617020"/>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IBM Plex Sans" pitchFamily="34" charset="0"/>
                <a:ea typeface="IBM Plex Sans" pitchFamily="34" charset="-122"/>
                <a:cs typeface="IBM Plex Sans" pitchFamily="34" charset="-120"/>
              </a:rPr>
              <a:t>QC, log and results views built in</a:t>
            </a:r>
            <a:endParaRPr lang="en-US" sz="1500" dirty="0"/>
          </a:p>
        </p:txBody>
      </p:sp>
      <p:pic>
        <p:nvPicPr>
          <p:cNvPr id="10" name="Image 3" descr="Check">    </p:cNvPr>
          <p:cNvPicPr>
            <a:picLocks noChangeAspect="1"/>
          </p:cNvPicPr>
          <p:nvPr/>
        </p:nvPicPr>
        <p:blipFill>
          <a:blip r:embed="rId4"/>
          <a:srcRect l="0" r="0" t="0" b="0"/>
          <a:stretch/>
        </p:blipFill>
        <p:spPr>
          <a:xfrm>
            <a:off x="812800" y="4028182"/>
            <a:ext cx="254000" cy="254000"/>
          </a:xfrm>
          <a:prstGeom prst="rect">
            <a:avLst/>
          </a:prstGeom>
        </p:spPr>
      </p:pic>
      <p:sp>
        <p:nvSpPr>
          <p:cNvPr id="11" name="Text 5"/>
          <p:cNvSpPr/>
          <p:nvPr/>
        </p:nvSpPr>
        <p:spPr>
          <a:xfrm>
            <a:off x="1193800" y="4026595"/>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IBM Plex Sans" pitchFamily="34" charset="0"/>
                <a:ea typeface="IBM Plex Sans" pitchFamily="34" charset="-122"/>
                <a:cs typeface="IBM Plex Sans" pitchFamily="34" charset="-120"/>
              </a:rPr>
              <a:t>Help tab links to the TUFLOW Wiki</a:t>
            </a:r>
            <a:endParaRPr lang="en-US" sz="1500" dirty="0"/>
          </a:p>
        </p:txBody>
      </p:sp>
      <p:pic>
        <p:nvPicPr>
          <p:cNvPr id="12" name="Image 4" descr="Check">    </p:cNvPr>
          <p:cNvPicPr>
            <a:picLocks noChangeAspect="1"/>
          </p:cNvPicPr>
          <p:nvPr/>
        </p:nvPicPr>
        <p:blipFill>
          <a:blip r:embed="rId5"/>
          <a:srcRect l="0" r="0" t="0" b="0"/>
          <a:stretch/>
        </p:blipFill>
        <p:spPr>
          <a:xfrm>
            <a:off x="812800" y="4437757"/>
            <a:ext cx="254000" cy="254000"/>
          </a:xfrm>
          <a:prstGeom prst="rect">
            <a:avLst/>
          </a:prstGeom>
        </p:spPr>
      </p:pic>
      <p:sp>
        <p:nvSpPr>
          <p:cNvPr id="13" name="Text 6"/>
          <p:cNvSpPr/>
          <p:nvPr/>
        </p:nvSpPr>
        <p:spPr>
          <a:xfrm>
            <a:off x="1193800" y="4436170"/>
            <a:ext cx="45783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93A"/>
                </a:solidFill>
                <a:latin typeface="IBM Plex Sans" pitchFamily="34" charset="0"/>
                <a:ea typeface="IBM Plex Sans" pitchFamily="34" charset="-122"/>
                <a:cs typeface="IBM Plex Sans" pitchFamily="34" charset="-120"/>
              </a:rPr>
              <a:t>Open source, on GitHub</a:t>
            </a:r>
            <a:endParaRPr lang="en-US" sz="1500" dirty="0"/>
          </a:p>
        </p:txBody>
      </p:sp>
      <p:sp>
        <p:nvSpPr>
          <p:cNvPr id="14" name="Shape 7"/>
          <p:cNvSpPr/>
          <p:nvPr/>
        </p:nvSpPr>
        <p:spPr>
          <a:xfrm>
            <a:off x="6054725" y="822325"/>
            <a:ext cx="5314950" cy="5213350"/>
          </a:xfrm>
          <a:prstGeom prst="roundRect">
            <a:avLst>
              <a:gd name="adj" fmla="val 1766"/>
            </a:avLst>
          </a:prstGeom>
          <a:solidFill>
            <a:srgbClr val="E8EEF1"/>
          </a:solidFill>
          <a:ln w="19050">
            <a:solidFill>
              <a:srgbClr val="8FA6B4"/>
            </a:solidFill>
            <a:prstDash val="dash"/>
          </a:ln>
        </p:spPr>
      </p:sp>
      <p:sp>
        <p:nvSpPr>
          <p:cNvPr id="15" name="Text 8"/>
          <p:cNvSpPr/>
          <p:nvPr/>
        </p:nvSpPr>
        <p:spPr>
          <a:xfrm>
            <a:off x="8009374" y="2980730"/>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16" name="Text 9"/>
          <p:cNvSpPr/>
          <p:nvPr/>
        </p:nvSpPr>
        <p:spPr>
          <a:xfrm>
            <a:off x="7435979" y="3295650"/>
            <a:ext cx="255234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FMB Tools main window</a:t>
            </a:r>
            <a:endParaRPr lang="en-US" sz="1500" dirty="0"/>
          </a:p>
        </p:txBody>
      </p:sp>
      <p:sp>
        <p:nvSpPr>
          <p:cNvPr id="17" name="Text 10"/>
          <p:cNvSpPr/>
          <p:nvPr/>
        </p:nvSpPr>
        <p:spPr>
          <a:xfrm>
            <a:off x="6866731" y="3663950"/>
            <a:ext cx="369093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The plugin open in QGIS with a model loaded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FMB TOOLS 0.10 · WORKFLOW</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From blank model to checked results in one place</a:t>
            </a:r>
            <a:endParaRPr lang="en-US" sz="3200" dirty="0"/>
          </a:p>
        </p:txBody>
      </p:sp>
      <p:sp>
        <p:nvSpPr>
          <p:cNvPr id="4" name="Shape 2"/>
          <p:cNvSpPr/>
          <p:nvPr/>
        </p:nvSpPr>
        <p:spPr>
          <a:xfrm>
            <a:off x="815975" y="2704703"/>
            <a:ext cx="1695450" cy="1901031"/>
          </a:xfrm>
          <a:prstGeom prst="roundRect">
            <a:avLst>
              <a:gd name="adj" fmla="val 5805"/>
            </a:avLst>
          </a:prstGeom>
          <a:solidFill>
            <a:srgbClr val="FDFEFD"/>
          </a:solidFill>
          <a:ln w="6350">
            <a:solidFill>
              <a:srgbClr val="DCE4E8"/>
            </a:solidFill>
            <a:prstDash val="solid"/>
          </a:ln>
        </p:spPr>
      </p:sp>
      <p:sp>
        <p:nvSpPr>
          <p:cNvPr id="5" name="Text 3"/>
          <p:cNvSpPr/>
          <p:nvPr/>
        </p:nvSpPr>
        <p:spPr>
          <a:xfrm>
            <a:off x="1022350" y="291107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1022350" y="320059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Build control files</a:t>
            </a:r>
            <a:endParaRPr lang="en-US" sz="1500" dirty="0"/>
          </a:p>
        </p:txBody>
      </p:sp>
      <p:sp>
        <p:nvSpPr>
          <p:cNvPr id="7" name="Text 5"/>
          <p:cNvSpPr/>
          <p:nvPr/>
        </p:nvSpPr>
        <p:spPr>
          <a:xfrm>
            <a:off x="1022350" y="3733998"/>
            <a:ext cx="1333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TCF, TGC, TBC, ECF and more, one tab each</a:t>
            </a:r>
            <a:endParaRPr lang="en-US" sz="1200" dirty="0"/>
          </a:p>
        </p:txBody>
      </p:sp>
      <p:pic>
        <p:nvPicPr>
          <p:cNvPr id="8" name="Image 0" descr="connector">    </p:cNvPr>
          <p:cNvPicPr>
            <a:picLocks noChangeAspect="1"/>
          </p:cNvPicPr>
          <p:nvPr/>
        </p:nvPicPr>
        <p:blipFill>
          <a:blip r:embed="rId1"/>
          <a:srcRect l="0" r="0" t="0" b="0"/>
          <a:stretch/>
        </p:blipFill>
        <p:spPr>
          <a:xfrm>
            <a:off x="2616200" y="3604419"/>
            <a:ext cx="304800" cy="101600"/>
          </a:xfrm>
          <a:prstGeom prst="rect">
            <a:avLst/>
          </a:prstGeom>
        </p:spPr>
      </p:pic>
      <p:sp>
        <p:nvSpPr>
          <p:cNvPr id="9" name="Shape 6"/>
          <p:cNvSpPr/>
          <p:nvPr/>
        </p:nvSpPr>
        <p:spPr>
          <a:xfrm>
            <a:off x="3025775" y="2704703"/>
            <a:ext cx="1695450" cy="1901031"/>
          </a:xfrm>
          <a:prstGeom prst="roundRect">
            <a:avLst>
              <a:gd name="adj" fmla="val 5805"/>
            </a:avLst>
          </a:prstGeom>
          <a:solidFill>
            <a:srgbClr val="FDFEFD"/>
          </a:solidFill>
          <a:ln w="6350">
            <a:solidFill>
              <a:srgbClr val="DCE4E8"/>
            </a:solidFill>
            <a:prstDash val="solid"/>
          </a:ln>
        </p:spPr>
      </p:sp>
      <p:sp>
        <p:nvSpPr>
          <p:cNvPr id="10" name="Text 7"/>
          <p:cNvSpPr/>
          <p:nvPr/>
        </p:nvSpPr>
        <p:spPr>
          <a:xfrm>
            <a:off x="3232150" y="291107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3232150" y="320059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Create batch file</a:t>
            </a:r>
            <a:endParaRPr lang="en-US" sz="1500" dirty="0"/>
          </a:p>
        </p:txBody>
      </p:sp>
      <p:sp>
        <p:nvSpPr>
          <p:cNvPr id="12" name="Text 9"/>
          <p:cNvSpPr/>
          <p:nvPr/>
        </p:nvSpPr>
        <p:spPr>
          <a:xfrm>
            <a:off x="3232150" y="3733998"/>
            <a:ext cx="13335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The .bat is written for you</a:t>
            </a:r>
            <a:endParaRPr lang="en-US" sz="1200" dirty="0"/>
          </a:p>
        </p:txBody>
      </p:sp>
      <p:pic>
        <p:nvPicPr>
          <p:cNvPr id="13" name="Image 1" descr="connector">    </p:cNvPr>
          <p:cNvPicPr>
            <a:picLocks noChangeAspect="1"/>
          </p:cNvPicPr>
          <p:nvPr/>
        </p:nvPicPr>
        <p:blipFill>
          <a:blip r:embed="rId2"/>
          <a:srcRect l="0" r="0" t="0" b="0"/>
          <a:stretch/>
        </p:blipFill>
        <p:spPr>
          <a:xfrm>
            <a:off x="4826000" y="3604419"/>
            <a:ext cx="304800" cy="101600"/>
          </a:xfrm>
          <a:prstGeom prst="rect">
            <a:avLst/>
          </a:prstGeom>
        </p:spPr>
      </p:pic>
      <p:sp>
        <p:nvSpPr>
          <p:cNvPr id="14" name="Shape 10"/>
          <p:cNvSpPr/>
          <p:nvPr/>
        </p:nvSpPr>
        <p:spPr>
          <a:xfrm>
            <a:off x="5235575" y="2704703"/>
            <a:ext cx="1695450" cy="1901031"/>
          </a:xfrm>
          <a:prstGeom prst="roundRect">
            <a:avLst>
              <a:gd name="adj" fmla="val 5805"/>
            </a:avLst>
          </a:prstGeom>
          <a:solidFill>
            <a:srgbClr val="FDFEFD"/>
          </a:solidFill>
          <a:ln w="6350">
            <a:solidFill>
              <a:srgbClr val="DCE4E8"/>
            </a:solidFill>
            <a:prstDash val="solid"/>
          </a:ln>
        </p:spPr>
      </p:sp>
      <p:sp>
        <p:nvSpPr>
          <p:cNvPr id="15" name="Text 11"/>
          <p:cNvSpPr/>
          <p:nvPr/>
        </p:nvSpPr>
        <p:spPr>
          <a:xfrm>
            <a:off x="5441950" y="291107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5441950" y="3200598"/>
            <a:ext cx="14859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Run the model</a:t>
            </a:r>
            <a:endParaRPr lang="en-US" sz="1500" dirty="0"/>
          </a:p>
        </p:txBody>
      </p:sp>
      <p:sp>
        <p:nvSpPr>
          <p:cNvPr id="17" name="Text 13"/>
          <p:cNvSpPr/>
          <p:nvPr/>
        </p:nvSpPr>
        <p:spPr>
          <a:xfrm>
            <a:off x="5441950" y="3505398"/>
            <a:ext cx="1333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TUFLOW runs from the generated batch file</a:t>
            </a:r>
            <a:endParaRPr lang="en-US" sz="1200" dirty="0"/>
          </a:p>
        </p:txBody>
      </p:sp>
      <p:pic>
        <p:nvPicPr>
          <p:cNvPr id="18" name="Image 2" descr="connector">    </p:cNvPr>
          <p:cNvPicPr>
            <a:picLocks noChangeAspect="1"/>
          </p:cNvPicPr>
          <p:nvPr/>
        </p:nvPicPr>
        <p:blipFill>
          <a:blip r:embed="rId3"/>
          <a:srcRect l="0" r="0" t="0" b="0"/>
          <a:stretch/>
        </p:blipFill>
        <p:spPr>
          <a:xfrm>
            <a:off x="7035800" y="3604419"/>
            <a:ext cx="304800" cy="101600"/>
          </a:xfrm>
          <a:prstGeom prst="rect">
            <a:avLst/>
          </a:prstGeom>
        </p:spPr>
      </p:pic>
      <p:sp>
        <p:nvSpPr>
          <p:cNvPr id="19" name="Shape 14"/>
          <p:cNvSpPr/>
          <p:nvPr/>
        </p:nvSpPr>
        <p:spPr>
          <a:xfrm>
            <a:off x="7445375" y="2704703"/>
            <a:ext cx="1695450" cy="1901031"/>
          </a:xfrm>
          <a:prstGeom prst="roundRect">
            <a:avLst>
              <a:gd name="adj" fmla="val 5805"/>
            </a:avLst>
          </a:prstGeom>
          <a:solidFill>
            <a:srgbClr val="FDFEFD"/>
          </a:solidFill>
          <a:ln w="6350">
            <a:solidFill>
              <a:srgbClr val="DCE4E8"/>
            </a:solidFill>
            <a:prstDash val="solid"/>
          </a:ln>
        </p:spPr>
      </p:sp>
      <p:sp>
        <p:nvSpPr>
          <p:cNvPr id="20" name="Text 15"/>
          <p:cNvSpPr/>
          <p:nvPr/>
        </p:nvSpPr>
        <p:spPr>
          <a:xfrm>
            <a:off x="7651750" y="291107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Step 4</a:t>
            </a:r>
            <a:endParaRPr lang="en-US" sz="1200" dirty="0"/>
          </a:p>
        </p:txBody>
      </p:sp>
      <p:sp>
        <p:nvSpPr>
          <p:cNvPr id="21" name="Text 16"/>
          <p:cNvSpPr/>
          <p:nvPr/>
        </p:nvSpPr>
        <p:spPr>
          <a:xfrm>
            <a:off x="7651750" y="3200598"/>
            <a:ext cx="13335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QC and log</a:t>
            </a:r>
            <a:endParaRPr lang="en-US" sz="1500" dirty="0"/>
          </a:p>
        </p:txBody>
      </p:sp>
      <p:sp>
        <p:nvSpPr>
          <p:cNvPr id="22" name="Text 17"/>
          <p:cNvSpPr/>
          <p:nvPr/>
        </p:nvSpPr>
        <p:spPr>
          <a:xfrm>
            <a:off x="7651750" y="3505398"/>
            <a:ext cx="1333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Check messages and the log inside QGIS</a:t>
            </a:r>
            <a:endParaRPr lang="en-US" sz="1200" dirty="0"/>
          </a:p>
        </p:txBody>
      </p:sp>
      <p:pic>
        <p:nvPicPr>
          <p:cNvPr id="23" name="Image 3" descr="connector">    </p:cNvPr>
          <p:cNvPicPr>
            <a:picLocks noChangeAspect="1"/>
          </p:cNvPicPr>
          <p:nvPr/>
        </p:nvPicPr>
        <p:blipFill>
          <a:blip r:embed="rId4"/>
          <a:srcRect l="0" r="0" t="0" b="0"/>
          <a:stretch/>
        </p:blipFill>
        <p:spPr>
          <a:xfrm>
            <a:off x="9245600" y="3604419"/>
            <a:ext cx="304800" cy="101600"/>
          </a:xfrm>
          <a:prstGeom prst="rect">
            <a:avLst/>
          </a:prstGeom>
        </p:spPr>
      </p:pic>
      <p:sp>
        <p:nvSpPr>
          <p:cNvPr id="24" name="Shape 18"/>
          <p:cNvSpPr/>
          <p:nvPr/>
        </p:nvSpPr>
        <p:spPr>
          <a:xfrm>
            <a:off x="9661525" y="2711053"/>
            <a:ext cx="1708150" cy="1888331"/>
          </a:xfrm>
          <a:prstGeom prst="roundRect">
            <a:avLst>
              <a:gd name="adj" fmla="val 5390"/>
            </a:avLst>
          </a:prstGeom>
          <a:solidFill>
            <a:srgbClr val="FDFEFD"/>
          </a:solidFill>
          <a:ln w="19050">
            <a:solidFill>
              <a:srgbClr val="1F6F99"/>
            </a:solidFill>
            <a:prstDash val="solid"/>
          </a:ln>
        </p:spPr>
      </p:sp>
      <p:sp>
        <p:nvSpPr>
          <p:cNvPr id="25" name="Text 19"/>
          <p:cNvSpPr/>
          <p:nvPr/>
        </p:nvSpPr>
        <p:spPr>
          <a:xfrm>
            <a:off x="9874250" y="2923778"/>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F99"/>
                </a:solidFill>
                <a:latin typeface="IBM Plex Sans" pitchFamily="34" charset="0"/>
                <a:ea typeface="IBM Plex Sans" pitchFamily="34" charset="-122"/>
                <a:cs typeface="IBM Plex Sans" pitchFamily="34" charset="-120"/>
              </a:rPr>
              <a:t>Step 5</a:t>
            </a:r>
            <a:endParaRPr lang="en-US" sz="1200" dirty="0"/>
          </a:p>
        </p:txBody>
      </p:sp>
      <p:sp>
        <p:nvSpPr>
          <p:cNvPr id="26" name="Text 20"/>
          <p:cNvSpPr/>
          <p:nvPr/>
        </p:nvSpPr>
        <p:spPr>
          <a:xfrm>
            <a:off x="9874250" y="3213298"/>
            <a:ext cx="13335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Review results</a:t>
            </a:r>
            <a:endParaRPr lang="en-US" sz="1500" dirty="0"/>
          </a:p>
        </p:txBody>
      </p:sp>
      <p:sp>
        <p:nvSpPr>
          <p:cNvPr id="27" name="Text 21"/>
          <p:cNvSpPr/>
          <p:nvPr/>
        </p:nvSpPr>
        <p:spPr>
          <a:xfrm>
            <a:off x="9874250" y="3746698"/>
            <a:ext cx="1333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Results next to the GIS layers they came from</a:t>
            </a:r>
            <a:endParaRPr lang="en-US" sz="1200" dirty="0"/>
          </a:p>
        </p:txBody>
      </p:sp>
      <p:sp>
        <p:nvSpPr>
          <p:cNvPr id="28" name="Text 22"/>
          <p:cNvSpPr/>
          <p:nvPr/>
        </p:nvSpPr>
        <p:spPr>
          <a:xfrm>
            <a:off x="812800" y="496450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5866"/>
                </a:solidFill>
                <a:latin typeface="IBM Plex Sans" pitchFamily="34" charset="0"/>
                <a:ea typeface="IBM Plex Sans" pitchFamily="34" charset="-122"/>
                <a:cs typeface="IBM Plex Sans" pitchFamily="34" charset="-120"/>
              </a:rPr>
              <a:t>No switching between a text editor, a file browser and QGIS: the whole build stays in one window.</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FMB TOOLS 0.10 · STEP 1</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Control files, one tab each</a:t>
            </a:r>
            <a:endParaRPr lang="en-US" sz="3200" dirty="0"/>
          </a:p>
        </p:txBody>
      </p:sp>
      <p:sp>
        <p:nvSpPr>
          <p:cNvPr id="4" name="Shape 2"/>
          <p:cNvSpPr/>
          <p:nvPr/>
        </p:nvSpPr>
        <p:spPr>
          <a:xfrm>
            <a:off x="822325" y="1897162"/>
            <a:ext cx="6584950" cy="4138513"/>
          </a:xfrm>
          <a:prstGeom prst="roundRect">
            <a:avLst>
              <a:gd name="adj" fmla="val 2225"/>
            </a:avLst>
          </a:prstGeom>
          <a:solidFill>
            <a:srgbClr val="E8EEF1"/>
          </a:solidFill>
          <a:ln w="19050">
            <a:solidFill>
              <a:srgbClr val="8FA6B4"/>
            </a:solidFill>
            <a:prstDash val="dash"/>
          </a:ln>
        </p:spPr>
      </p:sp>
      <p:sp>
        <p:nvSpPr>
          <p:cNvPr id="5" name="Text 3"/>
          <p:cNvSpPr/>
          <p:nvPr/>
        </p:nvSpPr>
        <p:spPr>
          <a:xfrm>
            <a:off x="3411974" y="3518098"/>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6" name="Text 4"/>
          <p:cNvSpPr/>
          <p:nvPr/>
        </p:nvSpPr>
        <p:spPr>
          <a:xfrm>
            <a:off x="3270171" y="3833019"/>
            <a:ext cx="168925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Control file tabs</a:t>
            </a:r>
            <a:endParaRPr lang="en-US" sz="1500" dirty="0"/>
          </a:p>
        </p:txBody>
      </p:sp>
      <p:sp>
        <p:nvSpPr>
          <p:cNvPr id="7" name="Text 5"/>
          <p:cNvSpPr/>
          <p:nvPr/>
        </p:nvSpPr>
        <p:spPr>
          <a:xfrm>
            <a:off x="2049066" y="4201319"/>
            <a:ext cx="413146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The TCF tab filled in, with the other file tabs visible</a:t>
            </a:r>
            <a:endParaRPr lang="en-US" sz="1200" dirty="0"/>
          </a:p>
        </p:txBody>
      </p:sp>
      <p:sp>
        <p:nvSpPr>
          <p:cNvPr id="8" name="Text 6"/>
          <p:cNvSpPr/>
          <p:nvPr/>
        </p:nvSpPr>
        <p:spPr>
          <a:xfrm>
            <a:off x="7823200" y="2630388"/>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Forms, not syntax</a:t>
            </a:r>
            <a:endParaRPr lang="en-US" sz="1500" dirty="0"/>
          </a:p>
        </p:txBody>
      </p:sp>
      <p:sp>
        <p:nvSpPr>
          <p:cNvPr id="9" name="Text 7"/>
          <p:cNvSpPr/>
          <p:nvPr/>
        </p:nvSpPr>
        <p:spPr>
          <a:xfrm>
            <a:off x="7823200" y="2909788"/>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Fill in commands and files; the plugin writes the TUFLOW control files.</a:t>
            </a:r>
            <a:endParaRPr lang="en-US" sz="1200" dirty="0"/>
          </a:p>
        </p:txBody>
      </p:sp>
      <p:sp>
        <p:nvSpPr>
          <p:cNvPr id="10" name="Text 8"/>
          <p:cNvSpPr/>
          <p:nvPr/>
        </p:nvSpPr>
        <p:spPr>
          <a:xfrm>
            <a:off x="7823200" y="360570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Every file in one window</a:t>
            </a:r>
            <a:endParaRPr lang="en-US" sz="1500" dirty="0"/>
          </a:p>
        </p:txBody>
      </p:sp>
      <p:sp>
        <p:nvSpPr>
          <p:cNvPr id="11" name="Text 9"/>
          <p:cNvSpPr/>
          <p:nvPr/>
        </p:nvSpPr>
        <p:spPr>
          <a:xfrm>
            <a:off x="7823200" y="388510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Move between TCF, TGC, TBC and ECF without a text editor.</a:t>
            </a:r>
            <a:endParaRPr lang="en-US" sz="1200" dirty="0"/>
          </a:p>
        </p:txBody>
      </p:sp>
      <p:sp>
        <p:nvSpPr>
          <p:cNvPr id="12" name="Text 10"/>
          <p:cNvSpPr/>
          <p:nvPr/>
        </p:nvSpPr>
        <p:spPr>
          <a:xfrm>
            <a:off x="7823200" y="458102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Help on hand</a:t>
            </a:r>
            <a:endParaRPr lang="en-US" sz="1500" dirty="0"/>
          </a:p>
        </p:txBody>
      </p:sp>
      <p:sp>
        <p:nvSpPr>
          <p:cNvPr id="13" name="Text 11"/>
          <p:cNvSpPr/>
          <p:nvPr/>
        </p:nvSpPr>
        <p:spPr>
          <a:xfrm>
            <a:off x="7823200" y="486042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The Help tab links to the TUFLOW Wiki for command details.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FMB TOOLS 0.10 · STEPS 2 AND 3</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Batch files without hand-typed paths</a:t>
            </a:r>
            <a:endParaRPr lang="en-US" sz="3200" dirty="0"/>
          </a:p>
        </p:txBody>
      </p:sp>
      <p:sp>
        <p:nvSpPr>
          <p:cNvPr id="4" name="Text 2"/>
          <p:cNvSpPr/>
          <p:nvPr/>
        </p:nvSpPr>
        <p:spPr>
          <a:xfrm>
            <a:off x="812800" y="2630388"/>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Generated from your setup</a:t>
            </a:r>
            <a:endParaRPr lang="en-US" sz="1500" dirty="0"/>
          </a:p>
        </p:txBody>
      </p:sp>
      <p:sp>
        <p:nvSpPr>
          <p:cNvPr id="5" name="Text 3"/>
          <p:cNvSpPr/>
          <p:nvPr/>
        </p:nvSpPr>
        <p:spPr>
          <a:xfrm>
            <a:off x="812800" y="2909788"/>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The batch file is built from the model you just defined.</a:t>
            </a:r>
            <a:endParaRPr lang="en-US" sz="1200" dirty="0"/>
          </a:p>
        </p:txBody>
      </p:sp>
      <p:sp>
        <p:nvSpPr>
          <p:cNvPr id="6" name="Text 4"/>
          <p:cNvSpPr/>
          <p:nvPr/>
        </p:nvSpPr>
        <p:spPr>
          <a:xfrm>
            <a:off x="812800" y="360570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Same structure every time</a:t>
            </a:r>
            <a:endParaRPr lang="en-US" sz="1500" dirty="0"/>
          </a:p>
        </p:txBody>
      </p:sp>
      <p:sp>
        <p:nvSpPr>
          <p:cNvPr id="7" name="Text 5"/>
          <p:cNvSpPr/>
          <p:nvPr/>
        </p:nvSpPr>
        <p:spPr>
          <a:xfrm>
            <a:off x="812800" y="388510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Run files look alike across the team, so anyone can pick one up.</a:t>
            </a:r>
            <a:endParaRPr lang="en-US" sz="1200" dirty="0"/>
          </a:p>
        </p:txBody>
      </p:sp>
      <p:sp>
        <p:nvSpPr>
          <p:cNvPr id="8" name="Text 6"/>
          <p:cNvSpPr/>
          <p:nvPr/>
        </p:nvSpPr>
        <p:spPr>
          <a:xfrm>
            <a:off x="812800" y="4581029"/>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Run options</a:t>
            </a:r>
            <a:endParaRPr lang="en-US" sz="1500" dirty="0"/>
          </a:p>
        </p:txBody>
      </p:sp>
      <p:sp>
        <p:nvSpPr>
          <p:cNvPr id="9" name="Text 7"/>
          <p:cNvSpPr/>
          <p:nvPr/>
        </p:nvSpPr>
        <p:spPr>
          <a:xfrm>
            <a:off x="812800" y="4860429"/>
            <a:ext cx="36626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[List the run options 0.10 supports, such as events or scenarios]</a:t>
            </a:r>
            <a:endParaRPr lang="en-US" sz="1200" dirty="0"/>
          </a:p>
        </p:txBody>
      </p:sp>
      <p:sp>
        <p:nvSpPr>
          <p:cNvPr id="10" name="Shape 8"/>
          <p:cNvSpPr/>
          <p:nvPr/>
        </p:nvSpPr>
        <p:spPr>
          <a:xfrm>
            <a:off x="4784725" y="1897162"/>
            <a:ext cx="6584950" cy="4138513"/>
          </a:xfrm>
          <a:prstGeom prst="roundRect">
            <a:avLst>
              <a:gd name="adj" fmla="val 2225"/>
            </a:avLst>
          </a:prstGeom>
          <a:solidFill>
            <a:srgbClr val="E8EEF1"/>
          </a:solidFill>
          <a:ln w="19050">
            <a:solidFill>
              <a:srgbClr val="8FA6B4"/>
            </a:solidFill>
            <a:prstDash val="dash"/>
          </a:ln>
        </p:spPr>
      </p:sp>
      <p:sp>
        <p:nvSpPr>
          <p:cNvPr id="11" name="Text 9"/>
          <p:cNvSpPr/>
          <p:nvPr/>
        </p:nvSpPr>
        <p:spPr>
          <a:xfrm>
            <a:off x="7374374" y="3518098"/>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12" name="Text 10"/>
          <p:cNvSpPr/>
          <p:nvPr/>
        </p:nvSpPr>
        <p:spPr>
          <a:xfrm>
            <a:off x="7169348" y="3833019"/>
            <a:ext cx="181570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Batch file builder</a:t>
            </a:r>
            <a:endParaRPr lang="en-US" sz="1500" dirty="0"/>
          </a:p>
        </p:txBody>
      </p:sp>
      <p:sp>
        <p:nvSpPr>
          <p:cNvPr id="13" name="Text 11"/>
          <p:cNvSpPr/>
          <p:nvPr/>
        </p:nvSpPr>
        <p:spPr>
          <a:xfrm>
            <a:off x="6521887" y="4201319"/>
            <a:ext cx="311062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The batch tab and the .bat it produces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FMB TOOLS 0.10 · STEPS 4 AND 5</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QC, log and results without leaving QGIS</a:t>
            </a:r>
            <a:endParaRPr lang="en-US" sz="3200" dirty="0"/>
          </a:p>
        </p:txBody>
      </p:sp>
      <p:sp>
        <p:nvSpPr>
          <p:cNvPr id="4" name="Shape 2"/>
          <p:cNvSpPr/>
          <p:nvPr/>
        </p:nvSpPr>
        <p:spPr>
          <a:xfrm>
            <a:off x="822325" y="1897162"/>
            <a:ext cx="5162550" cy="4138513"/>
          </a:xfrm>
          <a:prstGeom prst="roundRect">
            <a:avLst>
              <a:gd name="adj" fmla="val 2225"/>
            </a:avLst>
          </a:prstGeom>
          <a:solidFill>
            <a:srgbClr val="E8EEF1"/>
          </a:solidFill>
          <a:ln w="19050">
            <a:solidFill>
              <a:srgbClr val="8FA6B4"/>
            </a:solidFill>
            <a:prstDash val="dash"/>
          </a:ln>
        </p:spPr>
      </p:sp>
      <p:sp>
        <p:nvSpPr>
          <p:cNvPr id="5" name="Text 3"/>
          <p:cNvSpPr/>
          <p:nvPr/>
        </p:nvSpPr>
        <p:spPr>
          <a:xfrm>
            <a:off x="2700774" y="3518098"/>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6" name="Text 4"/>
          <p:cNvSpPr/>
          <p:nvPr/>
        </p:nvSpPr>
        <p:spPr>
          <a:xfrm>
            <a:off x="2559695" y="3833019"/>
            <a:ext cx="168771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QC and log view</a:t>
            </a:r>
            <a:endParaRPr lang="en-US" sz="1500" dirty="0"/>
          </a:p>
        </p:txBody>
      </p:sp>
      <p:sp>
        <p:nvSpPr>
          <p:cNvPr id="7" name="Text 5"/>
          <p:cNvSpPr/>
          <p:nvPr/>
        </p:nvSpPr>
        <p:spPr>
          <a:xfrm>
            <a:off x="1495028" y="4201319"/>
            <a:ext cx="381714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Messages and log from a run, read inside QGIS</a:t>
            </a:r>
            <a:endParaRPr lang="en-US" sz="1200" dirty="0"/>
          </a:p>
        </p:txBody>
      </p:sp>
      <p:sp>
        <p:nvSpPr>
          <p:cNvPr id="8" name="Shape 6"/>
          <p:cNvSpPr/>
          <p:nvPr/>
        </p:nvSpPr>
        <p:spPr>
          <a:xfrm>
            <a:off x="6207125" y="1897162"/>
            <a:ext cx="5162550" cy="4138513"/>
          </a:xfrm>
          <a:prstGeom prst="roundRect">
            <a:avLst>
              <a:gd name="adj" fmla="val 2225"/>
            </a:avLst>
          </a:prstGeom>
          <a:solidFill>
            <a:srgbClr val="E8EEF1"/>
          </a:solidFill>
          <a:ln w="19050">
            <a:solidFill>
              <a:srgbClr val="8FA6B4"/>
            </a:solidFill>
            <a:prstDash val="dash"/>
          </a:ln>
        </p:spPr>
      </p:sp>
      <p:sp>
        <p:nvSpPr>
          <p:cNvPr id="9" name="Text 7"/>
          <p:cNvSpPr/>
          <p:nvPr/>
        </p:nvSpPr>
        <p:spPr>
          <a:xfrm>
            <a:off x="8085574" y="3518098"/>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10" name="Text 8"/>
          <p:cNvSpPr/>
          <p:nvPr/>
        </p:nvSpPr>
        <p:spPr>
          <a:xfrm>
            <a:off x="8118088" y="3833019"/>
            <a:ext cx="134052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Results view</a:t>
            </a:r>
            <a:endParaRPr lang="en-US" sz="1500" dirty="0"/>
          </a:p>
        </p:txBody>
      </p:sp>
      <p:sp>
        <p:nvSpPr>
          <p:cNvPr id="11" name="Text 9"/>
          <p:cNvSpPr/>
          <p:nvPr/>
        </p:nvSpPr>
        <p:spPr>
          <a:xfrm>
            <a:off x="6966506" y="4201319"/>
            <a:ext cx="364378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Model results loaded next to the input layers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FMB TOOLS 0.10 · BEFORE AND AFTER</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What changes for the modeller</a:t>
            </a:r>
            <a:endParaRPr lang="en-US" sz="3200" dirty="0"/>
          </a:p>
        </p:txBody>
      </p:sp>
      <p:sp>
        <p:nvSpPr>
          <p:cNvPr id="4" name="Shape 2"/>
          <p:cNvSpPr/>
          <p:nvPr/>
        </p:nvSpPr>
        <p:spPr>
          <a:xfrm>
            <a:off x="11376025" y="1887637"/>
            <a:ext cx="0" cy="2495550"/>
          </a:xfrm>
          <a:prstGeom prst="line">
            <a:avLst/>
          </a:prstGeom>
          <a:noFill/>
          <a:ln w="6350">
            <a:solidFill>
              <a:srgbClr val="DCE4E8"/>
            </a:solidFill>
            <a:prstDash val="solid"/>
          </a:ln>
        </p:spPr>
      </p:sp>
      <p:sp>
        <p:nvSpPr>
          <p:cNvPr id="5" name="Shape 3"/>
          <p:cNvSpPr/>
          <p:nvPr/>
        </p:nvSpPr>
        <p:spPr>
          <a:xfrm>
            <a:off x="812800" y="4380012"/>
            <a:ext cx="10566400" cy="0"/>
          </a:xfrm>
          <a:prstGeom prst="line">
            <a:avLst/>
          </a:prstGeom>
          <a:noFill/>
          <a:ln w="6350">
            <a:solidFill>
              <a:srgbClr val="DCE4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00337"/>
          <a:ext cx="10547350" cy="2476500"/>
        </p:xfrm>
        <a:graphic>
          <a:graphicData uri="http://schemas.openxmlformats.org/drawingml/2006/table">
            <a:tbl>
              <a:tblPr/>
              <a:tblGrid>
                <a:gridCol w="2742311"/>
                <a:gridCol w="3902519"/>
                <a:gridCol w="3902519"/>
              </a:tblGrid>
              <a:tr h="412750">
                <a:tc>
                  <a:txBody>
                    <a:bodyPr/>
                    <a:lstStyle/>
                    <a:p>
                      <a:pPr indent="0" marL="0">
                        <a:lnSpc>
                          <a:spcPts val="2100"/>
                        </a:lnSpc>
                        <a:buNone/>
                      </a:pPr>
                      <a:r>
                        <a:rPr lang="en-US" sz="1500" b="1" dirty="0">
                          <a:solidFill>
                            <a:srgbClr val="F5F7F6"/>
                          </a:solidFill>
                          <a:latin typeface="IBM Plex Sans" pitchFamily="34" charset="0"/>
                          <a:ea typeface="IBM Plex Sans" pitchFamily="34" charset="-122"/>
                          <a:cs typeface="IBM Plex Sans" pitchFamily="34" charset="-120"/>
                        </a:rPr>
                        <a:t>Task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2100"/>
                        </a:lnSpc>
                        <a:buNone/>
                      </a:pPr>
                      <a:r>
                        <a:rPr lang="en-US" sz="1500" b="1" dirty="0">
                          <a:solidFill>
                            <a:srgbClr val="F5F7F6"/>
                          </a:solidFill>
                          <a:latin typeface="IBM Plex Sans" pitchFamily="34" charset="0"/>
                          <a:ea typeface="IBM Plex Sans" pitchFamily="34" charset="-122"/>
                          <a:cs typeface="IBM Plex Sans" pitchFamily="34" charset="-120"/>
                        </a:rPr>
                        <a:t>By hand in Notepad++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2100"/>
                        </a:lnSpc>
                        <a:buNone/>
                      </a:pPr>
                      <a:r>
                        <a:rPr lang="en-US" sz="1500" b="1" dirty="0">
                          <a:solidFill>
                            <a:srgbClr val="F5F7F6"/>
                          </a:solidFill>
                          <a:latin typeface="IBM Plex Sans" pitchFamily="34" charset="0"/>
                          <a:ea typeface="IBM Plex Sans" pitchFamily="34" charset="-122"/>
                          <a:cs typeface="IBM Plex Sans" pitchFamily="34" charset="-120"/>
                        </a:rPr>
                        <a:t>With FMB Tools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Control files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475866"/>
                          </a:solidFill>
                          <a:latin typeface="IBM Plex Sans" pitchFamily="34" charset="0"/>
                          <a:ea typeface="IBM Plex Sans" pitchFamily="34" charset="-122"/>
                          <a:cs typeface="IBM Plex Sans" pitchFamily="34" charset="-120"/>
                        </a:rPr>
                        <a:t>Typed, or copied from an old model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Built from tabbed forms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Batch file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475866"/>
                          </a:solidFill>
                          <a:latin typeface="IBM Plex Sans" pitchFamily="34" charset="0"/>
                          <a:ea typeface="IBM Plex Sans" pitchFamily="34" charset="-122"/>
                          <a:cs typeface="IBM Plex Sans" pitchFamily="34" charset="-120"/>
                        </a:rPr>
                        <a:t>Edited for each run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Generated by the plugin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Finding errors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475866"/>
                          </a:solidFill>
                          <a:latin typeface="IBM Plex Sans" pitchFamily="34" charset="0"/>
                          <a:ea typeface="IBM Plex Sans" pitchFamily="34" charset="-122"/>
                          <a:cs typeface="IBM Plex Sans" pitchFamily="34" charset="-120"/>
                        </a:rPr>
                        <a:t>After a run stops, in the log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QC view inside QGIS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Command help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475866"/>
                          </a:solidFill>
                          <a:latin typeface="IBM Plex Sans" pitchFamily="34" charset="0"/>
                          <a:ea typeface="IBM Plex Sans" pitchFamily="34" charset="-122"/>
                          <a:cs typeface="IBM Plex Sans" pitchFamily="34" charset="-120"/>
                        </a:rPr>
                        <a:t>A separate TUFLOW Wiki search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Help tab linked to the Wiki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Time to first run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475866"/>
                          </a:solidFill>
                          <a:latin typeface="IBM Plex Sans" pitchFamily="34" charset="0"/>
                          <a:ea typeface="IBM Plex Sans" pitchFamily="34" charset="-122"/>
                          <a:cs typeface="IBM Plex Sans" pitchFamily="34" charset="-120"/>
                        </a:rPr>
                        <a:t>[__ hours]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[__ hours]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IBM Plex Sans" pitchFamily="34" charset="0"/>
                <a:ea typeface="IBM Plex Sans" pitchFamily="34" charset="-122"/>
                <a:cs typeface="IBM Plex Sans" pitchFamily="34" charset="-120"/>
              </a:rPr>
              <a:t>BONUS · RAIN2FLOOD V3.0</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5F7F6"/>
                </a:solidFill>
                <a:latin typeface="IBM Plex Sans" pitchFamily="34" charset="0"/>
                <a:ea typeface="IBM Plex Sans" pitchFamily="34" charset="-122"/>
                <a:cs typeface="IBM Plex Sans" pitchFamily="34" charset="-120"/>
              </a:rPr>
              <a:t>From rainfall to flood hydrograph, inside QGIS</a:t>
            </a:r>
            <a:endParaRPr lang="en-US" sz="3200" dirty="0"/>
          </a:p>
        </p:txBody>
      </p:sp>
      <p:sp>
        <p:nvSpPr>
          <p:cNvPr id="4" name="Shape 2"/>
          <p:cNvSpPr/>
          <p:nvPr/>
        </p:nvSpPr>
        <p:spPr>
          <a:xfrm>
            <a:off x="815975" y="1890812"/>
            <a:ext cx="2482850" cy="4151213"/>
          </a:xfrm>
          <a:prstGeom prst="roundRect">
            <a:avLst>
              <a:gd name="adj" fmla="val 3964"/>
            </a:avLst>
          </a:prstGeom>
          <a:solidFill>
            <a:srgbClr val="163650"/>
          </a:solidFill>
          <a:ln w="6350">
            <a:solidFill>
              <a:srgbClr val="24506E"/>
            </a:solidFill>
            <a:prstDash val="solid"/>
          </a:ln>
        </p:spPr>
      </p:sp>
      <p:sp>
        <p:nvSpPr>
          <p:cNvPr id="5" name="Text 3"/>
          <p:cNvSpPr/>
          <p:nvPr/>
        </p:nvSpPr>
        <p:spPr>
          <a:xfrm>
            <a:off x="10477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0477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IBM Plex Sans" pitchFamily="34" charset="0"/>
                <a:ea typeface="IBM Plex Sans" pitchFamily="34" charset="-122"/>
                <a:cs typeface="IBM Plex Sans" pitchFamily="34" charset="-120"/>
              </a:rPr>
              <a:t>Catchment</a:t>
            </a:r>
            <a:endParaRPr lang="en-US" sz="1500" dirty="0"/>
          </a:p>
        </p:txBody>
      </p:sp>
      <p:sp>
        <p:nvSpPr>
          <p:cNvPr id="7" name="Text 5"/>
          <p:cNvSpPr/>
          <p:nvPr/>
        </p:nvSpPr>
        <p:spPr>
          <a:xfrm>
            <a:off x="1146556" y="2818507"/>
            <a:ext cx="1973453"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Streams and sub-basins with GRASS r.watershed</a:t>
            </a:r>
            <a:endParaRPr lang="en-US" sz="1200" dirty="0"/>
          </a:p>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DEM and slope processing with styled outputs</a:t>
            </a:r>
            <a:endParaRPr lang="en-US" sz="1200" dirty="0"/>
          </a:p>
        </p:txBody>
      </p:sp>
      <p:sp>
        <p:nvSpPr>
          <p:cNvPr id="8" name="Shape 6"/>
          <p:cNvSpPr/>
          <p:nvPr/>
        </p:nvSpPr>
        <p:spPr>
          <a:xfrm>
            <a:off x="3508375" y="1890812"/>
            <a:ext cx="2482850" cy="4151213"/>
          </a:xfrm>
          <a:prstGeom prst="roundRect">
            <a:avLst>
              <a:gd name="adj" fmla="val 3964"/>
            </a:avLst>
          </a:prstGeom>
          <a:solidFill>
            <a:srgbClr val="163650"/>
          </a:solidFill>
          <a:ln w="6350">
            <a:solidFill>
              <a:srgbClr val="24506E"/>
            </a:solidFill>
            <a:prstDash val="solid"/>
          </a:ln>
        </p:spPr>
      </p:sp>
      <p:sp>
        <p:nvSpPr>
          <p:cNvPr id="9" name="Text 7"/>
          <p:cNvSpPr/>
          <p:nvPr/>
        </p:nvSpPr>
        <p:spPr>
          <a:xfrm>
            <a:off x="37401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37401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IBM Plex Sans" pitchFamily="34" charset="0"/>
                <a:ea typeface="IBM Plex Sans" pitchFamily="34" charset="-122"/>
                <a:cs typeface="IBM Plex Sans" pitchFamily="34" charset="-120"/>
              </a:rPr>
              <a:t>Rainfall</a:t>
            </a:r>
            <a:endParaRPr lang="en-US" sz="1500" dirty="0"/>
          </a:p>
        </p:txBody>
      </p:sp>
      <p:sp>
        <p:nvSpPr>
          <p:cNvPr id="11" name="Text 9"/>
          <p:cNvSpPr/>
          <p:nvPr/>
        </p:nvSpPr>
        <p:spPr>
          <a:xfrm>
            <a:off x="3838956" y="2818507"/>
            <a:ext cx="1973453"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Frequency analysis with several distributions</a:t>
            </a:r>
            <a:endParaRPr lang="en-US" sz="1200" dirty="0"/>
          </a:p>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Design rainfall for chosen return periods</a:t>
            </a:r>
            <a:endParaRPr lang="en-US" sz="1200" dirty="0"/>
          </a:p>
        </p:txBody>
      </p:sp>
      <p:sp>
        <p:nvSpPr>
          <p:cNvPr id="12" name="Shape 10"/>
          <p:cNvSpPr/>
          <p:nvPr/>
        </p:nvSpPr>
        <p:spPr>
          <a:xfrm>
            <a:off x="6200775" y="1890812"/>
            <a:ext cx="2482850" cy="4151213"/>
          </a:xfrm>
          <a:prstGeom prst="roundRect">
            <a:avLst>
              <a:gd name="adj" fmla="val 3964"/>
            </a:avLst>
          </a:prstGeom>
          <a:solidFill>
            <a:srgbClr val="163650"/>
          </a:solidFill>
          <a:ln w="6350">
            <a:solidFill>
              <a:srgbClr val="24506E"/>
            </a:solidFill>
            <a:prstDash val="solid"/>
          </a:ln>
        </p:spPr>
      </p:sp>
      <p:sp>
        <p:nvSpPr>
          <p:cNvPr id="13" name="Text 11"/>
          <p:cNvSpPr/>
          <p:nvPr/>
        </p:nvSpPr>
        <p:spPr>
          <a:xfrm>
            <a:off x="64325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64325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IBM Plex Sans" pitchFamily="34" charset="0"/>
                <a:ea typeface="IBM Plex Sans" pitchFamily="34" charset="-122"/>
                <a:cs typeface="IBM Plex Sans" pitchFamily="34" charset="-120"/>
              </a:rPr>
              <a:t>Runoff</a:t>
            </a:r>
            <a:endParaRPr lang="en-US" sz="1500" dirty="0"/>
          </a:p>
        </p:txBody>
      </p:sp>
      <p:sp>
        <p:nvSpPr>
          <p:cNvPr id="15" name="Text 13"/>
          <p:cNvSpPr/>
          <p:nvPr/>
        </p:nvSpPr>
        <p:spPr>
          <a:xfrm>
            <a:off x="6531356" y="2818507"/>
            <a:ext cx="1973453" cy="130532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SCS-CN, Green-Ampt and Horton losses</a:t>
            </a:r>
            <a:endParaRPr lang="en-US" sz="1200" dirty="0"/>
          </a:p>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SCS, Snyder, Clark and Nash unit hydrographs</a:t>
            </a:r>
            <a:endParaRPr lang="en-US" sz="1200" dirty="0"/>
          </a:p>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CN rasters from ESA WorldCover and SoilGrids</a:t>
            </a:r>
            <a:endParaRPr lang="en-US" sz="1200" dirty="0"/>
          </a:p>
        </p:txBody>
      </p:sp>
      <p:sp>
        <p:nvSpPr>
          <p:cNvPr id="16" name="Shape 14"/>
          <p:cNvSpPr/>
          <p:nvPr/>
        </p:nvSpPr>
        <p:spPr>
          <a:xfrm>
            <a:off x="8893175" y="1890812"/>
            <a:ext cx="2482850" cy="4151213"/>
          </a:xfrm>
          <a:prstGeom prst="roundRect">
            <a:avLst>
              <a:gd name="adj" fmla="val 3964"/>
            </a:avLst>
          </a:prstGeom>
          <a:solidFill>
            <a:srgbClr val="163650"/>
          </a:solidFill>
          <a:ln w="6350">
            <a:solidFill>
              <a:srgbClr val="24506E"/>
            </a:solidFill>
            <a:prstDash val="solid"/>
          </a:ln>
        </p:spPr>
      </p:sp>
      <p:sp>
        <p:nvSpPr>
          <p:cNvPr id="17" name="Text 15"/>
          <p:cNvSpPr/>
          <p:nvPr/>
        </p:nvSpPr>
        <p:spPr>
          <a:xfrm>
            <a:off x="9124950" y="2122587"/>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9124950" y="2462907"/>
            <a:ext cx="20798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6"/>
                </a:solidFill>
                <a:latin typeface="IBM Plex Sans" pitchFamily="34" charset="0"/>
                <a:ea typeface="IBM Plex Sans" pitchFamily="34" charset="-122"/>
                <a:cs typeface="IBM Plex Sans" pitchFamily="34" charset="-120"/>
              </a:rPr>
              <a:t>Routing</a:t>
            </a:r>
            <a:endParaRPr lang="en-US" sz="1500" dirty="0"/>
          </a:p>
        </p:txBody>
      </p:sp>
      <p:sp>
        <p:nvSpPr>
          <p:cNvPr id="19" name="Text 17"/>
          <p:cNvSpPr/>
          <p:nvPr/>
        </p:nvSpPr>
        <p:spPr>
          <a:xfrm>
            <a:off x="9223756" y="2818507"/>
            <a:ext cx="1973453"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Muskingum-Cunge channel routing</a:t>
            </a:r>
            <a:endParaRPr lang="en-US" sz="1200" dirty="0"/>
          </a:p>
          <a:p>
            <a:pPr algn="l" marL="155194" indent="-155194">
              <a:lnSpc>
                <a:spcPts val="1680"/>
              </a:lnSpc>
              <a:buSzPct val="100000"/>
              <a:buChar char="•"/>
            </a:pPr>
            <a:r>
              <a:rPr lang="en-US" sz="1200" dirty="0">
                <a:solidFill>
                  <a:srgbClr val="B9CCD6"/>
                </a:solidFill>
                <a:latin typeface="IBM Plex Sans" pitchFamily="34" charset="0"/>
                <a:ea typeface="IBM Plex Sans" pitchFamily="34" charset="-122"/>
                <a:cs typeface="IBM Plex Sans" pitchFamily="34" charset="-120"/>
              </a:rPr>
              <a:t>2D diffusive-wave engine, in development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5A17"/>
                </a:solidFill>
                <a:latin typeface="IBM Plex Sans" pitchFamily="34" charset="0"/>
                <a:ea typeface="IBM Plex Sans" pitchFamily="34" charset="-122"/>
                <a:cs typeface="IBM Plex Sans" pitchFamily="34" charset="-120"/>
              </a:rPr>
              <a:t>BONUS · RAIN2FLOOD V3.0</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Rain2Flood in action</a:t>
            </a:r>
            <a:endParaRPr lang="en-US" sz="3200" dirty="0"/>
          </a:p>
        </p:txBody>
      </p:sp>
      <p:sp>
        <p:nvSpPr>
          <p:cNvPr id="4" name="Shape 2"/>
          <p:cNvSpPr/>
          <p:nvPr/>
        </p:nvSpPr>
        <p:spPr>
          <a:xfrm>
            <a:off x="822325" y="1897162"/>
            <a:ext cx="5162550" cy="4138513"/>
          </a:xfrm>
          <a:prstGeom prst="roundRect">
            <a:avLst>
              <a:gd name="adj" fmla="val 2225"/>
            </a:avLst>
          </a:prstGeom>
          <a:solidFill>
            <a:srgbClr val="E8EEF1"/>
          </a:solidFill>
          <a:ln w="19050">
            <a:solidFill>
              <a:srgbClr val="8FA6B4"/>
            </a:solidFill>
            <a:prstDash val="dash"/>
          </a:ln>
        </p:spPr>
      </p:sp>
      <p:sp>
        <p:nvSpPr>
          <p:cNvPr id="5" name="Text 3"/>
          <p:cNvSpPr/>
          <p:nvPr/>
        </p:nvSpPr>
        <p:spPr>
          <a:xfrm>
            <a:off x="2700774" y="3518098"/>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6" name="Text 4"/>
          <p:cNvSpPr/>
          <p:nvPr/>
        </p:nvSpPr>
        <p:spPr>
          <a:xfrm>
            <a:off x="1920319" y="3833019"/>
            <a:ext cx="296656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Streams and sub-basins tab</a:t>
            </a:r>
            <a:endParaRPr lang="en-US" sz="1500" dirty="0"/>
          </a:p>
        </p:txBody>
      </p:sp>
      <p:sp>
        <p:nvSpPr>
          <p:cNvPr id="7" name="Text 5"/>
          <p:cNvSpPr/>
          <p:nvPr/>
        </p:nvSpPr>
        <p:spPr>
          <a:xfrm>
            <a:off x="1942475" y="4201319"/>
            <a:ext cx="292215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A delineated catchment on the map</a:t>
            </a:r>
            <a:endParaRPr lang="en-US" sz="1200" dirty="0"/>
          </a:p>
        </p:txBody>
      </p:sp>
      <p:sp>
        <p:nvSpPr>
          <p:cNvPr id="8" name="Shape 6"/>
          <p:cNvSpPr/>
          <p:nvPr/>
        </p:nvSpPr>
        <p:spPr>
          <a:xfrm>
            <a:off x="6207125" y="1897162"/>
            <a:ext cx="5162550" cy="4138513"/>
          </a:xfrm>
          <a:prstGeom prst="roundRect">
            <a:avLst>
              <a:gd name="adj" fmla="val 2225"/>
            </a:avLst>
          </a:prstGeom>
          <a:solidFill>
            <a:srgbClr val="E8EEF1"/>
          </a:solidFill>
          <a:ln w="19050">
            <a:solidFill>
              <a:srgbClr val="8FA6B4"/>
            </a:solidFill>
            <a:prstDash val="dash"/>
          </a:ln>
        </p:spPr>
      </p:sp>
      <p:sp>
        <p:nvSpPr>
          <p:cNvPr id="9" name="Text 7"/>
          <p:cNvSpPr/>
          <p:nvPr/>
        </p:nvSpPr>
        <p:spPr>
          <a:xfrm>
            <a:off x="8085574" y="3518098"/>
            <a:ext cx="14056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SCREENSHOT</a:t>
            </a:r>
            <a:endParaRPr lang="en-US" sz="1200" dirty="0"/>
          </a:p>
        </p:txBody>
      </p:sp>
      <p:sp>
        <p:nvSpPr>
          <p:cNvPr id="10" name="Text 8"/>
          <p:cNvSpPr/>
          <p:nvPr/>
        </p:nvSpPr>
        <p:spPr>
          <a:xfrm>
            <a:off x="7784713" y="3833019"/>
            <a:ext cx="200727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4293A"/>
                </a:solidFill>
                <a:latin typeface="IBM Plex Sans" pitchFamily="34" charset="0"/>
                <a:ea typeface="IBM Plex Sans" pitchFamily="34" charset="-122"/>
                <a:cs typeface="IBM Plex Sans" pitchFamily="34" charset="-120"/>
              </a:rPr>
              <a:t>Hydrograph output</a:t>
            </a:r>
            <a:endParaRPr lang="en-US" sz="1500" dirty="0"/>
          </a:p>
        </p:txBody>
      </p:sp>
      <p:sp>
        <p:nvSpPr>
          <p:cNvPr id="11" name="Text 9"/>
          <p:cNvSpPr/>
          <p:nvPr/>
        </p:nvSpPr>
        <p:spPr>
          <a:xfrm>
            <a:off x="6844824" y="4201319"/>
            <a:ext cx="388715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866"/>
                </a:solidFill>
                <a:latin typeface="IBM Plex Sans" pitchFamily="34" charset="0"/>
                <a:ea typeface="IBM Plex Sans" pitchFamily="34" charset="-122"/>
                <a:cs typeface="IBM Plex Sans" pitchFamily="34" charset="-120"/>
              </a:rPr>
              <a:t>A design flood hydrograph for one return period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IBM Plex Sans" pitchFamily="34" charset="0"/>
                <a:ea typeface="IBM Plex Sans" pitchFamily="34" charset="-122"/>
                <a:cs typeface="IBM Plex Sans" pitchFamily="34" charset="-120"/>
              </a:rPr>
              <a:t>BUILD YOUR OWN</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5F7F6"/>
                </a:solidFill>
                <a:latin typeface="IBM Plex Sans" pitchFamily="34" charset="0"/>
                <a:ea typeface="IBM Plex Sans" pitchFamily="34" charset="-122"/>
                <a:cs typeface="IBM Plex Sans" pitchFamily="34" charset="-120"/>
              </a:rPr>
              <a:t>A QGIS plugin is just a folder of Python files</a:t>
            </a:r>
            <a:endParaRPr lang="en-US" sz="3200" dirty="0"/>
          </a:p>
        </p:txBody>
      </p:sp>
      <p:sp>
        <p:nvSpPr>
          <p:cNvPr id="4" name="Shape 2"/>
          <p:cNvSpPr/>
          <p:nvPr/>
        </p:nvSpPr>
        <p:spPr>
          <a:xfrm>
            <a:off x="815975" y="1890812"/>
            <a:ext cx="10560050" cy="3633093"/>
          </a:xfrm>
          <a:prstGeom prst="roundRect">
            <a:avLst>
              <a:gd name="adj" fmla="val 2709"/>
            </a:avLst>
          </a:prstGeom>
          <a:solidFill>
            <a:srgbClr val="163650"/>
          </a:solidFill>
          <a:ln w="6350">
            <a:solidFill>
              <a:srgbClr val="24506E"/>
            </a:solidFill>
            <a:prstDash val="solid"/>
          </a:ln>
        </p:spPr>
      </p:sp>
      <p:sp>
        <p:nvSpPr>
          <p:cNvPr id="5" name="Text 3"/>
          <p:cNvSpPr/>
          <p:nvPr/>
        </p:nvSpPr>
        <p:spPr>
          <a:xfrm>
            <a:off x="1123950" y="24627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5DB7E0"/>
                </a:solidFill>
                <a:latin typeface="JetBrains Mono" pitchFamily="49" charset="0"/>
                <a:ea typeface="JetBrains Mono" pitchFamily="49" charset="-122"/>
                <a:cs typeface="JetBrains Mono" pitchFamily="49" charset="-120"/>
              </a:rPr>
              <a:t>my_plugin/</a:t>
            </a:r>
            <a:endParaRPr lang="en-US" sz="1500" dirty="0"/>
          </a:p>
        </p:txBody>
      </p:sp>
      <p:sp>
        <p:nvSpPr>
          <p:cNvPr id="6" name="Text 4"/>
          <p:cNvSpPr/>
          <p:nvPr/>
        </p:nvSpPr>
        <p:spPr>
          <a:xfrm>
            <a:off x="4121150" y="24627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Goes in your QGIS profile's plugins folder</a:t>
            </a:r>
            <a:endParaRPr lang="en-US" sz="1500" dirty="0"/>
          </a:p>
        </p:txBody>
      </p:sp>
      <p:sp>
        <p:nvSpPr>
          <p:cNvPr id="7" name="Text 5"/>
          <p:cNvSpPr/>
          <p:nvPr/>
        </p:nvSpPr>
        <p:spPr>
          <a:xfrm>
            <a:off x="1123950" y="29072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JetBrains Mono" pitchFamily="49" charset="0"/>
                <a:ea typeface="JetBrains Mono" pitchFamily="49" charset="-122"/>
                <a:cs typeface="JetBrains Mono" pitchFamily="49" charset="-120"/>
              </a:rPr>
              <a:t>├── metadata.txt</a:t>
            </a:r>
            <a:endParaRPr lang="en-US" sz="1500" dirty="0"/>
          </a:p>
        </p:txBody>
      </p:sp>
      <p:sp>
        <p:nvSpPr>
          <p:cNvPr id="8" name="Text 6"/>
          <p:cNvSpPr/>
          <p:nvPr/>
        </p:nvSpPr>
        <p:spPr>
          <a:xfrm>
            <a:off x="4121150" y="29072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Name, version, author, minimum QGIS version</a:t>
            </a:r>
            <a:endParaRPr lang="en-US" sz="1500" dirty="0"/>
          </a:p>
        </p:txBody>
      </p:sp>
      <p:sp>
        <p:nvSpPr>
          <p:cNvPr id="9" name="Text 7"/>
          <p:cNvSpPr/>
          <p:nvPr/>
        </p:nvSpPr>
        <p:spPr>
          <a:xfrm>
            <a:off x="1123950" y="33517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JetBrains Mono" pitchFamily="49" charset="0"/>
                <a:ea typeface="JetBrains Mono" pitchFamily="49" charset="-122"/>
                <a:cs typeface="JetBrains Mono" pitchFamily="49" charset="-120"/>
              </a:rPr>
              <a:t>├── __init__.py</a:t>
            </a:r>
            <a:endParaRPr lang="en-US" sz="1500" dirty="0"/>
          </a:p>
        </p:txBody>
      </p:sp>
      <p:sp>
        <p:nvSpPr>
          <p:cNvPr id="10" name="Text 8"/>
          <p:cNvSpPr/>
          <p:nvPr/>
        </p:nvSpPr>
        <p:spPr>
          <a:xfrm>
            <a:off x="4121150" y="33517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classFactory(iface): QGIS calls this to load the plugin</a:t>
            </a:r>
            <a:endParaRPr lang="en-US" sz="1500" dirty="0"/>
          </a:p>
        </p:txBody>
      </p:sp>
      <p:sp>
        <p:nvSpPr>
          <p:cNvPr id="11" name="Text 9"/>
          <p:cNvSpPr/>
          <p:nvPr/>
        </p:nvSpPr>
        <p:spPr>
          <a:xfrm>
            <a:off x="1123950" y="37962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JetBrains Mono" pitchFamily="49" charset="0"/>
                <a:ea typeface="JetBrains Mono" pitchFamily="49" charset="-122"/>
                <a:cs typeface="JetBrains Mono" pitchFamily="49" charset="-120"/>
              </a:rPr>
              <a:t>├── my_plugin.py</a:t>
            </a:r>
            <a:endParaRPr lang="en-US" sz="1500" dirty="0"/>
          </a:p>
        </p:txBody>
      </p:sp>
      <p:sp>
        <p:nvSpPr>
          <p:cNvPr id="12" name="Text 10"/>
          <p:cNvSpPr/>
          <p:nvPr/>
        </p:nvSpPr>
        <p:spPr>
          <a:xfrm>
            <a:off x="4121150" y="37962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initGui() adds buttons, unload() removes them, run() does the work</a:t>
            </a:r>
            <a:endParaRPr lang="en-US" sz="1500" dirty="0"/>
          </a:p>
        </p:txBody>
      </p:sp>
      <p:sp>
        <p:nvSpPr>
          <p:cNvPr id="13" name="Text 11"/>
          <p:cNvSpPr/>
          <p:nvPr/>
        </p:nvSpPr>
        <p:spPr>
          <a:xfrm>
            <a:off x="1123950" y="42407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JetBrains Mono" pitchFamily="49" charset="0"/>
                <a:ea typeface="JetBrains Mono" pitchFamily="49" charset="-122"/>
                <a:cs typeface="JetBrains Mono" pitchFamily="49" charset="-120"/>
              </a:rPr>
              <a:t>├── my_dialog.ui</a:t>
            </a:r>
            <a:endParaRPr lang="en-US" sz="1500" dirty="0"/>
          </a:p>
        </p:txBody>
      </p:sp>
      <p:sp>
        <p:nvSpPr>
          <p:cNvPr id="14" name="Text 12"/>
          <p:cNvSpPr/>
          <p:nvPr/>
        </p:nvSpPr>
        <p:spPr>
          <a:xfrm>
            <a:off x="4121150" y="42407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The window, laid out in Qt Designer</a:t>
            </a:r>
            <a:endParaRPr lang="en-US" sz="1500" dirty="0"/>
          </a:p>
        </p:txBody>
      </p:sp>
      <p:sp>
        <p:nvSpPr>
          <p:cNvPr id="15" name="Text 13"/>
          <p:cNvSpPr/>
          <p:nvPr/>
        </p:nvSpPr>
        <p:spPr>
          <a:xfrm>
            <a:off x="1123950" y="4685209"/>
            <a:ext cx="2877820" cy="292100"/>
          </a:xfrm>
          <a:prstGeom prst="rect">
            <a:avLst/>
          </a:prstGeom>
          <a:noFill/>
          <a:ln/>
        </p:spPr>
        <p:txBody>
          <a:bodyPr wrap="none" lIns="0" tIns="0" rIns="0" bIns="0" rtlCol="0" anchor="t">
            <a:normAutofit/>
          </a:bodyPr>
          <a:lstStyle/>
          <a:p>
            <a:pPr algn="l" indent="0" marL="0">
              <a:lnSpc>
                <a:spcPts val="2100"/>
              </a:lnSpc>
              <a:buNone/>
            </a:pPr>
            <a:r>
              <a:rPr lang="en-US" sz="1500" dirty="0">
                <a:solidFill>
                  <a:srgbClr val="F5F7F6"/>
                </a:solidFill>
                <a:latin typeface="JetBrains Mono" pitchFamily="49" charset="0"/>
                <a:ea typeface="JetBrains Mono" pitchFamily="49" charset="-122"/>
                <a:cs typeface="JetBrains Mono" pitchFamily="49" charset="-120"/>
              </a:rPr>
              <a:t>└── icon.png</a:t>
            </a:r>
            <a:endParaRPr lang="en-US" sz="1500" dirty="0"/>
          </a:p>
        </p:txBody>
      </p:sp>
      <p:sp>
        <p:nvSpPr>
          <p:cNvPr id="16" name="Text 14"/>
          <p:cNvSpPr/>
          <p:nvPr/>
        </p:nvSpPr>
        <p:spPr>
          <a:xfrm>
            <a:off x="4121150" y="4685209"/>
            <a:ext cx="71553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The toolbar icon</a:t>
            </a:r>
            <a:endParaRPr lang="en-US" sz="1500" dirty="0"/>
          </a:p>
        </p:txBody>
      </p:sp>
      <p:sp>
        <p:nvSpPr>
          <p:cNvPr id="17" name="Text 1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JetBrains Mono" pitchFamily="49" charset="0"/>
                <a:ea typeface="JetBrains Mono" pitchFamily="49" charset="-122"/>
                <a:cs typeface="JetBrains Mono" pitchFamily="49" charset="-120"/>
              </a:rPr>
              <a:t>Windows: %APPDATA%\QGIS\QGIS3\profiles\default\python\plugins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BUILD YOUR OWN · CODE</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A working plugin in three small files</a:t>
            </a:r>
            <a:endParaRPr lang="en-US" sz="3200" dirty="0"/>
          </a:p>
        </p:txBody>
      </p:sp>
      <p:sp>
        <p:nvSpPr>
          <p:cNvPr id="4" name="Shape 2"/>
          <p:cNvSpPr/>
          <p:nvPr/>
        </p:nvSpPr>
        <p:spPr>
          <a:xfrm>
            <a:off x="812800" y="1836837"/>
            <a:ext cx="3810000" cy="1290042"/>
          </a:xfrm>
          <a:prstGeom prst="roundRect">
            <a:avLst>
              <a:gd name="adj" fmla="val 7876"/>
            </a:avLst>
          </a:prstGeom>
          <a:solidFill>
            <a:srgbClr val="0F2433"/>
          </a:solidFill>
          <a:ln/>
        </p:spPr>
      </p:sp>
      <p:sp>
        <p:nvSpPr>
          <p:cNvPr id="5" name="Text 3"/>
          <p:cNvSpPr/>
          <p:nvPr/>
        </p:nvSpPr>
        <p:spPr>
          <a:xfrm>
            <a:off x="1016000" y="2040037"/>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JetBrains Mono" pitchFamily="49" charset="0"/>
                <a:ea typeface="JetBrains Mono" pitchFamily="49" charset="-122"/>
                <a:cs typeface="JetBrains Mono" pitchFamily="49" charset="-120"/>
              </a:rPr>
              <a:t>__init__.py</a:t>
            </a:r>
            <a:endParaRPr lang="en-US" sz="1200" dirty="0"/>
          </a:p>
        </p:txBody>
      </p:sp>
      <p:sp>
        <p:nvSpPr>
          <p:cNvPr id="6" name="Text 4"/>
          <p:cNvSpPr/>
          <p:nvPr/>
        </p:nvSpPr>
        <p:spPr>
          <a:xfrm>
            <a:off x="1016000" y="2329557"/>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def</a:t>
            </a:r>
            <a:r>
              <a:rPr lang="en-US" sz="1200" dirty="0">
                <a:solidFill>
                  <a:srgbClr val="E6EEF2"/>
                </a:solidFill>
                <a:latin typeface="JetBrains Mono" pitchFamily="49" charset="0"/>
                <a:ea typeface="JetBrains Mono" pitchFamily="49" charset="-122"/>
                <a:cs typeface="JetBrains Mono" pitchFamily="49" charset="-120"/>
              </a:rPr>
              <a:t> classFactory(iface):</a:t>
            </a:r>
            <a:endParaRPr lang="en-US" sz="1200" dirty="0"/>
          </a:p>
        </p:txBody>
      </p:sp>
      <p:sp>
        <p:nvSpPr>
          <p:cNvPr id="7" name="Text 5"/>
          <p:cNvSpPr/>
          <p:nvPr/>
        </p:nvSpPr>
        <p:spPr>
          <a:xfrm>
            <a:off x="1384300" y="2527598"/>
            <a:ext cx="3126359"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from</a:t>
            </a:r>
            <a:r>
              <a:rPr lang="en-US" sz="1200" dirty="0">
                <a:solidFill>
                  <a:srgbClr val="E6EEF2"/>
                </a:solidFill>
                <a:latin typeface="JetBrains Mono" pitchFamily="49" charset="0"/>
                <a:ea typeface="JetBrains Mono" pitchFamily="49" charset="-122"/>
                <a:cs typeface="JetBrains Mono" pitchFamily="49" charset="-120"/>
              </a:rPr>
              <a:t> .hello </a:t>
            </a:r>
            <a:r>
              <a:rPr lang="en-US" sz="1200" dirty="0">
                <a:solidFill>
                  <a:srgbClr val="5DB7E0"/>
                </a:solidFill>
                <a:latin typeface="JetBrains Mono" pitchFamily="49" charset="0"/>
                <a:ea typeface="JetBrains Mono" pitchFamily="49" charset="-122"/>
                <a:cs typeface="JetBrains Mono" pitchFamily="49" charset="-120"/>
              </a:rPr>
              <a:t>import</a:t>
            </a:r>
            <a:r>
              <a:rPr lang="en-US" sz="1200" dirty="0">
                <a:solidFill>
                  <a:srgbClr val="E6EEF2"/>
                </a:solidFill>
                <a:latin typeface="JetBrains Mono" pitchFamily="49" charset="0"/>
                <a:ea typeface="JetBrains Mono" pitchFamily="49" charset="-122"/>
                <a:cs typeface="JetBrains Mono" pitchFamily="49" charset="-120"/>
              </a:rPr>
              <a:t> HelloPlugin</a:t>
            </a:r>
            <a:endParaRPr lang="en-US" sz="1200" dirty="0"/>
          </a:p>
        </p:txBody>
      </p:sp>
      <p:sp>
        <p:nvSpPr>
          <p:cNvPr id="8" name="Text 6"/>
          <p:cNvSpPr/>
          <p:nvPr/>
        </p:nvSpPr>
        <p:spPr>
          <a:xfrm>
            <a:off x="1384300" y="2725638"/>
            <a:ext cx="3126359"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return</a:t>
            </a:r>
            <a:r>
              <a:rPr lang="en-US" sz="1200" dirty="0">
                <a:solidFill>
                  <a:srgbClr val="E6EEF2"/>
                </a:solidFill>
                <a:latin typeface="JetBrains Mono" pitchFamily="49" charset="0"/>
                <a:ea typeface="JetBrains Mono" pitchFamily="49" charset="-122"/>
                <a:cs typeface="JetBrains Mono" pitchFamily="49" charset="-120"/>
              </a:rPr>
              <a:t> HelloPlugin(iface)</a:t>
            </a:r>
            <a:endParaRPr lang="en-US" sz="1200" dirty="0"/>
          </a:p>
        </p:txBody>
      </p:sp>
      <p:sp>
        <p:nvSpPr>
          <p:cNvPr id="9" name="Shape 7"/>
          <p:cNvSpPr/>
          <p:nvPr/>
        </p:nvSpPr>
        <p:spPr>
          <a:xfrm>
            <a:off x="812800" y="3330079"/>
            <a:ext cx="3810000" cy="2715121"/>
          </a:xfrm>
          <a:prstGeom prst="roundRect">
            <a:avLst>
              <a:gd name="adj" fmla="val 3742"/>
            </a:avLst>
          </a:prstGeom>
          <a:solidFill>
            <a:srgbClr val="0F2433"/>
          </a:solidFill>
          <a:ln/>
        </p:spPr>
      </p:sp>
      <p:sp>
        <p:nvSpPr>
          <p:cNvPr id="10" name="Text 8"/>
          <p:cNvSpPr/>
          <p:nvPr/>
        </p:nvSpPr>
        <p:spPr>
          <a:xfrm>
            <a:off x="1016000" y="3533279"/>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JetBrains Mono" pitchFamily="49" charset="0"/>
                <a:ea typeface="JetBrains Mono" pitchFamily="49" charset="-122"/>
                <a:cs typeface="JetBrains Mono" pitchFamily="49" charset="-120"/>
              </a:rPr>
              <a:t>metadata.txt</a:t>
            </a:r>
            <a:endParaRPr lang="en-US" sz="1200" dirty="0"/>
          </a:p>
        </p:txBody>
      </p:sp>
      <p:sp>
        <p:nvSpPr>
          <p:cNvPr id="11" name="Text 9"/>
          <p:cNvSpPr/>
          <p:nvPr/>
        </p:nvSpPr>
        <p:spPr>
          <a:xfrm>
            <a:off x="1016000" y="3822799"/>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2A35E"/>
                </a:solidFill>
                <a:latin typeface="JetBrains Mono" pitchFamily="49" charset="0"/>
                <a:ea typeface="JetBrains Mono" pitchFamily="49" charset="-122"/>
                <a:cs typeface="JetBrains Mono" pitchFamily="49" charset="-120"/>
              </a:rPr>
              <a:t>[general]</a:t>
            </a:r>
            <a:endParaRPr lang="en-US" sz="1200" dirty="0"/>
          </a:p>
        </p:txBody>
      </p:sp>
      <p:sp>
        <p:nvSpPr>
          <p:cNvPr id="12" name="Text 10"/>
          <p:cNvSpPr/>
          <p:nvPr/>
        </p:nvSpPr>
        <p:spPr>
          <a:xfrm>
            <a:off x="1016000" y="4020840"/>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name=Hello Flood Team</a:t>
            </a:r>
            <a:endParaRPr lang="en-US" sz="1200" dirty="0"/>
          </a:p>
        </p:txBody>
      </p:sp>
      <p:sp>
        <p:nvSpPr>
          <p:cNvPr id="13" name="Text 11"/>
          <p:cNvSpPr/>
          <p:nvPr/>
        </p:nvSpPr>
        <p:spPr>
          <a:xfrm>
            <a:off x="1016000" y="4218880"/>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qgisMinimumVersion=3.22</a:t>
            </a:r>
            <a:endParaRPr lang="en-US" sz="1200" dirty="0"/>
          </a:p>
        </p:txBody>
      </p:sp>
      <p:sp>
        <p:nvSpPr>
          <p:cNvPr id="14" name="Text 12"/>
          <p:cNvSpPr/>
          <p:nvPr/>
        </p:nvSpPr>
        <p:spPr>
          <a:xfrm>
            <a:off x="1016000" y="4416921"/>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description=My first plugin</a:t>
            </a:r>
            <a:endParaRPr lang="en-US" sz="1200" dirty="0"/>
          </a:p>
        </p:txBody>
      </p:sp>
      <p:sp>
        <p:nvSpPr>
          <p:cNvPr id="15" name="Text 13"/>
          <p:cNvSpPr/>
          <p:nvPr/>
        </p:nvSpPr>
        <p:spPr>
          <a:xfrm>
            <a:off x="1016000" y="4614962"/>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version=0.1</a:t>
            </a:r>
            <a:endParaRPr lang="en-US" sz="1200" dirty="0"/>
          </a:p>
        </p:txBody>
      </p:sp>
      <p:sp>
        <p:nvSpPr>
          <p:cNvPr id="16" name="Text 14"/>
          <p:cNvSpPr/>
          <p:nvPr/>
        </p:nvSpPr>
        <p:spPr>
          <a:xfrm>
            <a:off x="1016000" y="4813002"/>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author=Your Name</a:t>
            </a:r>
            <a:endParaRPr lang="en-US" sz="1200" dirty="0"/>
          </a:p>
        </p:txBody>
      </p:sp>
      <p:sp>
        <p:nvSpPr>
          <p:cNvPr id="17" name="Text 15"/>
          <p:cNvSpPr/>
          <p:nvPr/>
        </p:nvSpPr>
        <p:spPr>
          <a:xfrm>
            <a:off x="1016000" y="5011043"/>
            <a:ext cx="3505708"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email=you@example.com</a:t>
            </a:r>
            <a:endParaRPr lang="en-US" sz="1200" dirty="0"/>
          </a:p>
        </p:txBody>
      </p:sp>
      <p:sp>
        <p:nvSpPr>
          <p:cNvPr id="18" name="Shape 16"/>
          <p:cNvSpPr/>
          <p:nvPr/>
        </p:nvSpPr>
        <p:spPr>
          <a:xfrm>
            <a:off x="4826000" y="1836837"/>
            <a:ext cx="6553200" cy="4208363"/>
          </a:xfrm>
          <a:prstGeom prst="roundRect">
            <a:avLst>
              <a:gd name="adj" fmla="val 2414"/>
            </a:avLst>
          </a:prstGeom>
          <a:solidFill>
            <a:srgbClr val="0F2433"/>
          </a:solidFill>
          <a:ln/>
        </p:spPr>
      </p:sp>
      <p:sp>
        <p:nvSpPr>
          <p:cNvPr id="19" name="Text 17"/>
          <p:cNvSpPr/>
          <p:nvPr/>
        </p:nvSpPr>
        <p:spPr>
          <a:xfrm>
            <a:off x="5029200" y="2040037"/>
            <a:ext cx="63312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B7E0"/>
                </a:solidFill>
                <a:latin typeface="JetBrains Mono" pitchFamily="49" charset="0"/>
                <a:ea typeface="JetBrains Mono" pitchFamily="49" charset="-122"/>
                <a:cs typeface="JetBrains Mono" pitchFamily="49" charset="-120"/>
              </a:rPr>
              <a:t>hello.py</a:t>
            </a:r>
            <a:endParaRPr lang="en-US" sz="1200" dirty="0"/>
          </a:p>
        </p:txBody>
      </p:sp>
      <p:sp>
        <p:nvSpPr>
          <p:cNvPr id="20" name="Text 18"/>
          <p:cNvSpPr/>
          <p:nvPr/>
        </p:nvSpPr>
        <p:spPr>
          <a:xfrm>
            <a:off x="5029200" y="2329557"/>
            <a:ext cx="6331204"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from</a:t>
            </a:r>
            <a:r>
              <a:rPr lang="en-US" sz="1200" dirty="0">
                <a:solidFill>
                  <a:srgbClr val="E6EEF2"/>
                </a:solidFill>
                <a:latin typeface="JetBrains Mono" pitchFamily="49" charset="0"/>
                <a:ea typeface="JetBrains Mono" pitchFamily="49" charset="-122"/>
                <a:cs typeface="JetBrains Mono" pitchFamily="49" charset="-120"/>
              </a:rPr>
              <a:t> qgis.PyQt.QtWidgets </a:t>
            </a:r>
            <a:r>
              <a:rPr lang="en-US" sz="1200" dirty="0">
                <a:solidFill>
                  <a:srgbClr val="5DB7E0"/>
                </a:solidFill>
                <a:latin typeface="JetBrains Mono" pitchFamily="49" charset="0"/>
                <a:ea typeface="JetBrains Mono" pitchFamily="49" charset="-122"/>
                <a:cs typeface="JetBrains Mono" pitchFamily="49" charset="-120"/>
              </a:rPr>
              <a:t>import</a:t>
            </a:r>
            <a:r>
              <a:rPr lang="en-US" sz="1200" dirty="0">
                <a:solidFill>
                  <a:srgbClr val="E6EEF2"/>
                </a:solidFill>
                <a:latin typeface="JetBrains Mono" pitchFamily="49" charset="0"/>
                <a:ea typeface="JetBrains Mono" pitchFamily="49" charset="-122"/>
                <a:cs typeface="JetBrains Mono" pitchFamily="49" charset="-120"/>
              </a:rPr>
              <a:t> QAction, QMessageBox</a:t>
            </a:r>
            <a:endParaRPr lang="en-US" sz="1200" dirty="0"/>
          </a:p>
        </p:txBody>
      </p:sp>
      <p:sp>
        <p:nvSpPr>
          <p:cNvPr id="21" name="Text 19"/>
          <p:cNvSpPr/>
          <p:nvPr/>
        </p:nvSpPr>
        <p:spPr>
          <a:xfrm>
            <a:off x="5029200" y="2629198"/>
            <a:ext cx="6331204"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class</a:t>
            </a:r>
            <a:r>
              <a:rPr lang="en-US" sz="1200" dirty="0">
                <a:solidFill>
                  <a:srgbClr val="E6EEF2"/>
                </a:solidFill>
                <a:latin typeface="JetBrains Mono" pitchFamily="49" charset="0"/>
                <a:ea typeface="JetBrains Mono" pitchFamily="49" charset="-122"/>
                <a:cs typeface="JetBrains Mono" pitchFamily="49" charset="-120"/>
              </a:rPr>
              <a:t> HelloPlugin:</a:t>
            </a:r>
            <a:endParaRPr lang="en-US" sz="1200" dirty="0"/>
          </a:p>
        </p:txBody>
      </p:sp>
      <p:sp>
        <p:nvSpPr>
          <p:cNvPr id="22" name="Text 20"/>
          <p:cNvSpPr/>
          <p:nvPr/>
        </p:nvSpPr>
        <p:spPr>
          <a:xfrm>
            <a:off x="5397500" y="2827238"/>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def</a:t>
            </a:r>
            <a:r>
              <a:rPr lang="en-US" sz="1200" dirty="0">
                <a:solidFill>
                  <a:srgbClr val="E6EEF2"/>
                </a:solidFill>
                <a:latin typeface="JetBrains Mono" pitchFamily="49" charset="0"/>
                <a:ea typeface="JetBrains Mono" pitchFamily="49" charset="-122"/>
                <a:cs typeface="JetBrains Mono" pitchFamily="49" charset="-120"/>
              </a:rPr>
              <a:t> __init__(self, iface):</a:t>
            </a:r>
            <a:endParaRPr lang="en-US" sz="1200" dirty="0"/>
          </a:p>
        </p:txBody>
      </p:sp>
      <p:sp>
        <p:nvSpPr>
          <p:cNvPr id="23" name="Text 21"/>
          <p:cNvSpPr/>
          <p:nvPr/>
        </p:nvSpPr>
        <p:spPr>
          <a:xfrm>
            <a:off x="5759450" y="3025279"/>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self.iface = iface</a:t>
            </a:r>
            <a:endParaRPr lang="en-US" sz="1200" dirty="0"/>
          </a:p>
        </p:txBody>
      </p:sp>
      <p:sp>
        <p:nvSpPr>
          <p:cNvPr id="24" name="Text 22"/>
          <p:cNvSpPr/>
          <p:nvPr/>
        </p:nvSpPr>
        <p:spPr>
          <a:xfrm>
            <a:off x="5397500" y="3324920"/>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def</a:t>
            </a:r>
            <a:r>
              <a:rPr lang="en-US" sz="1200" dirty="0">
                <a:solidFill>
                  <a:srgbClr val="E6EEF2"/>
                </a:solidFill>
                <a:latin typeface="JetBrains Mono" pitchFamily="49" charset="0"/>
                <a:ea typeface="JetBrains Mono" pitchFamily="49" charset="-122"/>
                <a:cs typeface="JetBrains Mono" pitchFamily="49" charset="-120"/>
              </a:rPr>
              <a:t> initGui(self):</a:t>
            </a:r>
            <a:endParaRPr lang="en-US" sz="1200" dirty="0"/>
          </a:p>
        </p:txBody>
      </p:sp>
      <p:sp>
        <p:nvSpPr>
          <p:cNvPr id="25" name="Text 23"/>
          <p:cNvSpPr/>
          <p:nvPr/>
        </p:nvSpPr>
        <p:spPr>
          <a:xfrm>
            <a:off x="5759450" y="3522960"/>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self.action = QAction(</a:t>
            </a:r>
            <a:r>
              <a:rPr lang="en-US" sz="1200" dirty="0">
                <a:solidFill>
                  <a:srgbClr val="F2A35E"/>
                </a:solidFill>
                <a:latin typeface="JetBrains Mono" pitchFamily="49" charset="0"/>
                <a:ea typeface="JetBrains Mono" pitchFamily="49" charset="-122"/>
                <a:cs typeface="JetBrains Mono" pitchFamily="49" charset="-120"/>
              </a:rPr>
              <a:t>"Hello"</a:t>
            </a:r>
            <a:r>
              <a:rPr lang="en-US" sz="1200" dirty="0">
                <a:solidFill>
                  <a:srgbClr val="E6EEF2"/>
                </a:solidFill>
                <a:latin typeface="JetBrains Mono" pitchFamily="49" charset="0"/>
                <a:ea typeface="JetBrains Mono" pitchFamily="49" charset="-122"/>
                <a:cs typeface="JetBrains Mono" pitchFamily="49" charset="-120"/>
              </a:rPr>
              <a:t>, self.iface.mainWindow())</a:t>
            </a:r>
            <a:endParaRPr lang="en-US" sz="1200" dirty="0"/>
          </a:p>
        </p:txBody>
      </p:sp>
      <p:sp>
        <p:nvSpPr>
          <p:cNvPr id="26" name="Text 24"/>
          <p:cNvSpPr/>
          <p:nvPr/>
        </p:nvSpPr>
        <p:spPr>
          <a:xfrm>
            <a:off x="5759450" y="3721001"/>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self.action.triggered.connect(self.run)</a:t>
            </a:r>
            <a:endParaRPr lang="en-US" sz="1200" dirty="0"/>
          </a:p>
        </p:txBody>
      </p:sp>
      <p:sp>
        <p:nvSpPr>
          <p:cNvPr id="27" name="Text 25"/>
          <p:cNvSpPr/>
          <p:nvPr/>
        </p:nvSpPr>
        <p:spPr>
          <a:xfrm>
            <a:off x="5759450" y="3919041"/>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self.iface.addToolBarIcon(self.action)</a:t>
            </a:r>
            <a:endParaRPr lang="en-US" sz="1200" dirty="0"/>
          </a:p>
        </p:txBody>
      </p:sp>
      <p:sp>
        <p:nvSpPr>
          <p:cNvPr id="28" name="Text 26"/>
          <p:cNvSpPr/>
          <p:nvPr/>
        </p:nvSpPr>
        <p:spPr>
          <a:xfrm>
            <a:off x="5397500" y="4218682"/>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def</a:t>
            </a:r>
            <a:r>
              <a:rPr lang="en-US" sz="1200" dirty="0">
                <a:solidFill>
                  <a:srgbClr val="E6EEF2"/>
                </a:solidFill>
                <a:latin typeface="JetBrains Mono" pitchFamily="49" charset="0"/>
                <a:ea typeface="JetBrains Mono" pitchFamily="49" charset="-122"/>
                <a:cs typeface="JetBrains Mono" pitchFamily="49" charset="-120"/>
              </a:rPr>
              <a:t> unload(self):</a:t>
            </a:r>
            <a:endParaRPr lang="en-US" sz="1200" dirty="0"/>
          </a:p>
        </p:txBody>
      </p:sp>
      <p:sp>
        <p:nvSpPr>
          <p:cNvPr id="29" name="Text 27"/>
          <p:cNvSpPr/>
          <p:nvPr/>
        </p:nvSpPr>
        <p:spPr>
          <a:xfrm>
            <a:off x="5759450" y="4416723"/>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self.iface.removeToolBarIcon(self.action)</a:t>
            </a:r>
            <a:endParaRPr lang="en-US" sz="1200" dirty="0"/>
          </a:p>
        </p:txBody>
      </p:sp>
      <p:sp>
        <p:nvSpPr>
          <p:cNvPr id="30" name="Text 28"/>
          <p:cNvSpPr/>
          <p:nvPr/>
        </p:nvSpPr>
        <p:spPr>
          <a:xfrm>
            <a:off x="5397500" y="4716363"/>
            <a:ext cx="5951855"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5DB7E0"/>
                </a:solidFill>
                <a:latin typeface="JetBrains Mono" pitchFamily="49" charset="0"/>
                <a:ea typeface="JetBrains Mono" pitchFamily="49" charset="-122"/>
                <a:cs typeface="JetBrains Mono" pitchFamily="49" charset="-120"/>
              </a:rPr>
              <a:t>def</a:t>
            </a:r>
            <a:r>
              <a:rPr lang="en-US" sz="1200" dirty="0">
                <a:solidFill>
                  <a:srgbClr val="E6EEF2"/>
                </a:solidFill>
                <a:latin typeface="JetBrains Mono" pitchFamily="49" charset="0"/>
                <a:ea typeface="JetBrains Mono" pitchFamily="49" charset="-122"/>
                <a:cs typeface="JetBrains Mono" pitchFamily="49" charset="-120"/>
              </a:rPr>
              <a:t> run(self):</a:t>
            </a:r>
            <a:endParaRPr lang="en-US" sz="1200" dirty="0"/>
          </a:p>
        </p:txBody>
      </p:sp>
      <p:sp>
        <p:nvSpPr>
          <p:cNvPr id="31" name="Text 29"/>
          <p:cNvSpPr/>
          <p:nvPr/>
        </p:nvSpPr>
        <p:spPr>
          <a:xfrm>
            <a:off x="5759450" y="4914404"/>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layer = self.iface.activeLayer()</a:t>
            </a:r>
            <a:endParaRPr lang="en-US" sz="1200" dirty="0"/>
          </a:p>
        </p:txBody>
      </p:sp>
      <p:sp>
        <p:nvSpPr>
          <p:cNvPr id="32" name="Text 30"/>
          <p:cNvSpPr/>
          <p:nvPr/>
        </p:nvSpPr>
        <p:spPr>
          <a:xfrm>
            <a:off x="5759450" y="5112445"/>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name = layer.name() </a:t>
            </a:r>
            <a:r>
              <a:rPr lang="en-US" sz="1200" dirty="0">
                <a:solidFill>
                  <a:srgbClr val="5DB7E0"/>
                </a:solidFill>
                <a:latin typeface="JetBrains Mono" pitchFamily="49" charset="0"/>
                <a:ea typeface="JetBrains Mono" pitchFamily="49" charset="-122"/>
                <a:cs typeface="JetBrains Mono" pitchFamily="49" charset="-120"/>
              </a:rPr>
              <a:t>if</a:t>
            </a:r>
            <a:r>
              <a:rPr lang="en-US" sz="1200" dirty="0">
                <a:solidFill>
                  <a:srgbClr val="E6EEF2"/>
                </a:solidFill>
                <a:latin typeface="JetBrains Mono" pitchFamily="49" charset="0"/>
                <a:ea typeface="JetBrains Mono" pitchFamily="49" charset="-122"/>
                <a:cs typeface="JetBrains Mono" pitchFamily="49" charset="-120"/>
              </a:rPr>
              <a:t> layer </a:t>
            </a:r>
            <a:r>
              <a:rPr lang="en-US" sz="1200" dirty="0">
                <a:solidFill>
                  <a:srgbClr val="5DB7E0"/>
                </a:solidFill>
                <a:latin typeface="JetBrains Mono" pitchFamily="49" charset="0"/>
                <a:ea typeface="JetBrains Mono" pitchFamily="49" charset="-122"/>
                <a:cs typeface="JetBrains Mono" pitchFamily="49" charset="-120"/>
              </a:rPr>
              <a:t>else</a:t>
            </a:r>
            <a:r>
              <a:rPr lang="en-US" sz="1200" dirty="0">
                <a:solidFill>
                  <a:srgbClr val="E6EEF2"/>
                </a:solidFill>
                <a:latin typeface="JetBrains Mono" pitchFamily="49" charset="0"/>
                <a:ea typeface="JetBrains Mono" pitchFamily="49" charset="-122"/>
                <a:cs typeface="JetBrains Mono" pitchFamily="49" charset="-120"/>
              </a:rPr>
              <a:t> </a:t>
            </a:r>
            <a:r>
              <a:rPr lang="en-US" sz="1200" dirty="0">
                <a:solidFill>
                  <a:srgbClr val="F2A35E"/>
                </a:solidFill>
                <a:latin typeface="JetBrains Mono" pitchFamily="49" charset="0"/>
                <a:ea typeface="JetBrains Mono" pitchFamily="49" charset="-122"/>
                <a:cs typeface="JetBrains Mono" pitchFamily="49" charset="-120"/>
              </a:rPr>
              <a:t>"none"</a:t>
            </a:r>
            <a:endParaRPr lang="en-US" sz="1200" dirty="0"/>
          </a:p>
        </p:txBody>
      </p:sp>
      <p:sp>
        <p:nvSpPr>
          <p:cNvPr id="33" name="Text 31"/>
          <p:cNvSpPr/>
          <p:nvPr/>
        </p:nvSpPr>
        <p:spPr>
          <a:xfrm>
            <a:off x="5759450" y="5310485"/>
            <a:ext cx="5579047"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E6EEF2"/>
                </a:solidFill>
                <a:latin typeface="JetBrains Mono" pitchFamily="49" charset="0"/>
                <a:ea typeface="JetBrains Mono" pitchFamily="49" charset="-122"/>
                <a:cs typeface="JetBrains Mono" pitchFamily="49" charset="-120"/>
              </a:rPr>
              <a:t>QMessageBox.information(None, </a:t>
            </a:r>
            <a:r>
              <a:rPr lang="en-US" sz="1200" dirty="0">
                <a:solidFill>
                  <a:srgbClr val="F2A35E"/>
                </a:solidFill>
                <a:latin typeface="JetBrains Mono" pitchFamily="49" charset="0"/>
                <a:ea typeface="JetBrains Mono" pitchFamily="49" charset="-122"/>
                <a:cs typeface="JetBrains Mono" pitchFamily="49" charset="-120"/>
              </a:rPr>
              <a:t>"Hi"</a:t>
            </a:r>
            <a:r>
              <a:rPr lang="en-US" sz="1200" dirty="0">
                <a:solidFill>
                  <a:srgbClr val="E6EEF2"/>
                </a:solidFill>
                <a:latin typeface="JetBrains Mono" pitchFamily="49" charset="0"/>
                <a:ea typeface="JetBrains Mono" pitchFamily="49" charset="-122"/>
                <a:cs typeface="JetBrains Mono" pitchFamily="49" charset="-120"/>
              </a:rPr>
              <a:t>, </a:t>
            </a:r>
            <a:r>
              <a:rPr lang="en-US" sz="1200" dirty="0">
                <a:solidFill>
                  <a:srgbClr val="F2A35E"/>
                </a:solidFill>
                <a:latin typeface="JetBrains Mono" pitchFamily="49" charset="0"/>
                <a:ea typeface="JetBrains Mono" pitchFamily="49" charset="-122"/>
                <a:cs typeface="JetBrains Mono" pitchFamily="49" charset="-120"/>
              </a:rPr>
              <a:t>f"Layer: {name}"</a:t>
            </a:r>
            <a:r>
              <a:rPr lang="en-US" sz="1200" dirty="0">
                <a:solidFill>
                  <a:srgbClr val="E6EEF2"/>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BUILD YOUR OWN · WORKFLOW</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From idea to installed plugin in six steps</a:t>
            </a:r>
            <a:endParaRPr lang="en-US" sz="3200" dirty="0"/>
          </a:p>
        </p:txBody>
      </p:sp>
      <p:sp>
        <p:nvSpPr>
          <p:cNvPr id="4" name="Shape 2"/>
          <p:cNvSpPr/>
          <p:nvPr/>
        </p:nvSpPr>
        <p:spPr>
          <a:xfrm>
            <a:off x="815975" y="1890812"/>
            <a:ext cx="3380284" cy="1970782"/>
          </a:xfrm>
          <a:prstGeom prst="roundRect">
            <a:avLst>
              <a:gd name="adj" fmla="val 4994"/>
            </a:avLst>
          </a:prstGeom>
          <a:solidFill>
            <a:srgbClr val="FDFEFD"/>
          </a:solidFill>
          <a:ln w="6350">
            <a:solidFill>
              <a:srgbClr val="DCE4E8"/>
            </a:solidFill>
            <a:prstDash val="solid"/>
          </a:ln>
        </p:spPr>
      </p:sp>
      <p:sp>
        <p:nvSpPr>
          <p:cNvPr id="5" name="Text 3"/>
          <p:cNvSpPr/>
          <p:nvPr/>
        </p:nvSpPr>
        <p:spPr>
          <a:xfrm>
            <a:off x="1047750" y="2122587"/>
            <a:ext cx="30042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IBM Plex Sans" pitchFamily="34" charset="0"/>
                <a:ea typeface="IBM Plex Sans" pitchFamily="34" charset="-122"/>
                <a:cs typeface="IBM Plex Sans" pitchFamily="34" charset="-120"/>
              </a:rPr>
              <a:t>01</a:t>
            </a:r>
            <a:endParaRPr lang="en-US" sz="1500" dirty="0"/>
          </a:p>
        </p:txBody>
      </p:sp>
      <p:sp>
        <p:nvSpPr>
          <p:cNvPr id="6" name="Text 4"/>
          <p:cNvSpPr/>
          <p:nvPr/>
        </p:nvSpPr>
        <p:spPr>
          <a:xfrm>
            <a:off x="1047750" y="24654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Scaffold it</a:t>
            </a:r>
            <a:endParaRPr lang="en-US" sz="1500" dirty="0"/>
          </a:p>
        </p:txBody>
      </p:sp>
      <p:sp>
        <p:nvSpPr>
          <p:cNvPr id="7" name="Text 5"/>
          <p:cNvSpPr/>
          <p:nvPr/>
        </p:nvSpPr>
        <p:spPr>
          <a:xfrm>
            <a:off x="1047750" y="2770287"/>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Plugin Builder 3 creates the folder, metadata and a starter dialog.</a:t>
            </a:r>
            <a:endParaRPr lang="en-US" sz="1200" dirty="0"/>
          </a:p>
        </p:txBody>
      </p:sp>
      <p:sp>
        <p:nvSpPr>
          <p:cNvPr id="8" name="Shape 6"/>
          <p:cNvSpPr/>
          <p:nvPr/>
        </p:nvSpPr>
        <p:spPr>
          <a:xfrm>
            <a:off x="4405809" y="1890812"/>
            <a:ext cx="3380284" cy="1970782"/>
          </a:xfrm>
          <a:prstGeom prst="roundRect">
            <a:avLst>
              <a:gd name="adj" fmla="val 4994"/>
            </a:avLst>
          </a:prstGeom>
          <a:solidFill>
            <a:srgbClr val="FDFEFD"/>
          </a:solidFill>
          <a:ln w="6350">
            <a:solidFill>
              <a:srgbClr val="DCE4E8"/>
            </a:solidFill>
            <a:prstDash val="solid"/>
          </a:ln>
        </p:spPr>
      </p:sp>
      <p:sp>
        <p:nvSpPr>
          <p:cNvPr id="9" name="Text 7"/>
          <p:cNvSpPr/>
          <p:nvPr/>
        </p:nvSpPr>
        <p:spPr>
          <a:xfrm>
            <a:off x="4637584" y="2122587"/>
            <a:ext cx="30042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IBM Plex Sans" pitchFamily="34" charset="0"/>
                <a:ea typeface="IBM Plex Sans" pitchFamily="34" charset="-122"/>
                <a:cs typeface="IBM Plex Sans" pitchFamily="34" charset="-120"/>
              </a:rPr>
              <a:t>02</a:t>
            </a:r>
            <a:endParaRPr lang="en-US" sz="1500" dirty="0"/>
          </a:p>
        </p:txBody>
      </p:sp>
      <p:sp>
        <p:nvSpPr>
          <p:cNvPr id="10" name="Text 8"/>
          <p:cNvSpPr/>
          <p:nvPr/>
        </p:nvSpPr>
        <p:spPr>
          <a:xfrm>
            <a:off x="4637584" y="2465487"/>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Design the window</a:t>
            </a:r>
            <a:endParaRPr lang="en-US" sz="1500" dirty="0"/>
          </a:p>
        </p:txBody>
      </p:sp>
      <p:sp>
        <p:nvSpPr>
          <p:cNvPr id="11" name="Text 9"/>
          <p:cNvSpPr/>
          <p:nvPr/>
        </p:nvSpPr>
        <p:spPr>
          <a:xfrm>
            <a:off x="4637584" y="2770287"/>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Qt Designer, installed with QGIS, lays out buttons and inputs.</a:t>
            </a:r>
            <a:endParaRPr lang="en-US" sz="1200" dirty="0"/>
          </a:p>
        </p:txBody>
      </p:sp>
      <p:sp>
        <p:nvSpPr>
          <p:cNvPr id="12" name="Shape 10"/>
          <p:cNvSpPr/>
          <p:nvPr/>
        </p:nvSpPr>
        <p:spPr>
          <a:xfrm>
            <a:off x="7995642" y="1890812"/>
            <a:ext cx="3380383" cy="1970782"/>
          </a:xfrm>
          <a:prstGeom prst="roundRect">
            <a:avLst>
              <a:gd name="adj" fmla="val 4994"/>
            </a:avLst>
          </a:prstGeom>
          <a:solidFill>
            <a:srgbClr val="FDFEFD"/>
          </a:solidFill>
          <a:ln w="6350">
            <a:solidFill>
              <a:srgbClr val="DCE4E8"/>
            </a:solidFill>
            <a:prstDash val="solid"/>
          </a:ln>
        </p:spPr>
      </p:sp>
      <p:sp>
        <p:nvSpPr>
          <p:cNvPr id="13" name="Text 11"/>
          <p:cNvSpPr/>
          <p:nvPr/>
        </p:nvSpPr>
        <p:spPr>
          <a:xfrm>
            <a:off x="8227417" y="2122587"/>
            <a:ext cx="30043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IBM Plex Sans" pitchFamily="34" charset="0"/>
                <a:ea typeface="IBM Plex Sans" pitchFamily="34" charset="-122"/>
                <a:cs typeface="IBM Plex Sans" pitchFamily="34" charset="-120"/>
              </a:rPr>
              <a:t>03</a:t>
            </a:r>
            <a:endParaRPr lang="en-US" sz="1500" dirty="0"/>
          </a:p>
        </p:txBody>
      </p:sp>
      <p:sp>
        <p:nvSpPr>
          <p:cNvPr id="14" name="Text 12"/>
          <p:cNvSpPr/>
          <p:nvPr/>
        </p:nvSpPr>
        <p:spPr>
          <a:xfrm>
            <a:off x="8227417" y="2465487"/>
            <a:ext cx="3004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Try code in the console</a:t>
            </a:r>
            <a:endParaRPr lang="en-US" sz="1500" dirty="0"/>
          </a:p>
        </p:txBody>
      </p:sp>
      <p:sp>
        <p:nvSpPr>
          <p:cNvPr id="15" name="Text 13"/>
          <p:cNvSpPr/>
          <p:nvPr/>
        </p:nvSpPr>
        <p:spPr>
          <a:xfrm>
            <a:off x="8227417" y="2770287"/>
            <a:ext cx="300433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Test PyQGIS lines in the QGIS Python Console before they go in the plugin.</a:t>
            </a:r>
            <a:endParaRPr lang="en-US" sz="1200" dirty="0"/>
          </a:p>
        </p:txBody>
      </p:sp>
      <p:sp>
        <p:nvSpPr>
          <p:cNvPr id="16" name="Shape 14"/>
          <p:cNvSpPr/>
          <p:nvPr/>
        </p:nvSpPr>
        <p:spPr>
          <a:xfrm>
            <a:off x="815975" y="4071144"/>
            <a:ext cx="3380284" cy="1970881"/>
          </a:xfrm>
          <a:prstGeom prst="roundRect">
            <a:avLst>
              <a:gd name="adj" fmla="val 4994"/>
            </a:avLst>
          </a:prstGeom>
          <a:solidFill>
            <a:srgbClr val="FDFEFD"/>
          </a:solidFill>
          <a:ln w="6350">
            <a:solidFill>
              <a:srgbClr val="DCE4E8"/>
            </a:solidFill>
            <a:prstDash val="solid"/>
          </a:ln>
        </p:spPr>
      </p:sp>
      <p:sp>
        <p:nvSpPr>
          <p:cNvPr id="17" name="Text 15"/>
          <p:cNvSpPr/>
          <p:nvPr/>
        </p:nvSpPr>
        <p:spPr>
          <a:xfrm>
            <a:off x="1047750" y="4302919"/>
            <a:ext cx="30042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IBM Plex Sans" pitchFamily="34" charset="0"/>
                <a:ea typeface="IBM Plex Sans" pitchFamily="34" charset="-122"/>
                <a:cs typeface="IBM Plex Sans" pitchFamily="34" charset="-120"/>
              </a:rPr>
              <a:t>04</a:t>
            </a:r>
            <a:endParaRPr lang="en-US" sz="1500" dirty="0"/>
          </a:p>
        </p:txBody>
      </p:sp>
      <p:sp>
        <p:nvSpPr>
          <p:cNvPr id="18" name="Text 16"/>
          <p:cNvSpPr/>
          <p:nvPr/>
        </p:nvSpPr>
        <p:spPr>
          <a:xfrm>
            <a:off x="1047750" y="4645819"/>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Reload as you edit</a:t>
            </a:r>
            <a:endParaRPr lang="en-US" sz="1500" dirty="0"/>
          </a:p>
        </p:txBody>
      </p:sp>
      <p:sp>
        <p:nvSpPr>
          <p:cNvPr id="19" name="Text 17"/>
          <p:cNvSpPr/>
          <p:nvPr/>
        </p:nvSpPr>
        <p:spPr>
          <a:xfrm>
            <a:off x="1047750" y="4950619"/>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Plugin Reloader picks up changes without restarting QGIS.</a:t>
            </a:r>
            <a:endParaRPr lang="en-US" sz="1200" dirty="0"/>
          </a:p>
        </p:txBody>
      </p:sp>
      <p:sp>
        <p:nvSpPr>
          <p:cNvPr id="20" name="Shape 18"/>
          <p:cNvSpPr/>
          <p:nvPr/>
        </p:nvSpPr>
        <p:spPr>
          <a:xfrm>
            <a:off x="4405809" y="4071144"/>
            <a:ext cx="3380284" cy="1970881"/>
          </a:xfrm>
          <a:prstGeom prst="roundRect">
            <a:avLst>
              <a:gd name="adj" fmla="val 4994"/>
            </a:avLst>
          </a:prstGeom>
          <a:solidFill>
            <a:srgbClr val="FDFEFD"/>
          </a:solidFill>
          <a:ln w="6350">
            <a:solidFill>
              <a:srgbClr val="DCE4E8"/>
            </a:solidFill>
            <a:prstDash val="solid"/>
          </a:ln>
        </p:spPr>
      </p:sp>
      <p:sp>
        <p:nvSpPr>
          <p:cNvPr id="21" name="Text 19"/>
          <p:cNvSpPr/>
          <p:nvPr/>
        </p:nvSpPr>
        <p:spPr>
          <a:xfrm>
            <a:off x="4637584" y="4302919"/>
            <a:ext cx="30042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IBM Plex Sans" pitchFamily="34" charset="0"/>
                <a:ea typeface="IBM Plex Sans" pitchFamily="34" charset="-122"/>
                <a:cs typeface="IBM Plex Sans" pitchFamily="34" charset="-120"/>
              </a:rPr>
              <a:t>05</a:t>
            </a:r>
            <a:endParaRPr lang="en-US" sz="1500" dirty="0"/>
          </a:p>
        </p:txBody>
      </p:sp>
      <p:sp>
        <p:nvSpPr>
          <p:cNvPr id="22" name="Text 20"/>
          <p:cNvSpPr/>
          <p:nvPr/>
        </p:nvSpPr>
        <p:spPr>
          <a:xfrm>
            <a:off x="4637584" y="4645819"/>
            <a:ext cx="30042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Version it</a:t>
            </a:r>
            <a:endParaRPr lang="en-US" sz="1500" dirty="0"/>
          </a:p>
        </p:txBody>
      </p:sp>
      <p:sp>
        <p:nvSpPr>
          <p:cNvPr id="23" name="Text 21"/>
          <p:cNvSpPr/>
          <p:nvPr/>
        </p:nvSpPr>
        <p:spPr>
          <a:xfrm>
            <a:off x="4637584" y="4950619"/>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Commit to Git and push to GitHub from day one.</a:t>
            </a:r>
            <a:endParaRPr lang="en-US" sz="1200" dirty="0"/>
          </a:p>
        </p:txBody>
      </p:sp>
      <p:sp>
        <p:nvSpPr>
          <p:cNvPr id="24" name="Shape 22"/>
          <p:cNvSpPr/>
          <p:nvPr/>
        </p:nvSpPr>
        <p:spPr>
          <a:xfrm>
            <a:off x="8001992" y="4077494"/>
            <a:ext cx="3367683" cy="1958181"/>
          </a:xfrm>
          <a:prstGeom prst="roundRect">
            <a:avLst>
              <a:gd name="adj" fmla="val 4702"/>
            </a:avLst>
          </a:prstGeom>
          <a:solidFill>
            <a:srgbClr val="FDFEFD"/>
          </a:solidFill>
          <a:ln w="19050">
            <a:solidFill>
              <a:srgbClr val="1F6F99"/>
            </a:solidFill>
            <a:prstDash val="solid"/>
          </a:ln>
        </p:spPr>
      </p:sp>
      <p:sp>
        <p:nvSpPr>
          <p:cNvPr id="25" name="Text 23"/>
          <p:cNvSpPr/>
          <p:nvPr/>
        </p:nvSpPr>
        <p:spPr>
          <a:xfrm>
            <a:off x="8240117" y="4315619"/>
            <a:ext cx="297817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99"/>
                </a:solidFill>
                <a:latin typeface="IBM Plex Sans" pitchFamily="34" charset="0"/>
                <a:ea typeface="IBM Plex Sans" pitchFamily="34" charset="-122"/>
                <a:cs typeface="IBM Plex Sans" pitchFamily="34" charset="-120"/>
              </a:rPr>
              <a:t>06</a:t>
            </a:r>
            <a:endParaRPr lang="en-US" sz="1500" dirty="0"/>
          </a:p>
        </p:txBody>
      </p:sp>
      <p:sp>
        <p:nvSpPr>
          <p:cNvPr id="26" name="Text 24"/>
          <p:cNvSpPr/>
          <p:nvPr/>
        </p:nvSpPr>
        <p:spPr>
          <a:xfrm>
            <a:off x="8240117" y="4658519"/>
            <a:ext cx="297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Share it</a:t>
            </a:r>
            <a:endParaRPr lang="en-US" sz="1500" dirty="0"/>
          </a:p>
        </p:txBody>
      </p:sp>
      <p:sp>
        <p:nvSpPr>
          <p:cNvPr id="27" name="Text 25"/>
          <p:cNvSpPr/>
          <p:nvPr/>
        </p:nvSpPr>
        <p:spPr>
          <a:xfrm>
            <a:off x="8240117" y="4963319"/>
            <a:ext cx="297817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Zip the folder for colleagues, or publish on plugins.qgis.org.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LESSONS FROM FMB TOOLS AND RAIN2FLOOD</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What building these taught me</a:t>
            </a:r>
            <a:endParaRPr lang="en-US" sz="3200" dirty="0"/>
          </a:p>
        </p:txBody>
      </p:sp>
      <p:sp>
        <p:nvSpPr>
          <p:cNvPr id="4" name="Shape 2"/>
          <p:cNvSpPr/>
          <p:nvPr/>
        </p:nvSpPr>
        <p:spPr>
          <a:xfrm>
            <a:off x="815975" y="1890812"/>
            <a:ext cx="5175250" cy="1970782"/>
          </a:xfrm>
          <a:prstGeom prst="roundRect">
            <a:avLst>
              <a:gd name="adj" fmla="val 4994"/>
            </a:avLst>
          </a:prstGeom>
          <a:solidFill>
            <a:srgbClr val="FDFEFD"/>
          </a:solidFill>
          <a:ln w="6350">
            <a:solidFill>
              <a:srgbClr val="DCE4E8"/>
            </a:solidFill>
            <a:prstDash val="solid"/>
          </a:ln>
        </p:spPr>
      </p:sp>
      <p:sp>
        <p:nvSpPr>
          <p:cNvPr id="5" name="Text 3"/>
          <p:cNvSpPr/>
          <p:nvPr/>
        </p:nvSpPr>
        <p:spPr>
          <a:xfrm>
            <a:off x="1073150" y="2147987"/>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Start with one annoying task</a:t>
            </a:r>
            <a:endParaRPr lang="en-US" sz="1500" dirty="0"/>
          </a:p>
        </p:txBody>
      </p:sp>
      <p:sp>
        <p:nvSpPr>
          <p:cNvPr id="6" name="Text 4"/>
          <p:cNvSpPr/>
          <p:nvPr/>
        </p:nvSpPr>
        <p:spPr>
          <a:xfrm>
            <a:off x="1073150" y="2452787"/>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FMB Tools began with a single goal: stop editing TUFLOW files in Notepad++.</a:t>
            </a:r>
            <a:endParaRPr lang="en-US" sz="1200" dirty="0"/>
          </a:p>
        </p:txBody>
      </p:sp>
      <p:sp>
        <p:nvSpPr>
          <p:cNvPr id="7" name="Shape 5"/>
          <p:cNvSpPr/>
          <p:nvPr/>
        </p:nvSpPr>
        <p:spPr>
          <a:xfrm>
            <a:off x="6200775" y="1890812"/>
            <a:ext cx="5175250" cy="1970782"/>
          </a:xfrm>
          <a:prstGeom prst="roundRect">
            <a:avLst>
              <a:gd name="adj" fmla="val 4994"/>
            </a:avLst>
          </a:prstGeom>
          <a:solidFill>
            <a:srgbClr val="FDFEFD"/>
          </a:solidFill>
          <a:ln w="6350">
            <a:solidFill>
              <a:srgbClr val="DCE4E8"/>
            </a:solidFill>
            <a:prstDash val="solid"/>
          </a:ln>
        </p:spPr>
      </p:sp>
      <p:sp>
        <p:nvSpPr>
          <p:cNvPr id="8" name="Text 6"/>
          <p:cNvSpPr/>
          <p:nvPr/>
        </p:nvSpPr>
        <p:spPr>
          <a:xfrm>
            <a:off x="6457950" y="2147987"/>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Expect to rewrite the engine</a:t>
            </a:r>
            <a:endParaRPr lang="en-US" sz="1500" dirty="0"/>
          </a:p>
        </p:txBody>
      </p:sp>
      <p:sp>
        <p:nvSpPr>
          <p:cNvPr id="9" name="Text 7"/>
          <p:cNvSpPr/>
          <p:nvPr/>
        </p:nvSpPr>
        <p:spPr>
          <a:xfrm>
            <a:off x="6457950" y="2452787"/>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Rain2Flood's delineation went from pure-Python D8 to pysheds, then a vectorised sparse search, then GRASS r.watershed.</a:t>
            </a:r>
            <a:endParaRPr lang="en-US" sz="1200" dirty="0"/>
          </a:p>
        </p:txBody>
      </p:sp>
      <p:sp>
        <p:nvSpPr>
          <p:cNvPr id="10" name="Shape 8"/>
          <p:cNvSpPr/>
          <p:nvPr/>
        </p:nvSpPr>
        <p:spPr>
          <a:xfrm>
            <a:off x="815975" y="4071144"/>
            <a:ext cx="5175250" cy="1970881"/>
          </a:xfrm>
          <a:prstGeom prst="roundRect">
            <a:avLst>
              <a:gd name="adj" fmla="val 4994"/>
            </a:avLst>
          </a:prstGeom>
          <a:solidFill>
            <a:srgbClr val="FDFEFD"/>
          </a:solidFill>
          <a:ln w="6350">
            <a:solidFill>
              <a:srgbClr val="DCE4E8"/>
            </a:solidFill>
            <a:prstDash val="solid"/>
          </a:ln>
        </p:spPr>
      </p:sp>
      <p:sp>
        <p:nvSpPr>
          <p:cNvPr id="11" name="Text 9"/>
          <p:cNvSpPr/>
          <p:nvPr/>
        </p:nvSpPr>
        <p:spPr>
          <a:xfrm>
            <a:off x="1073150" y="4328319"/>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Check the science, not just the code</a:t>
            </a:r>
            <a:endParaRPr lang="en-US" sz="1500" dirty="0"/>
          </a:p>
        </p:txBody>
      </p:sp>
      <p:sp>
        <p:nvSpPr>
          <p:cNvPr id="12" name="Text 10"/>
          <p:cNvSpPr/>
          <p:nvPr/>
        </p:nvSpPr>
        <p:spPr>
          <a:xfrm>
            <a:off x="1073150" y="4633119"/>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A hydrology audit found FEH QMED formula errors that were underestimating flows.</a:t>
            </a:r>
            <a:endParaRPr lang="en-US" sz="1200" dirty="0"/>
          </a:p>
        </p:txBody>
      </p:sp>
      <p:sp>
        <p:nvSpPr>
          <p:cNvPr id="13" name="Shape 11"/>
          <p:cNvSpPr/>
          <p:nvPr/>
        </p:nvSpPr>
        <p:spPr>
          <a:xfrm>
            <a:off x="6200775" y="4071144"/>
            <a:ext cx="5175250" cy="1970881"/>
          </a:xfrm>
          <a:prstGeom prst="roundRect">
            <a:avLst>
              <a:gd name="adj" fmla="val 4994"/>
            </a:avLst>
          </a:prstGeom>
          <a:solidFill>
            <a:srgbClr val="FDFEFD"/>
          </a:solidFill>
          <a:ln w="6350">
            <a:solidFill>
              <a:srgbClr val="DCE4E8"/>
            </a:solidFill>
            <a:prstDash val="solid"/>
          </a:ln>
        </p:spPr>
      </p:sp>
      <p:sp>
        <p:nvSpPr>
          <p:cNvPr id="14" name="Text 12"/>
          <p:cNvSpPr/>
          <p:nvPr/>
        </p:nvSpPr>
        <p:spPr>
          <a:xfrm>
            <a:off x="6457950" y="4328319"/>
            <a:ext cx="48007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93A"/>
                </a:solidFill>
                <a:latin typeface="IBM Plex Sans" pitchFamily="34" charset="0"/>
                <a:ea typeface="IBM Plex Sans" pitchFamily="34" charset="-122"/>
                <a:cs typeface="IBM Plex Sans" pitchFamily="34" charset="-120"/>
              </a:rPr>
              <a:t>Lock in fixes with tests</a:t>
            </a:r>
            <a:endParaRPr lang="en-US" sz="1500" dirty="0"/>
          </a:p>
        </p:txBody>
      </p:sp>
      <p:sp>
        <p:nvSpPr>
          <p:cNvPr id="15" name="Text 13"/>
          <p:cNvSpPr/>
          <p:nvPr/>
        </p:nvSpPr>
        <p:spPr>
          <a:xfrm>
            <a:off x="6457950" y="4633119"/>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75866"/>
                </a:solidFill>
                <a:latin typeface="IBM Plex Sans" pitchFamily="34" charset="0"/>
                <a:ea typeface="IBM Plex Sans" pitchFamily="34" charset="-122"/>
                <a:cs typeface="IBM Plex Sans" pitchFamily="34" charset="-120"/>
              </a:rPr>
              <a:t>Regression tests and NumPy 2.0 fixes keep v3.0 working as libraries change.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99"/>
                </a:solidFill>
                <a:latin typeface="IBM Plex Sans" pitchFamily="34" charset="0"/>
                <a:ea typeface="IBM Plex Sans" pitchFamily="34" charset="-122"/>
                <a:cs typeface="IBM Plex Sans" pitchFamily="34" charset="-120"/>
              </a:rPr>
              <a:t>RESOURCES</a:t>
            </a:r>
            <a:endParaRPr lang="en-US" sz="1200" dirty="0"/>
          </a:p>
        </p:txBody>
      </p:sp>
      <p:sp>
        <p:nvSpPr>
          <p:cNvPr id="3" name="Text 1"/>
          <p:cNvSpPr/>
          <p:nvPr>
            <p:ph type="title"/>
          </p:nvPr>
        </p:nvSpPr>
        <p:spPr>
          <a:xfrm>
            <a:off x="812800" y="1127720"/>
            <a:ext cx="10883392" cy="48051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4293A"/>
                </a:solidFill>
                <a:latin typeface="IBM Plex Sans" pitchFamily="34" charset="0"/>
                <a:ea typeface="IBM Plex Sans" pitchFamily="34" charset="-122"/>
                <a:cs typeface="IBM Plex Sans" pitchFamily="34" charset="-120"/>
              </a:rPr>
              <a:t>Where to start</a:t>
            </a:r>
            <a:endParaRPr lang="en-US" sz="3200" dirty="0"/>
          </a:p>
        </p:txBody>
      </p:sp>
      <p:sp>
        <p:nvSpPr>
          <p:cNvPr id="4" name="Shape 2"/>
          <p:cNvSpPr/>
          <p:nvPr/>
        </p:nvSpPr>
        <p:spPr>
          <a:xfrm>
            <a:off x="11376025" y="1887637"/>
            <a:ext cx="0" cy="2495550"/>
          </a:xfrm>
          <a:prstGeom prst="line">
            <a:avLst/>
          </a:prstGeom>
          <a:noFill/>
          <a:ln w="6350">
            <a:solidFill>
              <a:srgbClr val="DCE4E8"/>
            </a:solidFill>
            <a:prstDash val="solid"/>
          </a:ln>
        </p:spPr>
      </p:sp>
      <p:sp>
        <p:nvSpPr>
          <p:cNvPr id="5" name="Shape 3"/>
          <p:cNvSpPr/>
          <p:nvPr/>
        </p:nvSpPr>
        <p:spPr>
          <a:xfrm>
            <a:off x="812800" y="4380012"/>
            <a:ext cx="10566400" cy="0"/>
          </a:xfrm>
          <a:prstGeom prst="line">
            <a:avLst/>
          </a:prstGeom>
          <a:noFill/>
          <a:ln w="6350">
            <a:solidFill>
              <a:srgbClr val="DCE4E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900337"/>
          <a:ext cx="10547350" cy="2476500"/>
        </p:xfrm>
        <a:graphic>
          <a:graphicData uri="http://schemas.openxmlformats.org/drawingml/2006/table">
            <a:tbl>
              <a:tblPr/>
              <a:tblGrid>
                <a:gridCol w="3691572"/>
                <a:gridCol w="6855778"/>
              </a:tblGrid>
              <a:tr h="412750">
                <a:tc>
                  <a:txBody>
                    <a:bodyPr/>
                    <a:lstStyle/>
                    <a:p>
                      <a:pPr indent="0" marL="0">
                        <a:lnSpc>
                          <a:spcPts val="2100"/>
                        </a:lnSpc>
                        <a:buNone/>
                      </a:pPr>
                      <a:r>
                        <a:rPr lang="en-US" sz="1500" b="1" dirty="0">
                          <a:solidFill>
                            <a:srgbClr val="F5F7F6"/>
                          </a:solidFill>
                          <a:latin typeface="IBM Plex Sans" pitchFamily="34" charset="0"/>
                          <a:ea typeface="IBM Plex Sans" pitchFamily="34" charset="-122"/>
                          <a:cs typeface="IBM Plex Sans" pitchFamily="34" charset="-120"/>
                        </a:rPr>
                        <a:t>Resource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c>
                  <a:txBody>
                    <a:bodyPr/>
                    <a:lstStyle/>
                    <a:p>
                      <a:pPr indent="0" marL="0">
                        <a:lnSpc>
                          <a:spcPts val="2100"/>
                        </a:lnSpc>
                        <a:buNone/>
                      </a:pPr>
                      <a:r>
                        <a:rPr lang="en-US" sz="1500" b="1" dirty="0">
                          <a:solidFill>
                            <a:srgbClr val="F5F7F6"/>
                          </a:solidFill>
                          <a:latin typeface="IBM Plex Sans" pitchFamily="34" charset="0"/>
                          <a:ea typeface="IBM Plex Sans" pitchFamily="34" charset="-122"/>
                          <a:cs typeface="IBM Plex Sans" pitchFamily="34" charset="-120"/>
                        </a:rPr>
                        <a:t>Link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0202C"/>
                      </a:solidFill>
                      <a:prstDash val="solid"/>
                      <a:round/>
                      <a:headEnd type="none" w="med" len="med"/>
                      <a:tailEnd type="none" w="med" len="med"/>
                    </a:lnL>
                    <a:lnR w="12700" cap="flat" cmpd="sng" algn="ctr">
                      <a:solidFill>
                        <a:srgbClr val="1020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10202C"/>
                      </a:solidFill>
                      <a:prstDash val="solid"/>
                      <a:round/>
                      <a:headEnd type="none" w="med" len="med"/>
                      <a:tailEnd type="none" w="med" len="med"/>
                    </a:lnB>
                    <a:solidFill>
                      <a:srgbClr val="0F2433"/>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PyQGIS Developer Cookbook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docs.qgis.org/latest/en/docs/pyqgis_developer_cookbook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10202C"/>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PyQGIS API reference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qgis.org/pyqgis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QGIS plugin repository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plugins.qgis.org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TUFLOW Wiki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wiki.tuflow.com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EC2C3"/>
                      </a:solidFill>
                      <a:prstDash val="solid"/>
                      <a:round/>
                      <a:headEnd type="none" w="med" len="med"/>
                      <a:tailEnd type="none" w="med" len="med"/>
                    </a:lnL>
                    <a:lnR w="12700" cap="flat" cmpd="sng" algn="ctr">
                      <a:solidFill>
                        <a:srgbClr val="BEC2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EC2C3"/>
                      </a:solidFill>
                      <a:prstDash val="solid"/>
                      <a:round/>
                      <a:headEnd type="none" w="med" len="med"/>
                      <a:tailEnd type="none" w="med" len="med"/>
                    </a:lnB>
                    <a:solidFill>
                      <a:srgbClr val="EEF3F5"/>
                    </a:solidFill>
                  </a:tcPr>
                </a:tc>
              </a:tr>
              <a:tr h="412750">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FMB Tools and Rain2Flood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4"/>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c>
                  <a:txBody>
                    <a:bodyPr/>
                    <a:lstStyle/>
                    <a:p>
                      <a:pPr indent="0" marL="0">
                        <a:lnSpc>
                          <a:spcPts val="2100"/>
                        </a:lnSpc>
                        <a:buNone/>
                      </a:pPr>
                      <a:r>
                        <a:rPr lang="en-US" sz="1500" dirty="0">
                          <a:solidFill>
                            <a:srgbClr val="14293A"/>
                          </a:solidFill>
                          <a:latin typeface="IBM Plex Sans" pitchFamily="34" charset="0"/>
                          <a:ea typeface="IBM Plex Sans" pitchFamily="34" charset="-122"/>
                          <a:cs typeface="IBM Plex Sans" pitchFamily="34" charset="-120"/>
                        </a:rPr>
                        <a:t>github.com/rahulpandey696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EC2C3"/>
                      </a:solidFill>
                      <a:prstDash val="solid"/>
                      <a:round/>
                      <a:headEnd type="none" w="med" len="med"/>
                      <a:tailEnd type="none" w="med" len="med"/>
                    </a:lnT>
                    <a:lnB w="12700" cap="flat" cmpd="sng" algn="ctr">
                      <a:solidFill>
                        <a:srgbClr val="CACBCA"/>
                      </a:solidFill>
                      <a:prstDash val="solid"/>
                      <a:round/>
                      <a:headEnd type="none" w="med" len="med"/>
                      <a:tailEnd type="none" w="med" len="med"/>
                    </a:lnB>
                    <a:solidFill>
                      <a:srgbClr val="FDFEFD"/>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4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433"/>
              </a:gs>
              <a:gs pos="100000">
                <a:srgbClr val="143550"/>
              </a:gs>
            </a:gsLst>
            <a:lin ang="2700000" scaled="0"/>
          </a:gradFill>
          <a:ln/>
        </p:spPr>
      </p:sp>
      <p:sp>
        <p:nvSpPr>
          <p:cNvPr id="3" name="Text 1"/>
          <p:cNvSpPr/>
          <p:nvPr/>
        </p:nvSpPr>
        <p:spPr>
          <a:xfrm>
            <a:off x="812800" y="26057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7A2E"/>
                </a:solidFill>
                <a:latin typeface="IBM Plex Sans" pitchFamily="34" charset="0"/>
                <a:ea typeface="IBM Plex Sans" pitchFamily="34" charset="-122"/>
                <a:cs typeface="IBM Plex Sans" pitchFamily="34" charset="-120"/>
              </a:rPr>
              <a:t>QUESTIONS</a:t>
            </a:r>
            <a:endParaRPr lang="en-US" sz="1200" dirty="0"/>
          </a:p>
        </p:txBody>
      </p:sp>
      <p:sp>
        <p:nvSpPr>
          <p:cNvPr id="4" name="Text 2"/>
          <p:cNvSpPr/>
          <p:nvPr>
            <p:ph type="title"/>
          </p:nvPr>
        </p:nvSpPr>
        <p:spPr>
          <a:xfrm>
            <a:off x="812800" y="3073102"/>
            <a:ext cx="9156700" cy="68371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5F7F6"/>
                </a:solidFill>
                <a:latin typeface="IBM Plex Sans" pitchFamily="34" charset="0"/>
                <a:ea typeface="IBM Plex Sans" pitchFamily="34" charset="-122"/>
                <a:cs typeface="IBM Plex Sans" pitchFamily="34" charset="-120"/>
              </a:rPr>
              <a:t>Bring me your repetitive tasks</a:t>
            </a:r>
            <a:endParaRPr lang="en-US" sz="4800" dirty="0"/>
          </a:p>
        </p:txBody>
      </p:sp>
      <p:sp>
        <p:nvSpPr>
          <p:cNvPr id="5" name="Text 3"/>
          <p:cNvSpPr/>
          <p:nvPr/>
        </p:nvSpPr>
        <p:spPr>
          <a:xfrm>
            <a:off x="812800" y="3985419"/>
            <a:ext cx="7848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CD6"/>
                </a:solidFill>
                <a:latin typeface="IBM Plex Sans" pitchFamily="34" charset="0"/>
                <a:ea typeface="IBM Plex Sans" pitchFamily="34" charset="-122"/>
                <a:cs typeface="IBM Plex Sans" pitchFamily="34" charset="-120"/>
              </a:rPr>
              <a:t>The next plugin could start with a problem from your project.</a:t>
            </a:r>
            <a:endParaRPr lang="en-US" sz="1500" dirty="0"/>
          </a:p>
        </p:txBody>
      </p:sp>
      <p:sp>
        <p:nvSpPr>
          <p:cNvPr id="6" name="Text 4"/>
          <p:cNvSpPr/>
          <p:nvPr/>
        </p:nvSpPr>
        <p:spPr>
          <a:xfrm>
            <a:off x="812800" y="60350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IBM Plex Sans" pitchFamily="34" charset="0"/>
                <a:ea typeface="IBM Plex Sans" pitchFamily="34" charset="-122"/>
                <a:cs typeface="IBM Plex Sans" pitchFamily="34" charset="-120"/>
              </a:rPr>
              <a:t>Rahul Pandey · github.com/rahulpandey696</a:t>
            </a:r>
            <a:endParaRPr lang="en-US" sz="1200" dirty="0"/>
          </a:p>
        </p:txBody>
      </p:sp>
    </p:spTree>
  </p:cSld>
  <p:clrMapOvr>
    <a:masterClrMapping/>
  </p:clrMapOvr>
</p:sld>
</file>

<file path=ppt/theme/theme1.xml><?xml version="1.0" encoding="utf-8"?>
<a:theme xmlns:a="http://schemas.openxmlformats.org/drawingml/2006/main" name="Accelerating Flood Model Development">
  <a:themeElements>
    <a:clrScheme name="Accelerating Flood Model Development">
      <a:dk1>
        <a:srgbClr val="14293A"/>
      </a:dk1>
      <a:lt1>
        <a:srgbClr val="F5F7F6"/>
      </a:lt1>
      <a:dk2>
        <a:srgbClr val="4C5D69"/>
      </a:dk2>
      <a:lt2>
        <a:srgbClr val="DFE2E3"/>
      </a:lt2>
      <a:accent1>
        <a:srgbClr val="1F6F99"/>
      </a:accent1>
      <a:accent2>
        <a:srgbClr val="5DB7E0"/>
      </a:accent2>
      <a:accent3>
        <a:srgbClr val="E07A2E"/>
      </a:accent3>
      <a:accent4>
        <a:srgbClr val="B35A17"/>
      </a:accent4>
      <a:accent5>
        <a:srgbClr val="F2A35E"/>
      </a:accent5>
      <a:accent6>
        <a:srgbClr val="475866"/>
      </a:accent6>
      <a:hlink>
        <a:srgbClr val="0563C1"/>
      </a:hlink>
      <a:folHlink>
        <a:srgbClr val="954F72"/>
      </a:folHlink>
    </a:clrScheme>
    <a:fontScheme name="Accelerating Flood Model Developm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Flood Model Development</dc:title>
  <dc:subject/>
  <dc:creator/>
  <cp:lastModifiedBy/>
  <cp:revision>1</cp:revision>
  <dcterms:created xsi:type="dcterms:W3CDTF">2026-10-14T07:22:25Z</dcterms:created>
  <dcterms:modified xsi:type="dcterms:W3CDTF">2026-10-14T07:22:25Z</dcterms:modified>
</cp:coreProperties>
</file>